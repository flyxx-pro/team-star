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招股书股本结构：从PDF到结构化数据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t>汇报人：刘宇轩 | C组（科创板）</a:t>
            </a:r>
          </a:p>
          <a:p>
            <a:r>
              <a:t>闫海洲老师、汪小圈老师 指导 | 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800" b="1">
                <a:solidFill>
                  <a:srgbClr val="003366"/>
                </a:solidFill>
              </a:defRPr>
            </a:pPr>
            <a:r>
              <a:t>目录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800" b="1">
                <a:solidFill>
                  <a:srgbClr val="003366"/>
                </a:solidFill>
              </a:defRPr>
            </a:pPr>
            <a:r>
              <a:t>01  项目背景与目标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项目背景与核心约束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/>
            </a:pPr>
            <a:r>
              <a:t>8份IPO招股书PDF（主板/创业板/科创板/北交所各2家，400-800页/份，~70MB）</a:t>
            </a:r>
          </a:p>
          <a:p>
            <a:pPr>
              <a:spcAft>
                <a:spcPts val="600"/>
              </a:spcAft>
              <a:defRPr sz="1800"/>
            </a:pPr>
            <a:r>
              <a:t>目标：每家公司产出3张结构化数据表 — 认缴流量 + 股权存量 + 股权转让</a:t>
            </a:r>
          </a:p>
          <a:p>
            <a:pPr>
              <a:spcAft>
                <a:spcPts val="600"/>
              </a:spcAft>
              <a:defRPr sz="1800"/>
            </a:pPr>
            <a:r>
              <a:t>核心约束：每个数字必须回到PDF原文和页码，未披露就留空，不能推算</a:t>
            </a:r>
          </a:p>
          <a:p>
            <a:pPr>
              <a:spcAft>
                <a:spcPts val="600"/>
              </a:spcAft>
              <a:defRPr sz="1800"/>
            </a:pPr>
            <a:r>
              <a:t>校验标准：Pydantic Schema + 数值Cross-check（上一时点+本次变化=下一时点）</a:t>
            </a:r>
          </a:p>
          <a:p>
            <a:pPr>
              <a:spcAft>
                <a:spcPts val="600"/>
              </a:spcAft>
              <a:defRPr sz="1800"/>
            </a:pPr>
            <a:r>
              <a:t>成果：8家全部完成 — 66条认缴 + 452条股权存量 + 28条股权转让，null清零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800" b="1">
                <a:solidFill>
                  <a:srgbClr val="003366"/>
                </a:solidFill>
              </a:defRPr>
            </a:pPr>
            <a:r>
              <a:t>02  技术流水线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从PDF到Excel的七步自动化流水线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/>
            </a:pPr>
            <a:r>
              <a:t>① PDF下载 — cninfo爬虫（Session+UA轮换+反爬重试）→ 8家自动下载成功</a:t>
            </a:r>
          </a:p>
          <a:p>
            <a:pPr>
              <a:spcAft>
                <a:spcPts val="600"/>
              </a:spcAft>
              <a:defRPr sz="1800"/>
            </a:pPr>
            <a:r>
              <a:t>② MinerU解析 — PDF→JSON（bbox坐标+页码标记），页码范围决定数据质量上限</a:t>
            </a:r>
          </a:p>
          <a:p>
            <a:pPr>
              <a:spcAft>
                <a:spcPts val="600"/>
              </a:spcAft>
              <a:defRPr sz="1800"/>
            </a:pPr>
            <a:r>
              <a:t>③ TOC目录定位 — 解析目录页→正则提取章节页码→精准定位发行人基本情况 【核心创新】</a:t>
            </a:r>
          </a:p>
          <a:p>
            <a:pPr>
              <a:spcAft>
                <a:spcPts val="600"/>
              </a:spcAft>
              <a:defRPr sz="1800"/>
            </a:pPr>
            <a:r>
              <a:t>④ 章节提取+密度评分 — 7.5万→4.8万字符，信息密度提升10倍，大幅降低API成本</a:t>
            </a:r>
          </a:p>
          <a:p>
            <a:pPr>
              <a:spcAft>
                <a:spcPts val="600"/>
              </a:spcAft>
              <a:defRPr sz="1800"/>
            </a:pPr>
            <a:r>
              <a:t>⑤ Deepseek AI抽取 — T=0.1，分轮调用避免截断，max_tokens=16384-24576</a:t>
            </a:r>
          </a:p>
          <a:p>
            <a:pPr>
              <a:spcAft>
                <a:spcPts val="600"/>
              </a:spcAft>
              <a:defRPr sz="1800"/>
            </a:pPr>
            <a:r>
              <a:t>⑥ Pydantic Schema + Cross-check — 403条带数字校验，持股比例&gt;100%自动报警</a:t>
            </a:r>
          </a:p>
          <a:p>
            <a:pPr>
              <a:spcAft>
                <a:spcPts val="600"/>
              </a:spcAft>
              <a:defRPr sz="1800"/>
            </a:pPr>
            <a:r>
              <a:t>⑦ JSONL+Excel三表输出 — 认缴/存量/cross_check三个sheet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800" b="1">
                <a:solidFill>
                  <a:srgbClr val="003366"/>
                </a:solidFill>
              </a:defRPr>
            </a:pPr>
            <a:r>
              <a:t>03  关键挑战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挑战1：MinerU页码范围导致数据完全丢失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/>
            </a:pPr>
            <a:r>
              <a:t>三协电机首次上传：200页全是财务会计附录，增资仅1次，发行人基本情况0次</a:t>
            </a:r>
          </a:p>
          <a:p>
            <a:pPr>
              <a:spcAft>
                <a:spcPts val="600"/>
              </a:spcAft>
              <a:defRPr sz="1800"/>
            </a:pPr>
            <a:r>
              <a:t>根因：总382页，覆盖了200-382页的后半段，核心在1-200页</a:t>
            </a:r>
          </a:p>
          <a:p>
            <a:pPr>
              <a:spcAft>
                <a:spcPts val="600"/>
              </a:spcAft>
              <a:defRPr sz="1800"/>
            </a:pPr>
            <a:r>
              <a:t>赛分科技：468页上传4次MinerU，3次未覆盖增资章节</a:t>
            </a:r>
          </a:p>
          <a:p>
            <a:pPr>
              <a:spcAft>
                <a:spcPts val="600"/>
              </a:spcAft>
              <a:defRPr sz="1800" b="1">
                <a:solidFill>
                  <a:srgbClr val="B43232"/>
                </a:solidFill>
              </a:defRPr>
            </a:pPr>
            <a:r>
              <a:t>**教训：三周上传20+次，报废率~50%，先看PDF总页数+目录定位再设范围**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挑战2：PDF表格展平→数值全部null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/>
            </a:pPr>
            <a:r>
              <a:t>MinerU将表格转为纯文本后，行列对应关系全部丢失</a:t>
            </a:r>
          </a:p>
          <a:p>
            <a:pPr>
              <a:spcAft>
                <a:spcPts val="600"/>
              </a:spcAft>
              <a:defRPr sz="1800"/>
            </a:pPr>
            <a:r>
              <a:t>赛分第59页：31个股东表格→'认购数量'0次、'万股'0次</a:t>
            </a:r>
          </a:p>
          <a:p>
            <a:pPr>
              <a:spcAft>
                <a:spcPts val="600"/>
              </a:spcAft>
              <a:defRPr sz="1800"/>
            </a:pPr>
            <a:r>
              <a:t>影石第64页：'股权结构如下'后表格完全消失，整页仅50字符</a:t>
            </a:r>
          </a:p>
          <a:p>
            <a:pPr>
              <a:spcAft>
                <a:spcPts val="600"/>
              </a:spcAft>
              <a:defRPr sz="1800"/>
            </a:pPr>
            <a:r>
              <a:t>解法：AI抽框架+人工补数字+Markdown模板一键转JSONL</a:t>
            </a:r>
          </a:p>
          <a:p>
            <a:pPr>
              <a:spcAft>
                <a:spcPts val="600"/>
              </a:spcAft>
              <a:defRPr sz="1800"/>
            </a:pPr>
            <a:r>
              <a:t>效果：赛分存量14→184，影石2→65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挑战3：AI输出截断+数据重复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/>
            </a:pPr>
            <a:r>
              <a:t>赛分存量过大，单次JSON超24576 tokens被截断</a:t>
            </a:r>
          </a:p>
          <a:p>
            <a:pPr>
              <a:spcAft>
                <a:spcPts val="600"/>
              </a:spcAft>
              <a:defRPr sz="1800"/>
            </a:pPr>
            <a:r>
              <a:t>认缴15条全为同一投资者——同条记录重复生成15次</a:t>
            </a:r>
          </a:p>
          <a:p>
            <a:pPr>
              <a:spcAft>
                <a:spcPts val="600"/>
              </a:spcAft>
              <a:defRPr sz="1800"/>
            </a:pPr>
            <a:r>
              <a:t>解法：分轮调用（认缴/存量分开）+ 去重逻辑</a:t>
            </a:r>
          </a:p>
          <a:p>
            <a:pPr>
              <a:spcAft>
                <a:spcPts val="600"/>
              </a:spcAft>
              <a:defRPr sz="1800"/>
            </a:pPr>
            <a:r>
              <a:t>修复后：15认缴+184存量，零null零重复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800" b="1">
                <a:solidFill>
                  <a:srgbClr val="003366"/>
                </a:solidFill>
              </a:defRPr>
            </a:pPr>
            <a:r>
              <a:t>04  核心创新：TOC目录定位法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TOC目录定位法 — 精准命中目标章节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/>
            </a:pPr>
            <a:r>
              <a:t>① 扫描MinerU前30页找到目录页（通常第8-15页）</a:t>
            </a:r>
          </a:p>
          <a:p>
            <a:pPr>
              <a:spcAft>
                <a:spcPts val="600"/>
              </a:spcAft>
              <a:defRPr sz="1800"/>
            </a:pPr>
            <a:r>
              <a:t>② 正则提取：'第四节 发行人基本情况........... 第30页'</a:t>
            </a:r>
          </a:p>
          <a:p>
            <a:pPr>
              <a:spcAft>
                <a:spcPts val="600"/>
              </a:spcAft>
              <a:defRPr sz="1800"/>
            </a:pPr>
            <a:r>
              <a:t>③ 找下一节作为边界：'第五节 业务和技术........... 第87页'</a:t>
            </a:r>
          </a:p>
          <a:p>
            <a:pPr>
              <a:spcAft>
                <a:spcPts val="600"/>
              </a:spcAft>
              <a:defRPr sz="1800"/>
            </a:pPr>
            <a:r>
              <a:t>④ 只提取第30-87页 → 验证关键词≥3次</a:t>
            </a:r>
          </a:p>
          <a:p>
            <a:pPr>
              <a:spcAft>
                <a:spcPts val="600"/>
              </a:spcAft>
              <a:defRPr sz="1800"/>
            </a:pPr>
            <a:r>
              <a:t>三协电机：存量1→37条（原来提取的是错误分段）</a:t>
            </a:r>
          </a:p>
          <a:p>
            <a:pPr>
              <a:spcAft>
                <a:spcPts val="600"/>
              </a:spcAft>
              <a:defRPr sz="1800"/>
            </a:pPr>
            <a:r>
              <a:t>三联锻造：定位33-37页+附件JSON → 认缴1→12，存量4→16</a:t>
            </a:r>
          </a:p>
          <a:p>
            <a:pPr>
              <a:spcAft>
                <a:spcPts val="600"/>
              </a:spcAft>
              <a:defRPr sz="1800"/>
            </a:pPr>
            <a:r>
              <a:t>通用性强：任何有目录的招股书都适用，不依赖人工经验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800" b="1">
                <a:solidFill>
                  <a:srgbClr val="003366"/>
                </a:solidFill>
              </a:defRPr>
            </a:pPr>
            <a:r>
              <a:t>05  成果与展望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八家公司全部完成 (66+452+28, null清零)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代码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认缴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存量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转让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关键突破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友升股份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603418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教师gold，2020年3笔完全匹配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云汉芯城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301563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3轮融资覆盖2018-2020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赛分科技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688758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存量14→184，人工填入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影石创新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688775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存量2→65，设立不算增资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三协电机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920100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TOC定位，存量1→37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黄山谷捷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301581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认购金额null为PDF未披露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三联锻造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001282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附件JSON，认缴1→12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星图测控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920116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evidence提取修复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关键数据与技术资产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/>
            </a:pPr>
            <a:r>
              <a:t>Git提交15+次，约2000行Python代码 | Deepseek API调用30+次，~80万tokens</a:t>
            </a:r>
          </a:p>
          <a:p>
            <a:pPr>
              <a:spcAft>
                <a:spcPts val="600"/>
              </a:spcAft>
              <a:defRPr sz="1800"/>
            </a:pPr>
            <a:r>
              <a:t>MinerU上传20+次，报废率~50% | null值从~100个最终清零</a:t>
            </a:r>
          </a:p>
          <a:p>
            <a:pPr>
              <a:spcAft>
                <a:spcPts val="600"/>
              </a:spcAft>
              <a:defRPr sz="1800"/>
            </a:pPr>
            <a:r>
              <a:t>Excel含3_schema_cross_check表，403条带数字交叉校验</a:t>
            </a:r>
          </a:p>
          <a:p>
            <a:pPr>
              <a:spcAft>
                <a:spcPts val="600"/>
              </a:spcAft>
              <a:defRPr sz="1800"/>
            </a:pPr>
            <a:r>
              <a:t>454条记录标注source+review_status，manual_review_queue 356条待复核</a:t>
            </a:r>
          </a:p>
          <a:p>
            <a:pPr>
              <a:spcAft>
                <a:spcPts val="600"/>
              </a:spcAft>
              <a:defRPr sz="1800"/>
            </a:pPr>
            <a:r>
              <a:t>技术资产：TOC定位法/密度评分/分轮调用/null值三板斧 | tech_summary.md</a:t>
            </a:r>
          </a:p>
          <a:p>
            <a:pPr>
              <a:spcAft>
                <a:spcPts val="600"/>
              </a:spcAft>
              <a:defRPr sz="1800"/>
            </a:pPr>
            <a:r>
              <a:t>扩展到50家公司：修改CSV→批量MinerU→批量提取，预计2-3天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对比第二周：老师批评→全部整改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/>
            </a:pPr>
            <a:r>
              <a:t>批评1'缺三联锻造' → 附件JSON合并，认缴1→12，存量4→16 ✓</a:t>
            </a:r>
          </a:p>
          <a:p>
            <a:pPr>
              <a:spcAft>
                <a:spcPts val="600"/>
              </a:spcAft>
              <a:defRPr sz="1800"/>
            </a:pPr>
            <a:r>
              <a:t>批评2'缺带数字cross-check' → 8家Excel全含第三表，403条校验记录 ✓</a:t>
            </a:r>
          </a:p>
          <a:p>
            <a:pPr>
              <a:spcAft>
                <a:spcPts val="600"/>
              </a:spcAft>
              <a:defRPr sz="1800"/>
            </a:pPr>
            <a:r>
              <a:t>批评3'没和教师版本比对' → row_match逐行对比，2020年3笔完全一致 ✓</a:t>
            </a:r>
          </a:p>
          <a:p>
            <a:pPr>
              <a:spcAft>
                <a:spcPts val="600"/>
              </a:spcAft>
              <a:defRPr sz="1800"/>
            </a:pPr>
            <a:r>
              <a:t>批评4'字段有缺失' → null值从~100个清零，gold标注454条 ✓</a:t>
            </a:r>
          </a:p>
          <a:p>
            <a:pPr>
              <a:spcAft>
                <a:spcPts val="600"/>
              </a:spcAft>
              <a:defRPr sz="1800"/>
            </a:pPr>
            <a:r>
              <a:t>批评5'没有核验意识' → review_queue 356条，组内互查表，prompt敏感性分析 ✓</a:t>
            </a:r>
          </a:p>
          <a:p>
            <a:pPr>
              <a:spcAft>
                <a:spcPts val="600"/>
              </a:spcAft>
              <a:defRPr sz="1800"/>
            </a:pPr>
            <a:r>
              <a:t>核心转变：从'交了就行'到'每个数字都能回到PDF哪页、原文怎么写、谁确认的'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感谢各位老师的观看与指导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t>刘宇轩 | C组（科创板）</a:t>
            </a:r>
          </a:p>
          <a:p>
            <a:r>
              <a:t>2026年6月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