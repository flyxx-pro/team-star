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招股书股本结构自动化抽取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刘宇轩 &amp; 苏宇垚 | C组（科创板）</a:t>
            </a:r>
          </a:p>
          <a:p>
            <a:r>
              <a:t>Week 3 汇报 — 从PDF到结构化数据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我们搭的流水线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① PDF下载 — cninfo 巨潮爬虫（Session + UA轮换 + 反爬重试）</a:t>
            </a:r>
          </a:p>
          <a:p>
            <a:pPr>
              <a:spcAft>
                <a:spcPts val="600"/>
              </a:spcAft>
              <a:defRPr sz="1800"/>
            </a:pPr>
            <a:r>
              <a:t>② MinerU 解析 — PDF → 结构化JSON（保留页码+坐标）</a:t>
            </a:r>
          </a:p>
          <a:p>
            <a:pPr>
              <a:spcAft>
                <a:spcPts val="600"/>
              </a:spcAft>
              <a:defRPr sz="1800"/>
            </a:pPr>
            <a:r>
              <a:t>③ TOC目录定位 — 先解析目录页，精准找到'发行人基本情况'起始页（核心创新）</a:t>
            </a:r>
          </a:p>
          <a:p>
            <a:pPr>
              <a:spcAft>
                <a:spcPts val="600"/>
              </a:spcAft>
              <a:defRPr sz="1800"/>
            </a:pPr>
            <a:r>
              <a:t>④ 章节精准提取 — 只提取目标章节页面，不全文输入</a:t>
            </a:r>
          </a:p>
          <a:p>
            <a:pPr>
              <a:spcAft>
                <a:spcPts val="600"/>
              </a:spcAft>
              <a:defRPr sz="1800"/>
            </a:pPr>
            <a:r>
              <a:t>⑤ 关键词密度评分 — 75K→48K字符，信息密度提升10倍</a:t>
            </a:r>
          </a:p>
          <a:p>
            <a:pPr>
              <a:spcAft>
                <a:spcPts val="600"/>
              </a:spcAft>
              <a:defRPr sz="1800"/>
            </a:pPr>
            <a:r>
              <a:t>⑥ Deepseek AI 抽取 — Temperature=0.1，数据大时分轮调用</a:t>
            </a:r>
          </a:p>
          <a:p>
            <a:pPr>
              <a:spcAft>
                <a:spcPts val="600"/>
              </a:spcAft>
              <a:defRPr sz="1800"/>
            </a:pPr>
            <a:r>
              <a:t>⑦ Pydantic Schema 校验 + 数值 Cross-check + 人工复核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踩坑1：MinerU 页码范围决定一切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三协电机第一次上传：200页解析完，全是财务会计和附录</a:t>
            </a:r>
          </a:p>
          <a:p>
            <a:pPr>
              <a:spcAft>
                <a:spcPts val="600"/>
              </a:spcAft>
              <a:defRPr sz="1800"/>
            </a:pPr>
            <a:r>
              <a:t>'增资'关键词：1次 | '发行人基本情况'：0次 | 完全白跑</a:t>
            </a:r>
          </a:p>
          <a:p>
            <a:pPr>
              <a:spcAft>
                <a:spcPts val="600"/>
              </a:spcAft>
              <a:defRPr sz="1800"/>
            </a:pPr>
            <a:r>
              <a:t>第二次上传：1-200页范围 → 封面+目录+发行人基本情况全有了</a:t>
            </a:r>
          </a:p>
          <a:p>
            <a:pPr>
              <a:spcAft>
                <a:spcPts val="600"/>
              </a:spcAft>
              <a:defRPr sz="1800"/>
            </a:pPr>
            <a:r>
              <a:t>'增资'：4次 | '股权转让'：28次 | '持股比例'：4次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教训：先看PDF总页数，TOC定位找'发行人基本情况'页码，再设MinerU范围</a:t>
            </a:r>
          </a:p>
          <a:p>
            <a:pPr>
              <a:spcAft>
                <a:spcPts val="600"/>
              </a:spcAft>
              <a:defRPr sz="1800"/>
            </a:pPr>
            <a:r>
              <a:t>不要随便填1-200，400页的PDF前200页和后200页内容完全不同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踩坑2：表格被MinerU展平 → 数值全null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赛分科技第59页：股权结构表格 → MinerU解析后只剩文字片段</a:t>
            </a:r>
          </a:p>
          <a:p>
            <a:pPr>
              <a:spcAft>
                <a:spcPts val="600"/>
              </a:spcAft>
              <a:defRPr sz="1800"/>
            </a:pPr>
            <a:r>
              <a:t>'认购数量'关键词：0次 | '认购金额'：0次 | AI完全找不到数字</a:t>
            </a:r>
          </a:p>
          <a:p>
            <a:pPr>
              <a:spcAft>
                <a:spcPts val="600"/>
              </a:spcAft>
              <a:defRPr sz="1800"/>
            </a:pPr>
            <a:r>
              <a:t>影石创新第64页：'股权结构如下：'后面表格完全丢失（50字符空页）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解法：人机协作</a:t>
            </a:r>
          </a:p>
          <a:p>
            <a:pPr>
              <a:spcAft>
                <a:spcPts val="600"/>
              </a:spcAft>
              <a:defRPr sz="1800"/>
            </a:pPr>
            <a:r>
              <a:t>可自动 → 关键词密度评分 + TOC定位 + AI提取框架结构</a:t>
            </a:r>
          </a:p>
          <a:p>
            <a:pPr>
              <a:spcAft>
                <a:spcPts val="600"/>
              </a:spcAft>
              <a:defRPr sz="1800"/>
            </a:pPr>
            <a:r>
              <a:t>需人工 → PDF表格拍照OCR/手动填入 → Markdown模板 → 秒转JSONL</a:t>
            </a:r>
          </a:p>
          <a:p>
            <a:pPr>
              <a:spcAft>
                <a:spcPts val="600"/>
              </a:spcAft>
              <a:defRPr sz="1800"/>
            </a:pPr>
            <a:r>
              <a:t>最终：赛分184条存量、影石65条存量，全部有数值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踩坑3：AI输出JSON截断 + 重复数据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赛分科技存量数据太大，单次API输出超24K tokens → JSON被截断</a:t>
            </a:r>
          </a:p>
          <a:p>
            <a:pPr>
              <a:spcAft>
                <a:spcPts val="600"/>
              </a:spcAft>
              <a:defRPr sz="1800"/>
            </a:pPr>
            <a:r>
              <a:t>认缴记录同一条重复15次（15条全是'国寿疌泉'）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解法：</a:t>
            </a:r>
          </a:p>
          <a:p>
            <a:pPr>
              <a:spcAft>
                <a:spcPts val="600"/>
              </a:spcAft>
              <a:defRPr sz="1800"/>
            </a:pPr>
            <a:r>
              <a:t>分轮调用：认缴流量和股权存量分开两次API请求，各走各的token预算</a:t>
            </a:r>
          </a:p>
          <a:p>
            <a:pPr>
              <a:spcAft>
                <a:spcPts val="600"/>
              </a:spcAft>
              <a:defRPr sz="1800"/>
            </a:pPr>
            <a:r>
              <a:t>去重：同一认购方+同一日期 → 只保留一条</a:t>
            </a:r>
          </a:p>
          <a:p>
            <a:pPr>
              <a:spcAft>
                <a:spcPts val="600"/>
              </a:spcAft>
              <a:defRPr sz="1800"/>
            </a:pPr>
            <a:r>
              <a:t>修复后：赛分15认缴+184存量，零null、零重复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核心创新：目录定位法（TOC-based Extraction）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1. 先扫描MinerU JSON前30页，找到目录页（通常第10页）</a:t>
            </a:r>
          </a:p>
          <a:p>
            <a:pPr>
              <a:spcAft>
                <a:spcPts val="600"/>
              </a:spcAft>
              <a:defRPr sz="1800"/>
            </a:pPr>
            <a:r>
              <a:t>2. 正则提取：'第四节 发行人基本情况 ........... 30'</a:t>
            </a:r>
          </a:p>
          <a:p>
            <a:pPr>
              <a:spcAft>
                <a:spcPts val="600"/>
              </a:spcAft>
              <a:defRPr sz="1800"/>
            </a:pPr>
            <a:r>
              <a:t>3. 找到下一节起始页作为边界（如'第五节 业务和技术 ........... 87'）</a:t>
            </a:r>
          </a:p>
          <a:p>
            <a:pPr>
              <a:spcAft>
                <a:spcPts val="600"/>
              </a:spcAft>
              <a:defRPr sz="1800"/>
            </a:pPr>
            <a:r>
              <a:t>4. 只提取第30-87页的文本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效果：</a:t>
            </a:r>
          </a:p>
          <a:p>
            <a:pPr>
              <a:spcAft>
                <a:spcPts val="600"/>
              </a:spcAft>
              <a:defRPr sz="1800"/>
            </a:pPr>
            <a:r>
              <a:t>三协电机：存量 1条→37条（原来提取的是错误页面的内容）</a:t>
            </a:r>
          </a:p>
          <a:p>
            <a:pPr>
              <a:spcAft>
                <a:spcPts val="600"/>
              </a:spcAft>
              <a:defRPr sz="1800"/>
            </a:pPr>
            <a:r>
              <a:t>三联锻造：精准定位33-37页增资/减资/股权转让段落</a:t>
            </a:r>
          </a:p>
          <a:p>
            <a:pPr>
              <a:spcAft>
                <a:spcPts val="600"/>
              </a:spcAft>
              <a:defRPr sz="1800"/>
            </a:pPr>
            <a:r>
              <a:t>这个方法可以复用到任何招股书，不依赖人工经验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最终成果：8家公司全部完成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认缴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转让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亮点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友升股份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教师gold，2020年3笔完全匹配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云汉芯城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数据最完整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赛分科技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存量14→184，55页+59页手动填入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影石创新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存量2→65，64+99页手动填入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三协电机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TOC定位，存量1→37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黄山谷捷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确认出资额=认购数量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三联锻造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TOC定位33-37页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星图测控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evidence提取修复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上周被批 → 本周全改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上周老师评价：</a:t>
            </a:r>
          </a:p>
          <a:p>
            <a:pPr>
              <a:spcAft>
                <a:spcPts val="600"/>
              </a:spcAft>
              <a:defRPr sz="1800"/>
            </a:pPr>
            <a:r>
              <a:t>  '提交规范但结果质量不足' '缺三联锻造' '没有和教师版本比对'</a:t>
            </a:r>
          </a:p>
          <a:p>
            <a:pPr>
              <a:spcAft>
                <a:spcPts val="600"/>
              </a:spcAft>
              <a:defRPr sz="1800"/>
            </a:pPr>
            <a:r>
              <a:t>  '字段有缺失' '没有主动核验意识'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本周改进：</a:t>
            </a:r>
          </a:p>
          <a:p>
            <a:pPr>
              <a:spcAft>
                <a:spcPts val="600"/>
              </a:spcAft>
              <a:defRPr sz="1800"/>
            </a:pPr>
            <a:r>
              <a:t>  三联锻造补齐 ✓  友升替换为教师黄金标准 ✓</a:t>
            </a:r>
          </a:p>
          <a:p>
            <a:pPr>
              <a:spcAft>
                <a:spcPts val="600"/>
              </a:spcAft>
              <a:defRPr sz="1800"/>
            </a:pPr>
            <a:r>
              <a:t>  row_match逐行对比表 ✓  cross-check带48条数字 ✓</a:t>
            </a:r>
          </a:p>
          <a:p>
            <a:pPr>
              <a:spcAft>
                <a:spcPts val="600"/>
              </a:spcAft>
              <a:defRPr sz="1800"/>
            </a:pPr>
            <a:r>
              <a:t>  全部null值清零（55认缴+438存量）✓</a:t>
            </a:r>
          </a:p>
          <a:p>
            <a:pPr>
              <a:spcAft>
                <a:spcPts val="600"/>
              </a:spcAft>
              <a:defRPr sz="1800"/>
            </a:pPr>
            <a:r>
              <a:t>  manual_gold与auto_output分离 ✓  组内互查表 ✓</a:t>
            </a:r>
          </a:p>
          <a:p>
            <a:pPr>
              <a:spcAft>
                <a:spcPts val="600"/>
              </a:spcAft>
              <a:defRPr sz="1800"/>
            </a:pPr>
            <a:r>
              <a:t>  prompt敏感性分析 ✓  error_analysis 10问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三周的数据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代码提交：15+ commits，累计处理 ~2000 行代码</a:t>
            </a:r>
          </a:p>
          <a:p>
            <a:pPr>
              <a:spcAft>
                <a:spcPts val="600"/>
              </a:spcAft>
              <a:defRPr sz="1800"/>
            </a:pPr>
            <a:r>
              <a:t>Deepseek API调用：30+ 次，累计消耗 ~800K tokens</a:t>
            </a:r>
          </a:p>
          <a:p>
            <a:pPr>
              <a:spcAft>
                <a:spcPts val="600"/>
              </a:spcAft>
              <a:defRPr sz="1800"/>
            </a:pPr>
            <a:r>
              <a:t>null值变化：Week2 初始 ~100个 → 本周最终 0个</a:t>
            </a:r>
          </a:p>
          <a:p>
            <a:pPr>
              <a:spcAft>
                <a:spcPts val="600"/>
              </a:spcAft>
              <a:defRPr sz="1800"/>
            </a:pPr>
            <a:r>
              <a:t>股权存量：从Week1的 ~200条 → 本周438条</a:t>
            </a:r>
          </a:p>
          <a:p>
            <a:pPr>
              <a:spcAft>
                <a:spcPts val="600"/>
              </a:spcAft>
              <a:defRPr sz="1800"/>
            </a:pPr>
            <a:r>
              <a:t>MinerU上传：总计20+ 次，报废率 ~50%（页码范围填错的都废了）</a:t>
            </a:r>
          </a:p>
          <a:p>
            <a:pPr>
              <a:spcAft>
                <a:spcPts val="600"/>
              </a:spcAft>
              <a:defRPr sz="1800"/>
            </a:pPr>
            <a:r>
              <a:t>人工填表：赛分2页 + 影石2页，Markdown模板秒转JSONL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最大教训：MinerU页码范围就是数据质量的硬上限，填错了后面全白干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03366"/>
                </a:solidFill>
              </a:defRPr>
            </a:pPr>
            <a:r>
              <a:t>给以后的话 — 技术资产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/>
            </a:pPr>
            <a:r>
              <a:t>完整流水线文档：source_notes/technical_summary.md</a:t>
            </a:r>
          </a:p>
          <a:p>
            <a:pPr>
              <a:spcAft>
                <a:spcPts val="600"/>
              </a:spcAft>
              <a:defRPr sz="1800"/>
            </a:pPr>
            <a:r>
              <a:t>一键运行脚本：cninfo_spider.py → MinerU → extract → validate → Excel</a:t>
            </a:r>
          </a:p>
          <a:p>
            <a:pPr>
              <a:spcAft>
                <a:spcPts val="600"/>
              </a:spcAft>
              <a:defRPr sz="1800"/>
            </a:pPr>
            <a:r>
              <a:t>TOC定位法：任意招股书通用，先找目录再定位章节</a:t>
            </a:r>
          </a:p>
          <a:p>
            <a:pPr>
              <a:spcAft>
                <a:spcPts val="600"/>
              </a:spcAft>
              <a:defRPr sz="1800"/>
            </a:pPr>
            <a:r>
              <a:t>密度评分+分轮调用：解决大文本+大数据量问题</a:t>
            </a:r>
          </a:p>
          <a:p>
            <a:pPr>
              <a:spcAft>
                <a:spcPts val="600"/>
              </a:spcAft>
              <a:defRPr sz="1800"/>
            </a:pPr>
            <a:r>
              <a:t>null值三板斧：evidence提取 → 坐标重建 → 人工Markdown</a:t>
            </a:r>
          </a:p>
          <a:p>
            <a:pPr>
              <a:spcAft>
                <a:spcPts val="600"/>
              </a:spcAft>
              <a:defRPr sz="1800"/>
            </a:pPr>
          </a:p>
          <a:p>
            <a:pPr>
              <a:spcAft>
                <a:spcPts val="600"/>
              </a:spcAft>
              <a:defRPr sz="1800"/>
            </a:pPr>
            <a:r>
              <a:t>扩展到50家只需：修改公司列表 → 批量MinerU → 批量提取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