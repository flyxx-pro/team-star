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招股书股本结构自动化抽取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刘宇轩 &amp; 苏宇垚 | C组（科创板）</a:t>
            </a:r>
          </a:p>
          <a:p/>
          <a:p>
            <a:r>
              <a:t>从PDF到结构化数据的三周实践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我们的任务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800"/>
              </a:spcAft>
              <a:defRPr sz="1800"/>
            </a:pPr>
            <a:r>
              <a:t>输入：8份 IPO 招股书 PDF（主板/创业板/科创板/北交所各2家）</a:t>
            </a:r>
          </a:p>
          <a:p>
            <a:pPr>
              <a:spcAft>
                <a:spcPts val="800"/>
              </a:spcAft>
              <a:defRPr sz="1800"/>
            </a:pPr>
            <a:r>
              <a:t>输出：每家公司 3 张表 → 认缴流量 / 股权结构存量 / 股权转让</a:t>
            </a:r>
          </a:p>
          <a:p>
            <a:pPr>
              <a:spcAft>
                <a:spcPts val="800"/>
              </a:spcAft>
              <a:defRPr sz="1800"/>
            </a:pPr>
            <a:r>
              <a:t>核心要求：每个数字都能回到 PDF 原文和页码</a:t>
            </a:r>
          </a:p>
          <a:p>
            <a:pPr>
              <a:spcAft>
                <a:spcPts val="800"/>
              </a:spcAft>
              <a:defRPr sz="1800"/>
            </a:pPr>
            <a:r>
              <a:t>校验标准：Pydantic Schema + 数值 Cross-check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自动化流水线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800"/>
              </a:spcAft>
              <a:defRPr sz="1800"/>
            </a:pPr>
            <a:r>
              <a:t>① PDF下载 — cninfo 巨潮资讯网爬虫（Session Cookie + UA轮换 + 反爬重试）</a:t>
            </a:r>
          </a:p>
          <a:p>
            <a:pPr>
              <a:spcAft>
                <a:spcPts val="800"/>
              </a:spcAft>
              <a:defRPr sz="1800"/>
            </a:pPr>
            <a:r>
              <a:t>② MinerU 解析 — PDF → 结构化文本（保留页码标记）</a:t>
            </a:r>
          </a:p>
          <a:p>
            <a:pPr>
              <a:spcAft>
                <a:spcPts val="800"/>
              </a:spcAft>
              <a:defRPr sz="1800"/>
            </a:pPr>
            <a:r>
              <a:t>③ 章节定位 — 关键词密度评分（75K → 48K，信息密度提升10倍）</a:t>
            </a:r>
          </a:p>
          <a:p>
            <a:pPr>
              <a:spcAft>
                <a:spcPts val="800"/>
              </a:spcAft>
              <a:defRPr sz="1800"/>
            </a:pPr>
            <a:r>
              <a:t>④ Deepseek AI 抽取 — Temperature=0.1，分轮调用避免截断</a:t>
            </a:r>
          </a:p>
          <a:p>
            <a:pPr>
              <a:spcAft>
                <a:spcPts val="800"/>
              </a:spcAft>
              <a:defRPr sz="1800"/>
            </a:pPr>
            <a:r>
              <a:t>⑤ Pydantic Schema 校验 — 字段类型/必填项/持股比例范围检查</a:t>
            </a:r>
          </a:p>
          <a:p>
            <a:pPr>
              <a:spcAft>
                <a:spcPts val="800"/>
              </a:spcAft>
              <a:defRPr sz="1800"/>
            </a:pPr>
            <a:r>
              <a:t>⑥ 数值 Cross-check — 48条带数字记录，每次增资前后股本核验</a:t>
            </a:r>
          </a:p>
          <a:p>
            <a:pPr>
              <a:spcAft>
                <a:spcPts val="800"/>
              </a:spcAft>
              <a:defRPr sz="1800"/>
            </a:pPr>
            <a:r>
              <a:t>⑦ 人工复核队列 — 38条标记 unchecked，含具体问题和PDF页码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最终成果：8家公司全部完成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371600"/>
          <a:ext cx="10058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  <a:gridCol w="1676400"/>
                <a:gridCol w="1676400"/>
                <a:gridCol w="167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认缴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存量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转让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null值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亮点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友升股份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与教师示范2020年3/3完全匹配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云汉芯城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数据最完整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影石创新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存量 2→40（关键词密度评分修复）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赛分科技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存量 14→153（分轮调用修复）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三协电机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MinerU 页码范围调整后有数值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黄山谷捷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数据完整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星图测控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北交所，正常完成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三联锻造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MinerU失败→换JSON→成功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踩坑1：PDF解析失败 &amp; 文本截断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800"/>
              </a:spcAft>
              <a:defRPr sz="1800"/>
            </a:pPr>
            <a:r>
              <a:t>三联锻造：MinerU 连续两次解析全失败 → 第三次调整页码范围后成功（增资 0→6次）</a:t>
            </a:r>
          </a:p>
          <a:p>
            <a:pPr>
              <a:spcAft>
                <a:spcPts val="800"/>
              </a:spcAft>
              <a:defRPr sz="1800"/>
            </a:pPr>
            <a:r>
              <a:t>影石创新：全文75K字符，前35K截断丢失股权结构 → 关键词密度评分，存量 2→40</a:t>
            </a:r>
          </a:p>
          <a:p>
            <a:pPr>
              <a:spcAft>
                <a:spcPts val="800"/>
              </a:spcAft>
              <a:defRPr sz="1800"/>
            </a:pPr>
            <a:r>
              <a:t>赛分科技：468页PDF，三份MinerU都没覆盖到增资章节 → 重新指定50-180页范围</a:t>
            </a:r>
          </a:p>
          <a:p>
            <a:pPr>
              <a:spcAft>
                <a:spcPts val="800"/>
              </a:spcAft>
              <a:defRPr sz="1800"/>
            </a:pPr>
          </a:p>
          <a:p>
            <a:pPr>
              <a:spcAft>
                <a:spcPts val="800"/>
              </a:spcAft>
              <a:defRPr sz="1800"/>
            </a:pPr>
            <a:r>
              <a:t>教训：MinerU 页码范围决定了数据质量的上限，不能随便填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踩坑2：AI输出截断 &amp; 数据幻觉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800"/>
              </a:spcAft>
              <a:defRPr sz="1800"/>
            </a:pPr>
            <a:r>
              <a:t>赛分科技：完整Prompt导致输出超24K tokens，JSON被截断 → 分轮调用（认缴/存量分开）</a:t>
            </a:r>
          </a:p>
          <a:p>
            <a:pPr>
              <a:spcAft>
                <a:spcPts val="800"/>
              </a:spcAft>
              <a:defRPr sz="1800"/>
            </a:pPr>
            <a:r>
              <a:t>友升2022年：第一版10个认购方全为null → 合并双JSON+密度评分，null全部消除</a:t>
            </a:r>
          </a:p>
          <a:p>
            <a:pPr>
              <a:spcAft>
                <a:spcPts val="800"/>
              </a:spcAft>
              <a:defRPr sz="1800"/>
            </a:pPr>
            <a:r>
              <a:t>幻觉压制：Temperature=0.1 + JSON Schema强约束 + "未披露就填null"指令</a:t>
            </a:r>
          </a:p>
          <a:p>
            <a:pPr>
              <a:spcAft>
                <a:spcPts val="800"/>
              </a:spcAft>
              <a:defRPr sz="1800"/>
            </a:pPr>
          </a:p>
          <a:p>
            <a:pPr>
              <a:spcAft>
                <a:spcPts val="800"/>
              </a:spcAft>
              <a:defRPr sz="1800" b="1"/>
            </a:pPr>
            <a:r>
              <a:t>结论：AI能抽出框架结构，但表格中的数字容易被展平文本丢失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踩坑3：没有主动核验 → 被老师点名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800"/>
              </a:spcAft>
              <a:defRPr sz="1800"/>
            </a:pPr>
            <a:r>
              <a:t>第二周提交：GitHub 规范、代码完整、Pipeline 漂亮</a:t>
            </a:r>
          </a:p>
          <a:p>
            <a:pPr>
              <a:spcAft>
                <a:spcPts val="800"/>
              </a:spcAft>
              <a:defRPr sz="1800"/>
            </a:pPr>
            <a:r>
              <a:t>但：缺三联锻造、缺带数字的cross-check、没和教师版本比对</a:t>
            </a:r>
          </a:p>
          <a:p>
            <a:pPr>
              <a:spcAft>
                <a:spcPts val="800"/>
              </a:spcAft>
              <a:defRPr sz="1800"/>
            </a:pPr>
            <a:r>
              <a:t>老师点评："提交规范只是第一步，真正关键的是结果是否可靠"</a:t>
            </a:r>
          </a:p>
          <a:p>
            <a:pPr>
              <a:spcAft>
                <a:spcPts val="800"/>
              </a:spcAft>
              <a:defRPr sz="1800"/>
            </a:pPr>
          </a:p>
          <a:p>
            <a:pPr>
              <a:spcAft>
                <a:spcPts val="800"/>
              </a:spcAft>
              <a:defRPr sz="1800"/>
            </a:pPr>
            <a:r>
              <a:t>第三周改进：</a:t>
            </a:r>
          </a:p>
          <a:p>
            <a:pPr>
              <a:spcAft>
                <a:spcPts val="800"/>
              </a:spcAft>
              <a:defRPr sz="1800"/>
            </a:pPr>
            <a:r>
              <a:t>- row_match.csv：逐行对比自动输出 vs 教师示范</a:t>
            </a:r>
          </a:p>
          <a:p>
            <a:pPr>
              <a:spcAft>
                <a:spcPts val="800"/>
              </a:spcAft>
              <a:defRPr sz="1800"/>
            </a:pPr>
            <a:r>
              <a:t>- 48条带数字cross-check记录</a:t>
            </a:r>
          </a:p>
          <a:p>
            <a:pPr>
              <a:spcAft>
                <a:spcPts val="800"/>
              </a:spcAft>
              <a:defRPr sz="1800"/>
            </a:pPr>
            <a:r>
              <a:t>- 38条manual_review_queue</a:t>
            </a:r>
          </a:p>
          <a:p>
            <a:pPr>
              <a:spcAft>
                <a:spcPts val="800"/>
              </a:spcAft>
              <a:defRPr sz="1800"/>
            </a:pPr>
            <a:r>
              <a:t>- 组内互查表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友升股份 vs 教师示范对比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371600"/>
          <a:ext cx="10058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轮次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教师版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我版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匹配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2020-09-27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金浦临港基金 840万股/7000万元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PASS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2020-09-27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金浦科创基金 360万股/3000万元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PASS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2020-09-27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上海骁墨 180万股/1500万元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PASS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2020-09-27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价格 8.3333元/股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PASS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2022-12-19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杉晖创业 297.3万股/10000万元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财投晨源 90万股/3026万元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名称&amp;数值不同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2022-12-19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上海联炻 297.3万股/10000万元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上海联炻 60万股/2017万元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数值不同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从数字看工作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800"/>
              </a:spcAft>
              <a:defRPr sz="1800"/>
            </a:pPr>
            <a:r>
              <a:t>8家公司 × 3类记录 = 24个 JSONL 文件</a:t>
            </a:r>
          </a:p>
          <a:p>
            <a:pPr>
              <a:spcAft>
                <a:spcPts val="800"/>
              </a:spcAft>
              <a:defRPr sz="1800"/>
            </a:pPr>
            <a:r>
              <a:t>总共 65 条认缴流量 + 362 条股权结构存量 + 34 条股权转让</a:t>
            </a:r>
          </a:p>
          <a:p>
            <a:pPr>
              <a:spcAft>
                <a:spcPts val="800"/>
              </a:spcAft>
              <a:defRPr sz="1800"/>
            </a:pPr>
            <a:r>
              <a:t>48 条带数字的 cross-check 记录</a:t>
            </a:r>
          </a:p>
          <a:p>
            <a:pPr>
              <a:spcAft>
                <a:spcPts val="800"/>
              </a:spcAft>
              <a:defRPr sz="1800"/>
            </a:pPr>
            <a:r>
              <a:t>38 条待人工复核（null值/投资者名差异）</a:t>
            </a:r>
          </a:p>
          <a:p>
            <a:pPr>
              <a:spcAft>
                <a:spcPts val="800"/>
              </a:spcAft>
              <a:defRPr sz="1800"/>
            </a:pPr>
            <a:r>
              <a:t>10+ 次 Deepseek API 调用，累计消耗约 500K tokens</a:t>
            </a:r>
          </a:p>
          <a:p>
            <a:pPr>
              <a:spcAft>
                <a:spcPts val="800"/>
              </a:spcAft>
              <a:defRPr sz="1800"/>
            </a:pPr>
            <a:r>
              <a:t>关键词密度评分使输入压缩 10 倍，信息密度同比提升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我们学到了什么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800"/>
              </a:spcAft>
              <a:defRPr sz="1800"/>
            </a:pPr>
            <a:r>
              <a:t>1. "香肠理论"是对的 — 每一步只做一件事，验证通过再往下走</a:t>
            </a:r>
          </a:p>
          <a:p>
            <a:pPr>
              <a:spcAft>
                <a:spcPts val="800"/>
              </a:spcAft>
              <a:defRPr sz="1800"/>
            </a:pPr>
            <a:r>
              <a:t>2. AI能抽框架，抽不准表格里的数字 — 需要人工复核兜底</a:t>
            </a:r>
          </a:p>
          <a:p>
            <a:pPr>
              <a:spcAft>
                <a:spcPts val="800"/>
              </a:spcAft>
              <a:defRPr sz="1800"/>
            </a:pPr>
            <a:r>
              <a:t>3. 校验比抽取更重要 — row_match.csv 告诉我们哪里有差异</a:t>
            </a:r>
          </a:p>
          <a:p>
            <a:pPr>
              <a:spcAft>
                <a:spcPts val="800"/>
              </a:spcAft>
              <a:defRPr sz="1800"/>
            </a:pPr>
            <a:r>
              <a:t>4. MinerU页码范围 = 数据质量上限 — 不能随便填</a:t>
            </a:r>
          </a:p>
          <a:p>
            <a:pPr>
              <a:spcAft>
                <a:spcPts val="800"/>
              </a:spcAft>
              <a:defRPr sz="1800"/>
            </a:pPr>
            <a:r>
              <a:t>5. Git规范 ≠ 任务完成 — 主动做差异分析才是研究型数据工作</a:t>
            </a:r>
          </a:p>
          <a:p>
            <a:pPr>
              <a:spcAft>
                <a:spcPts val="800"/>
              </a:spcAft>
              <a:defRPr sz="1800"/>
            </a:pPr>
          </a:p>
          <a:p>
            <a:pPr>
              <a:spcAft>
                <a:spcPts val="800"/>
              </a:spcAft>
              <a:defRPr sz="1800"/>
            </a:pPr>
            <a:r>
              <a:t>下一步：补全38条人工复核 + 扩展到50家公司验证可迁移性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