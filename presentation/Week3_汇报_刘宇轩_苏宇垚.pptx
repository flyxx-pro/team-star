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招股书股本结构自动化抽取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646464"/>
                </a:solidFill>
              </a:defRPr>
            </a:pPr>
            <a:r>
              <a:t>刘宇轩 &amp; 苏宇垚 | C组（科创板）</a:t>
            </a:r>
          </a:p>
          <a:p>
            <a:r>
              <a:t>从PDF到结构化数据的三周实践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我们的任务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输入：8份IPO招股书PDF（主板/创业板/科创板/北交所各2家，400-800页）</a:t>
            </a:r>
          </a:p>
          <a:p>
            <a:pPr>
              <a:spcAft>
                <a:spcPts val="600"/>
              </a:spcAft>
              <a:defRPr sz="1800"/>
            </a:pPr>
            <a:r>
              <a:t>输出：每家公司3张表 → 认缴流量 / 股权结构存量 / 股权转让</a:t>
            </a:r>
          </a:p>
          <a:p>
            <a:pPr>
              <a:spcAft>
                <a:spcPts val="600"/>
              </a:spcAft>
              <a:defRPr sz="1800"/>
            </a:pPr>
            <a:r>
              <a:t>核心要求：每个数字都能回到PDF原文和页码</a:t>
            </a:r>
          </a:p>
          <a:p>
            <a:pPr>
              <a:spcAft>
                <a:spcPts val="600"/>
              </a:spcAft>
              <a:defRPr sz="1800"/>
            </a:pPr>
            <a:r>
              <a:t>校验标准：Pydantic Schema + 数值Cross-check + 人工复核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自动化流水线（7步）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① PDF下载 — cninfo巨潮爬虫（Session Cookie + UA轮换 + 反爬重试）</a:t>
            </a:r>
          </a:p>
          <a:p>
            <a:pPr>
              <a:spcAft>
                <a:spcPts val="600"/>
              </a:spcAft>
              <a:defRPr sz="1800"/>
            </a:pPr>
            <a:r>
              <a:t>② MinerU解析 — PDF转结构化JSON（保留页码+坐标）</a:t>
            </a:r>
          </a:p>
          <a:p>
            <a:pPr>
              <a:spcAft>
                <a:spcPts val="600"/>
              </a:spcAft>
              <a:defRPr sz="1800"/>
            </a:pPr>
            <a:r>
              <a:t>③ TOC目录定位 — 先解析目录页，精准找到'发行人基本情况'起始页 【核心创新】</a:t>
            </a:r>
          </a:p>
          <a:p>
            <a:pPr>
              <a:spcAft>
                <a:spcPts val="600"/>
              </a:spcAft>
              <a:defRPr sz="1800"/>
            </a:pPr>
            <a:r>
              <a:t>④ 章节精准提取 — 只提取目标章节，不全文输入</a:t>
            </a:r>
          </a:p>
          <a:p>
            <a:pPr>
              <a:spcAft>
                <a:spcPts val="600"/>
              </a:spcAft>
              <a:defRPr sz="1800"/>
            </a:pPr>
            <a:r>
              <a:t>⑤ 关键词密度评分 — 75K→48K字符，信息密度提升10倍</a:t>
            </a:r>
          </a:p>
          <a:p>
            <a:pPr>
              <a:spcAft>
                <a:spcPts val="600"/>
              </a:spcAft>
              <a:defRPr sz="1800"/>
            </a:pPr>
            <a:r>
              <a:t>⑥ Deepseek AI抽取 — Temperature=0.1，数据大时分轮调用避免JSON截断</a:t>
            </a:r>
          </a:p>
          <a:p>
            <a:pPr>
              <a:spcAft>
                <a:spcPts val="600"/>
              </a:spcAft>
              <a:defRPr sz="1800"/>
            </a:pPr>
            <a:r>
              <a:t>⑦ Pydantic校验 + 数值Cross-check + 人工复核队列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踩坑1：MinerU页码范围决定一切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三协电机第一次上传：200页解析完，全是财务会计和附录</a:t>
            </a:r>
          </a:p>
          <a:p>
            <a:pPr>
              <a:spcAft>
                <a:spcPts val="600"/>
              </a:spcAft>
              <a:defRPr sz="1800"/>
            </a:pPr>
            <a:r>
              <a:t>'增资'关键词：1次 | '发行人基本情况'：0次 | 完全白跑</a:t>
            </a:r>
          </a:p>
          <a:p>
            <a:pPr>
              <a:spcAft>
                <a:spcPts val="600"/>
              </a:spcAft>
              <a:defRPr sz="1800"/>
            </a:pPr>
            <a:r>
              <a:t>第二次上传切换到1-200页范围：封面+目录+发行人基本情况全有了</a:t>
            </a:r>
          </a:p>
          <a:p>
            <a:pPr>
              <a:spcAft>
                <a:spcPts val="600"/>
              </a:spcAft>
              <a:defRPr sz="1800"/>
            </a:pPr>
            <a:r>
              <a:t>三协一共上传了3次MinerU才找对页码范围</a:t>
            </a:r>
          </a:p>
          <a:p>
            <a:pPr>
              <a:spcAft>
                <a:spcPts val="600"/>
              </a:spcAft>
              <a:defRPr sz="1800" b="1">
                <a:solidFill>
                  <a:srgbClr val="B43232"/>
                </a:solidFill>
              </a:defRPr>
            </a:pPr>
            <a:r>
              <a:t>**教训：先看PDF总页数，TOC定位找'发行人基本情况'页码，再设MinerU范围**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踩坑2：表格展平 → 数值全null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赛分科技第59页：股权结构表格 → MinerU展平为纯文本，行列对应关系丢失</a:t>
            </a:r>
          </a:p>
          <a:p>
            <a:pPr>
              <a:spcAft>
                <a:spcPts val="600"/>
              </a:spcAft>
              <a:defRPr sz="1800"/>
            </a:pPr>
            <a:r>
              <a:t>'认购数量'关键词：0次 | '认购金额'：0次 | AI完全找不到数字</a:t>
            </a:r>
          </a:p>
          <a:p>
            <a:pPr>
              <a:spcAft>
                <a:spcPts val="600"/>
              </a:spcAft>
              <a:defRPr sz="1800"/>
            </a:pPr>
            <a:r>
              <a:t>影石创新第64页：'股权结构如下：' 后面表格完全丢失（整页仅50字符）</a:t>
            </a:r>
          </a:p>
          <a:p>
            <a:pPr>
              <a:spcAft>
                <a:spcPts val="600"/>
              </a:spcAft>
              <a:defRPr sz="1800"/>
            </a:pPr>
            <a:r>
              <a:t>解法：人机协作 —— AI抽框架结构，人工查PDF填数字 → Markdown模板 → 秒转JSONL</a:t>
            </a:r>
          </a:p>
          <a:p>
            <a:pPr>
              <a:spcAft>
                <a:spcPts val="600"/>
              </a:spcAft>
              <a:defRPr sz="1800"/>
            </a:pPr>
            <a:r>
              <a:t>最终结果：赛分184条存量、影石65条存量，全部有数值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踩坑3：AI输出截断 + 数据重复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赛分科技存量数据太大，单次API输出超24K tokens → JSON被截断</a:t>
            </a:r>
          </a:p>
          <a:p>
            <a:pPr>
              <a:spcAft>
                <a:spcPts val="600"/>
              </a:spcAft>
              <a:defRPr sz="1800"/>
            </a:pPr>
            <a:r>
              <a:t>认缴记录同一条被AI重复生成15次（15条全是'国寿疌泉'）</a:t>
            </a:r>
          </a:p>
          <a:p>
            <a:pPr>
              <a:spcAft>
                <a:spcPts val="600"/>
              </a:spcAft>
              <a:defRPr sz="1800"/>
            </a:pPr>
            <a:r>
              <a:t>解法：分轮调用（认缴和存量分开两次API请求）+ 去重</a:t>
            </a:r>
          </a:p>
          <a:p>
            <a:pPr>
              <a:spcAft>
                <a:spcPts val="600"/>
              </a:spcAft>
              <a:defRPr sz="1800"/>
            </a:pPr>
            <a:r>
              <a:t>修复后：赛分15认缴+184存量，零null、零重复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核心创新：目录定位法（TOC-based）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1. 扫描MinerU JSON前30页，找到目录页（通常第10页）</a:t>
            </a:r>
          </a:p>
          <a:p>
            <a:pPr>
              <a:spcAft>
                <a:spcPts val="600"/>
              </a:spcAft>
              <a:defRPr sz="1800"/>
            </a:pPr>
            <a:r>
              <a:t>2. 正则提取：'第四节 发行人基本情况 ........... 30'</a:t>
            </a:r>
          </a:p>
          <a:p>
            <a:pPr>
              <a:spcAft>
                <a:spcPts val="600"/>
              </a:spcAft>
              <a:defRPr sz="1800"/>
            </a:pPr>
            <a:r>
              <a:t>3. 找到下一节起始页作为边界（'第五节 业务和技术 ........... 87'）</a:t>
            </a:r>
          </a:p>
          <a:p>
            <a:pPr>
              <a:spcAft>
                <a:spcPts val="600"/>
              </a:spcAft>
              <a:defRPr sz="1800"/>
            </a:pPr>
            <a:r>
              <a:t>4. 只提取第30-87页文本 → 精准命中目标章节</a:t>
            </a:r>
          </a:p>
          <a:p>
            <a:pPr>
              <a:spcAft>
                <a:spcPts val="600"/>
              </a:spcAft>
              <a:defRPr sz="1800"/>
            </a:pPr>
            <a:r>
              <a:t>三协电机存量：1条→37条（原来提取的是错误页面的内容）</a:t>
            </a:r>
          </a:p>
          <a:p>
            <a:pPr>
              <a:spcAft>
                <a:spcPts val="600"/>
              </a:spcAft>
              <a:defRPr sz="1800"/>
            </a:pPr>
            <a:r>
              <a:t>这个方法可以复用到任何招股书，不依赖人工经验判断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600" b="1">
                <a:solidFill>
                  <a:srgbClr val="003366"/>
                </a:solidFill>
              </a:defRPr>
            </a:pPr>
            <a:r>
              <a:t>最终成果：8家公司全部完成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认缴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存量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转让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备注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友升股份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教师gold，2020年3笔完全匹配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云汉芯城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数据最完整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赛分科技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存量14→184，人工填入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影石创新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存量2→65，人工填入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三协电机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TOC定位修复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黄山谷捷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确认有限责任公司特点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三联锻造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TOC精准定位33-37页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星图测控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evidence提取修复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上周被批 → 本周全改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上周老师评价：'提交规范但结果质量不足' '缺三联锻造' '没有和教师版本比对' '字段有缺失，没有主动核验意识'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本周全部改进：</a:t>
            </a:r>
          </a:p>
          <a:p>
            <a:pPr>
              <a:spcAft>
                <a:spcPts val="600"/>
              </a:spcAft>
              <a:defRPr sz="1800"/>
            </a:pPr>
            <a:r>
              <a:t>三联锻造补齐 ✓  友升替换为教师黄金标准 ✓</a:t>
            </a:r>
          </a:p>
          <a:p>
            <a:pPr>
              <a:spcAft>
                <a:spcPts val="600"/>
              </a:spcAft>
              <a:defRPr sz="1800"/>
            </a:pPr>
            <a:r>
              <a:t>row_match逐行对比表 ✓  cross-check带48条数字 ✓</a:t>
            </a:r>
          </a:p>
          <a:p>
            <a:pPr>
              <a:spcAft>
                <a:spcPts val="600"/>
              </a:spcAft>
              <a:defRPr sz="1800"/>
            </a:pPr>
            <a:r>
              <a:t>全部null值清零（55认缴+438存量）✓</a:t>
            </a:r>
          </a:p>
          <a:p>
            <a:pPr>
              <a:spcAft>
                <a:spcPts val="600"/>
              </a:spcAft>
              <a:defRPr sz="1800"/>
            </a:pPr>
            <a:r>
              <a:t>manual_gold与auto_output分离 ✓  组内互查表 ✓</a:t>
            </a:r>
          </a:p>
          <a:p>
            <a:pPr>
              <a:spcAft>
                <a:spcPts val="600"/>
              </a:spcAft>
              <a:defRPr sz="1800"/>
            </a:pPr>
            <a:r>
              <a:t>prompt敏感性分析 ✓  error_analysis 10问 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003366"/>
                </a:solidFill>
              </a:defRPr>
            </a:pPr>
            <a:r>
              <a:t>三周关键数字 &amp; 可复用的方法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1800"/>
            </a:pPr>
            <a:r>
              <a:t>15+ commits | 30+次Deepseek API调用 | ~800K tokens消耗</a:t>
            </a:r>
          </a:p>
          <a:p>
            <a:pPr>
              <a:spcAft>
                <a:spcPts val="600"/>
              </a:spcAft>
              <a:defRPr sz="1800"/>
            </a:pPr>
            <a:r>
              <a:t>null值：Week2初始 ~100个 → 本周最终 0个</a:t>
            </a:r>
          </a:p>
          <a:p>
            <a:pPr>
              <a:spcAft>
                <a:spcPts val="600"/>
              </a:spcAft>
              <a:defRPr sz="1800"/>
            </a:pPr>
            <a:r>
              <a:t>MinerU上传20+次，报废率约50%（基本都是页码范围填错）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技术资产（source_notes/technical_summary.md）：</a:t>
            </a:r>
          </a:p>
          <a:p>
            <a:pPr>
              <a:spcAft>
                <a:spcPts val="600"/>
              </a:spcAft>
              <a:defRPr sz="1800"/>
            </a:pPr>
            <a:r>
              <a:t>TOC目录定位法 → 任意招股书通用 | 关键词密度评分 → 大文本压缩</a:t>
            </a:r>
          </a:p>
          <a:p>
            <a:pPr>
              <a:spcAft>
                <a:spcPts val="600"/>
              </a:spcAft>
              <a:defRPr sz="1800"/>
            </a:pPr>
            <a:r>
              <a:t>分轮调用 → 解决输出截断 | null值三板斧 → evidence/坐标/人工</a:t>
            </a:r>
          </a:p>
          <a:p>
            <a:pPr>
              <a:spcAft>
                <a:spcPts val="600"/>
              </a:spcAft>
              <a:defRPr sz="1800"/>
            </a:pPr>
            <a:r>
              <a:t>扩展到50家只需：修改公司列表 → 批量MinerU → 批量提取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