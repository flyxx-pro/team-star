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.svg" ContentType="image/svg+xml"/>
  <Override PartName="/ppt/media/image50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13"/>
  </p:notesMasterIdLst>
  <p:handoutMasterIdLst>
    <p:handoutMasterId r:id="rId14"/>
  </p:handoutMasterIdLst>
  <p:sldIdLst>
    <p:sldId id="259" r:id="rId4"/>
    <p:sldId id="258" r:id="rId5"/>
    <p:sldId id="267" r:id="rId6"/>
    <p:sldId id="261" r:id="rId7"/>
    <p:sldId id="268" r:id="rId8"/>
    <p:sldId id="263" r:id="rId9"/>
    <p:sldId id="269" r:id="rId10"/>
    <p:sldId id="265" r:id="rId11"/>
    <p:sldId id="270" r:id="rId12"/>
  </p:sldIdLst>
  <p:sldSz cx="12192000" cy="6858000"/>
  <p:notesSz cx="7103745" cy="10234295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gs" Target="tags/tag289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image" Target="../media/image1.jpeg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image" Target="../media/image1.jpeg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image" Target="../media/image1.jpeg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7" Type="http://schemas.openxmlformats.org/officeDocument/2006/relationships/tags" Target="../tags/tag56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image" Target="../media/image1.jpeg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8" Type="http://schemas.openxmlformats.org/officeDocument/2006/relationships/tags" Target="../tags/tag73.xml"/><Relationship Id="rId17" Type="http://schemas.openxmlformats.org/officeDocument/2006/relationships/tags" Target="../tags/tag72.xml"/><Relationship Id="rId16" Type="http://schemas.openxmlformats.org/officeDocument/2006/relationships/tags" Target="../tags/tag71.xml"/><Relationship Id="rId15" Type="http://schemas.openxmlformats.org/officeDocument/2006/relationships/tags" Target="../tags/tag70.xml"/><Relationship Id="rId14" Type="http://schemas.openxmlformats.org/officeDocument/2006/relationships/tags" Target="../tags/tag69.xml"/><Relationship Id="rId13" Type="http://schemas.openxmlformats.org/officeDocument/2006/relationships/tags" Target="../tags/tag68.xml"/><Relationship Id="rId12" Type="http://schemas.openxmlformats.org/officeDocument/2006/relationships/tags" Target="../tags/tag67.xml"/><Relationship Id="rId11" Type="http://schemas.openxmlformats.org/officeDocument/2006/relationships/tags" Target="../tags/tag66.xml"/><Relationship Id="rId10" Type="http://schemas.openxmlformats.org/officeDocument/2006/relationships/tags" Target="../tags/tag65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5960" y="360000"/>
            <a:ext cx="10800000" cy="720000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95960" y="1301749"/>
            <a:ext cx="10800000" cy="4873625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VCG41N1129378072" descr="图片包含 游戏机, 自然&#10;&#10;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37" b="10937"/>
          <a:stretch>
            <a:fillRect/>
          </a:stretch>
        </p:blipFill>
        <p:spPr>
          <a:xfrm flipH="1" flipV="1">
            <a:off x="5" y="0"/>
            <a:ext cx="12191989" cy="6858000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132387" y="811262"/>
            <a:ext cx="1977755" cy="1081088"/>
          </a:xfrm>
        </p:spPr>
        <p:txBody>
          <a:bodyPr wrap="square" anchor="b">
            <a:normAutofit/>
          </a:bodyPr>
          <a:lstStyle>
            <a:lvl1pPr algn="ctr">
              <a:defRPr kumimoji="0" lang="en-US" altLang="zh-CN" sz="6000" b="1" i="0" u="none" strike="noStrike" kern="1200" cap="none" spc="0" normalizeH="0" baseline="0" noProof="1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3" hasCustomPrompt="1"/>
            <p:custDataLst>
              <p:tags r:id="rId5"/>
            </p:custDataLst>
          </p:nvPr>
        </p:nvSpPr>
        <p:spPr>
          <a:xfrm>
            <a:off x="695960" y="1301750"/>
            <a:ext cx="10799088" cy="405553"/>
          </a:xfrm>
        </p:spPr>
        <p:txBody>
          <a:bodyPr/>
          <a:lstStyle>
            <a:lvl5pPr>
              <a:buNone/>
              <a:defRPr/>
            </a:lvl5pPr>
          </a:lstStyle>
          <a:p>
            <a:pPr lvl="0"/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-1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VCG41N1129378072" descr="图片包含 游戏机, 自然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37" b="10937"/>
          <a:stretch>
            <a:fillRect/>
          </a:stretch>
        </p:blipFill>
        <p:spPr>
          <a:xfrm flipV="1">
            <a:off x="5" y="0"/>
            <a:ext cx="12191989" cy="6858000"/>
          </a:xfrm>
          <a:prstGeom prst="rect">
            <a:avLst/>
          </a:prstGeom>
        </p:spPr>
      </p:pic>
      <p:sp>
        <p:nvSpPr>
          <p:cNvPr id="17" name="矩形 16"/>
          <p:cNvSpPr/>
          <p:nvPr>
            <p:custDataLst>
              <p:tags r:id="rId4"/>
            </p:custDataLst>
          </p:nvPr>
        </p:nvSpPr>
        <p:spPr>
          <a:xfrm>
            <a:off x="5207000" y="6210000"/>
            <a:ext cx="6985000" cy="648000"/>
          </a:xfrm>
          <a:prstGeom prst="rect">
            <a:avLst/>
          </a:prstGeom>
          <a:solidFill>
            <a:schemeClr val="accent1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>
            <p:custDataLst>
              <p:tags r:id="rId5"/>
            </p:custDataLst>
          </p:nvPr>
        </p:nvSpPr>
        <p:spPr>
          <a:xfrm>
            <a:off x="0" y="6210000"/>
            <a:ext cx="5207000" cy="648000"/>
          </a:xfrm>
          <a:prstGeom prst="rect">
            <a:avLst/>
          </a:prstGeom>
          <a:solidFill>
            <a:srgbClr val="FFFFFF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日期"/>
          <p:cNvSpPr>
            <a:spLocks noGrp="1"/>
          </p:cNvSpPr>
          <p:nvPr>
            <p:ph type="body" idx="17827585" hasCustomPrompt="1"/>
            <p:custDataLst>
              <p:tags r:id="rId6"/>
            </p:custDataLst>
          </p:nvPr>
        </p:nvSpPr>
        <p:spPr>
          <a:xfrm>
            <a:off x="1016000" y="1651000"/>
            <a:ext cx="6097058" cy="4572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spc="0">
                <a:solidFill>
                  <a:srgbClr val="0000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20XX YEAR</a:t>
            </a:r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ctrTitle" idx="17826049" hasCustomPrompt="1"/>
            <p:custDataLst>
              <p:tags r:id="rId7"/>
            </p:custDataLst>
          </p:nvPr>
        </p:nvSpPr>
        <p:spPr>
          <a:xfrm>
            <a:off x="1016000" y="2159000"/>
            <a:ext cx="6352646" cy="25400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spc="0">
                <a:solidFill>
                  <a:srgbClr val="000000"/>
                </a:solidFill>
              </a:defRPr>
            </a:lvl1pPr>
          </a:lstStyle>
          <a:p>
            <a:r>
              <a:rPr lang="zh-CN" altLang="en-US" dirty="0"/>
              <a:t>单击此处
添加文档标题</a:t>
            </a:r>
            <a:endParaRPr lang="zh-CN" altLang="en-US" dirty="0"/>
          </a:p>
        </p:txBody>
      </p:sp>
      <p:sp>
        <p:nvSpPr>
          <p:cNvPr id="8" name="署名占位符 10"/>
          <p:cNvSpPr>
            <a:spLocks noGrp="1"/>
          </p:cNvSpPr>
          <p:nvPr>
            <p:ph type="body" sz="quarter" idx="18875650" hasCustomPrompt="1"/>
            <p:custDataLst>
              <p:tags r:id="rId8"/>
            </p:custDataLst>
          </p:nvPr>
        </p:nvSpPr>
        <p:spPr>
          <a:xfrm>
            <a:off x="1016000" y="4749800"/>
            <a:ext cx="2540882" cy="533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1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BY WPS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-1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VCG41N1129378072" descr="图片包含 游戏机, 自然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37" b="10937"/>
          <a:stretch>
            <a:fillRect/>
          </a:stretch>
        </p:blipFill>
        <p:spPr>
          <a:xfrm flipV="1">
            <a:off x="5" y="0"/>
            <a:ext cx="12191989" cy="6858000"/>
          </a:xfrm>
          <a:prstGeom prst="rect">
            <a:avLst/>
          </a:prstGeom>
        </p:spPr>
      </p:pic>
      <p:sp>
        <p:nvSpPr>
          <p:cNvPr id="17" name="矩形 16"/>
          <p:cNvSpPr/>
          <p:nvPr>
            <p:custDataLst>
              <p:tags r:id="rId4"/>
            </p:custDataLst>
          </p:nvPr>
        </p:nvSpPr>
        <p:spPr>
          <a:xfrm>
            <a:off x="1295400" y="6210000"/>
            <a:ext cx="10896600" cy="648000"/>
          </a:xfrm>
          <a:prstGeom prst="rect">
            <a:avLst/>
          </a:prstGeom>
          <a:solidFill>
            <a:schemeClr val="accent1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>
            <p:custDataLst>
              <p:tags r:id="rId5"/>
            </p:custDataLst>
          </p:nvPr>
        </p:nvSpPr>
        <p:spPr>
          <a:xfrm>
            <a:off x="0" y="6210000"/>
            <a:ext cx="1295400" cy="648000"/>
          </a:xfrm>
          <a:prstGeom prst="rect">
            <a:avLst/>
          </a:prstGeom>
          <a:solidFill>
            <a:srgbClr val="FFFFFF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 idx="17826049" hasCustomPrompt="1"/>
            <p:custDataLst>
              <p:tags r:id="rId6"/>
            </p:custDataLst>
          </p:nvPr>
        </p:nvSpPr>
        <p:spPr>
          <a:xfrm>
            <a:off x="1016000" y="3530600"/>
            <a:ext cx="6352117" cy="1524000"/>
          </a:xfrm>
        </p:spPr>
        <p:txBody>
          <a:bodyPr vert="horz" lIns="0" tIns="0" rIns="0" bIns="0" anchor="t" anchorCtr="0">
            <a:normAutofit/>
          </a:bodyPr>
          <a:lstStyle>
            <a:lvl1pPr marL="0" indent="0" algn="l"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rgbClr val="000000"/>
                </a:solidFill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idx="17826561" hasCustomPrompt="1"/>
            <p:custDataLst>
              <p:tags r:id="rId7"/>
            </p:custDataLst>
          </p:nvPr>
        </p:nvSpPr>
        <p:spPr>
          <a:xfrm>
            <a:off x="1016000" y="1905000"/>
            <a:ext cx="1527175" cy="1524000"/>
          </a:xfrm>
        </p:spPr>
        <p:txBody>
          <a:bodyPr vert="horz" wrap="none" lIns="0" tIns="0" rIns="0" bIns="0" anchor="ctr" anchorCtr="0">
            <a:normAutofit/>
          </a:bodyPr>
          <a:lstStyle>
            <a:lvl1pPr marL="0" indent="0" algn="l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rgbClr val="000000"/>
                </a:solidFill>
              </a:defRPr>
            </a:lvl1pPr>
          </a:lstStyle>
          <a:p>
            <a:pPr lvl="0"/>
            <a:r>
              <a:rPr lang="zh-CN" altLang="en-US" dirty="0"/>
              <a:t>01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-1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VCG41N1129378072" descr="图片包含 游戏机, 自然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37" b="10937"/>
          <a:stretch>
            <a:fillRect/>
          </a:stretch>
        </p:blipFill>
        <p:spPr>
          <a:xfrm flipH="1" flipV="1">
            <a:off x="5" y="0"/>
            <a:ext cx="12191989" cy="6858000"/>
          </a:xfrm>
          <a:prstGeom prst="rect">
            <a:avLst/>
          </a:prstGeom>
        </p:spPr>
      </p:pic>
      <p:sp>
        <p:nvSpPr>
          <p:cNvPr id="13" name="矩形 9"/>
          <p:cNvSpPr/>
          <p:nvPr>
            <p:custDataLst>
              <p:tags r:id="rId4"/>
            </p:custDataLst>
          </p:nvPr>
        </p:nvSpPr>
        <p:spPr>
          <a:xfrm>
            <a:off x="0" y="6210000"/>
            <a:ext cx="6985000" cy="648000"/>
          </a:xfrm>
          <a:prstGeom prst="rect">
            <a:avLst/>
          </a:prstGeom>
          <a:solidFill>
            <a:schemeClr val="accent1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>
            <p:custDataLst>
              <p:tags r:id="rId5"/>
            </p:custDataLst>
          </p:nvPr>
        </p:nvSpPr>
        <p:spPr>
          <a:xfrm>
            <a:off x="6985000" y="6210000"/>
            <a:ext cx="5207000" cy="648000"/>
          </a:xfrm>
          <a:prstGeom prst="rect">
            <a:avLst/>
          </a:prstGeom>
          <a:solidFill>
            <a:srgbClr val="FFFFFF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Subtitle 14"/>
          <p:cNvSpPr>
            <a:spLocks noGrp="1"/>
          </p:cNvSpPr>
          <p:nvPr>
            <p:ph type="body" idx="17826305" hasCustomPrompt="1"/>
            <p:custDataLst>
              <p:tags r:id="rId6"/>
            </p:custDataLst>
          </p:nvPr>
        </p:nvSpPr>
        <p:spPr>
          <a:xfrm>
            <a:off x="5726642" y="2667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0000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>
            <p:ph type="ctrTitle" idx="17826049" hasCustomPrompt="1"/>
            <p:custDataLst>
              <p:tags r:id="rId7"/>
            </p:custDataLst>
          </p:nvPr>
        </p:nvSpPr>
        <p:spPr>
          <a:xfrm>
            <a:off x="5724878" y="3175000"/>
            <a:ext cx="5451122" cy="10160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spc="0">
                <a:solidFill>
                  <a:srgbClr val="000000"/>
                </a:solidFill>
              </a:defRPr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tags" Target="../tags/tag83.xml"/><Relationship Id="rId20" Type="http://schemas.openxmlformats.org/officeDocument/2006/relationships/tags" Target="../tags/tag82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81.xml"/><Relationship Id="rId18" Type="http://schemas.openxmlformats.org/officeDocument/2006/relationships/tags" Target="../tags/tag80.xml"/><Relationship Id="rId17" Type="http://schemas.openxmlformats.org/officeDocument/2006/relationships/tags" Target="../tags/tag79.xml"/><Relationship Id="rId16" Type="http://schemas.openxmlformats.org/officeDocument/2006/relationships/tags" Target="../tags/tag78.xml"/><Relationship Id="rId15" Type="http://schemas.openxmlformats.org/officeDocument/2006/relationships/image" Target="../media/image1.jpeg"/><Relationship Id="rId14" Type="http://schemas.openxmlformats.org/officeDocument/2006/relationships/tags" Target="../tags/tag77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VCG41N1129378072" descr="图片包含 游戏机, 自然&#10;&#10;描述已自动生成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37" b="10937"/>
          <a:stretch>
            <a:fillRect/>
          </a:stretch>
        </p:blipFill>
        <p:spPr>
          <a:xfrm flipV="1">
            <a:off x="5" y="0"/>
            <a:ext cx="12191989" cy="6858000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8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u="none" kern="1200" spc="0">
          <a:solidFill>
            <a:schemeClr val="tx1"/>
          </a:solidFill>
          <a:effectLst>
            <a:outerShdw>
              <a:srgbClr val="FFFFFF"/>
            </a:outerShdw>
          </a:effectLst>
          <a:uFill>
            <a:solidFill>
              <a:schemeClr val="bg1"/>
            </a:solidFill>
          </a:uFill>
          <a:latin typeface="+mj-ea"/>
          <a:ea typeface="+mj-ea"/>
          <a:cs typeface="+mj-cs"/>
        </a:defRPr>
      </a:lvl1pPr>
    </p:titleStyle>
    <p:bodyStyle>
      <a:lvl1pPr marL="228600" indent="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 spc="0">
          <a:solidFill>
            <a:schemeClr val="tx1"/>
          </a:solidFill>
          <a:latin typeface="+mn-ea"/>
          <a:ea typeface="+mn-ea"/>
          <a:cs typeface="+mn-cs"/>
        </a:defRPr>
      </a:lvl1pPr>
      <a:lvl2pPr marL="6858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 spc="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4" Type="http://schemas.openxmlformats.org/officeDocument/2006/relationships/slideLayout" Target="../slideLayouts/slideLayout13.xml"/><Relationship Id="rId93" Type="http://schemas.openxmlformats.org/officeDocument/2006/relationships/tags" Target="../tags/tag150.xml"/><Relationship Id="rId92" Type="http://schemas.openxmlformats.org/officeDocument/2006/relationships/tags" Target="../tags/tag149.xml"/><Relationship Id="rId91" Type="http://schemas.openxmlformats.org/officeDocument/2006/relationships/tags" Target="../tags/tag148.xml"/><Relationship Id="rId90" Type="http://schemas.openxmlformats.org/officeDocument/2006/relationships/image" Target="../media/image27.svg"/><Relationship Id="rId9" Type="http://schemas.openxmlformats.org/officeDocument/2006/relationships/tags" Target="../tags/tag92.xml"/><Relationship Id="rId89" Type="http://schemas.openxmlformats.org/officeDocument/2006/relationships/image" Target="../media/image26.png"/><Relationship Id="rId88" Type="http://schemas.openxmlformats.org/officeDocument/2006/relationships/tags" Target="../tags/tag147.xml"/><Relationship Id="rId87" Type="http://schemas.openxmlformats.org/officeDocument/2006/relationships/tags" Target="../tags/tag146.xml"/><Relationship Id="rId86" Type="http://schemas.openxmlformats.org/officeDocument/2006/relationships/tags" Target="../tags/tag145.xml"/><Relationship Id="rId85" Type="http://schemas.openxmlformats.org/officeDocument/2006/relationships/tags" Target="../tags/tag144.xml"/><Relationship Id="rId84" Type="http://schemas.openxmlformats.org/officeDocument/2006/relationships/tags" Target="../tags/tag143.xml"/><Relationship Id="rId83" Type="http://schemas.openxmlformats.org/officeDocument/2006/relationships/tags" Target="../tags/tag142.xml"/><Relationship Id="rId82" Type="http://schemas.openxmlformats.org/officeDocument/2006/relationships/image" Target="../media/image25.svg"/><Relationship Id="rId81" Type="http://schemas.openxmlformats.org/officeDocument/2006/relationships/image" Target="../media/image24.png"/><Relationship Id="rId80" Type="http://schemas.openxmlformats.org/officeDocument/2006/relationships/tags" Target="../tags/tag141.xml"/><Relationship Id="rId8" Type="http://schemas.openxmlformats.org/officeDocument/2006/relationships/tags" Target="../tags/tag91.xml"/><Relationship Id="rId79" Type="http://schemas.openxmlformats.org/officeDocument/2006/relationships/tags" Target="../tags/tag140.xml"/><Relationship Id="rId78" Type="http://schemas.openxmlformats.org/officeDocument/2006/relationships/tags" Target="../tags/tag139.xml"/><Relationship Id="rId77" Type="http://schemas.openxmlformats.org/officeDocument/2006/relationships/tags" Target="../tags/tag138.xml"/><Relationship Id="rId76" Type="http://schemas.openxmlformats.org/officeDocument/2006/relationships/tags" Target="../tags/tag137.xml"/><Relationship Id="rId75" Type="http://schemas.openxmlformats.org/officeDocument/2006/relationships/image" Target="../media/image23.svg"/><Relationship Id="rId74" Type="http://schemas.openxmlformats.org/officeDocument/2006/relationships/image" Target="../media/image22.png"/><Relationship Id="rId73" Type="http://schemas.openxmlformats.org/officeDocument/2006/relationships/tags" Target="../tags/tag136.xml"/><Relationship Id="rId72" Type="http://schemas.openxmlformats.org/officeDocument/2006/relationships/tags" Target="../tags/tag135.xml"/><Relationship Id="rId71" Type="http://schemas.openxmlformats.org/officeDocument/2006/relationships/tags" Target="../tags/tag134.xml"/><Relationship Id="rId70" Type="http://schemas.openxmlformats.org/officeDocument/2006/relationships/tags" Target="../tags/tag133.xml"/><Relationship Id="rId7" Type="http://schemas.openxmlformats.org/officeDocument/2006/relationships/tags" Target="../tags/tag90.xml"/><Relationship Id="rId69" Type="http://schemas.openxmlformats.org/officeDocument/2006/relationships/image" Target="../media/image21.svg"/><Relationship Id="rId68" Type="http://schemas.openxmlformats.org/officeDocument/2006/relationships/image" Target="../media/image20.png"/><Relationship Id="rId67" Type="http://schemas.openxmlformats.org/officeDocument/2006/relationships/tags" Target="../tags/tag132.xml"/><Relationship Id="rId66" Type="http://schemas.openxmlformats.org/officeDocument/2006/relationships/tags" Target="../tags/tag131.xml"/><Relationship Id="rId65" Type="http://schemas.openxmlformats.org/officeDocument/2006/relationships/tags" Target="../tags/tag130.xml"/><Relationship Id="rId64" Type="http://schemas.openxmlformats.org/officeDocument/2006/relationships/tags" Target="../tags/tag129.xml"/><Relationship Id="rId63" Type="http://schemas.openxmlformats.org/officeDocument/2006/relationships/image" Target="../media/image19.svg"/><Relationship Id="rId62" Type="http://schemas.openxmlformats.org/officeDocument/2006/relationships/image" Target="../media/image18.png"/><Relationship Id="rId61" Type="http://schemas.openxmlformats.org/officeDocument/2006/relationships/tags" Target="../tags/tag128.xml"/><Relationship Id="rId60" Type="http://schemas.openxmlformats.org/officeDocument/2006/relationships/tags" Target="../tags/tag127.xml"/><Relationship Id="rId6" Type="http://schemas.openxmlformats.org/officeDocument/2006/relationships/tags" Target="../tags/tag89.xml"/><Relationship Id="rId59" Type="http://schemas.openxmlformats.org/officeDocument/2006/relationships/tags" Target="../tags/tag126.xml"/><Relationship Id="rId58" Type="http://schemas.openxmlformats.org/officeDocument/2006/relationships/tags" Target="../tags/tag125.xml"/><Relationship Id="rId57" Type="http://schemas.openxmlformats.org/officeDocument/2006/relationships/tags" Target="../tags/tag124.xml"/><Relationship Id="rId56" Type="http://schemas.openxmlformats.org/officeDocument/2006/relationships/image" Target="../media/image17.svg"/><Relationship Id="rId55" Type="http://schemas.openxmlformats.org/officeDocument/2006/relationships/image" Target="../media/image16.png"/><Relationship Id="rId54" Type="http://schemas.openxmlformats.org/officeDocument/2006/relationships/tags" Target="../tags/tag123.xml"/><Relationship Id="rId53" Type="http://schemas.openxmlformats.org/officeDocument/2006/relationships/tags" Target="../tags/tag122.xml"/><Relationship Id="rId52" Type="http://schemas.openxmlformats.org/officeDocument/2006/relationships/tags" Target="../tags/tag121.xml"/><Relationship Id="rId51" Type="http://schemas.openxmlformats.org/officeDocument/2006/relationships/tags" Target="../tags/tag120.xml"/><Relationship Id="rId50" Type="http://schemas.openxmlformats.org/officeDocument/2006/relationships/image" Target="../media/image15.svg"/><Relationship Id="rId5" Type="http://schemas.openxmlformats.org/officeDocument/2006/relationships/tags" Target="../tags/tag88.xml"/><Relationship Id="rId49" Type="http://schemas.openxmlformats.org/officeDocument/2006/relationships/image" Target="../media/image14.png"/><Relationship Id="rId48" Type="http://schemas.openxmlformats.org/officeDocument/2006/relationships/tags" Target="../tags/tag119.xml"/><Relationship Id="rId47" Type="http://schemas.openxmlformats.org/officeDocument/2006/relationships/tags" Target="../tags/tag118.xml"/><Relationship Id="rId46" Type="http://schemas.openxmlformats.org/officeDocument/2006/relationships/tags" Target="../tags/tag117.xml"/><Relationship Id="rId45" Type="http://schemas.openxmlformats.org/officeDocument/2006/relationships/tags" Target="../tags/tag116.xml"/><Relationship Id="rId44" Type="http://schemas.openxmlformats.org/officeDocument/2006/relationships/image" Target="../media/image13.svg"/><Relationship Id="rId43" Type="http://schemas.openxmlformats.org/officeDocument/2006/relationships/image" Target="../media/image12.png"/><Relationship Id="rId42" Type="http://schemas.openxmlformats.org/officeDocument/2006/relationships/tags" Target="../tags/tag115.xml"/><Relationship Id="rId41" Type="http://schemas.openxmlformats.org/officeDocument/2006/relationships/tags" Target="../tags/tag114.xml"/><Relationship Id="rId40" Type="http://schemas.openxmlformats.org/officeDocument/2006/relationships/tags" Target="../tags/tag113.xml"/><Relationship Id="rId4" Type="http://schemas.openxmlformats.org/officeDocument/2006/relationships/tags" Target="../tags/tag87.xml"/><Relationship Id="rId39" Type="http://schemas.openxmlformats.org/officeDocument/2006/relationships/tags" Target="../tags/tag112.xml"/><Relationship Id="rId38" Type="http://schemas.openxmlformats.org/officeDocument/2006/relationships/image" Target="../media/image11.svg"/><Relationship Id="rId37" Type="http://schemas.openxmlformats.org/officeDocument/2006/relationships/image" Target="../media/image10.png"/><Relationship Id="rId36" Type="http://schemas.openxmlformats.org/officeDocument/2006/relationships/tags" Target="../tags/tag111.xml"/><Relationship Id="rId35" Type="http://schemas.openxmlformats.org/officeDocument/2006/relationships/tags" Target="../tags/tag110.xml"/><Relationship Id="rId34" Type="http://schemas.openxmlformats.org/officeDocument/2006/relationships/tags" Target="../tags/tag109.xml"/><Relationship Id="rId33" Type="http://schemas.openxmlformats.org/officeDocument/2006/relationships/tags" Target="../tags/tag108.xml"/><Relationship Id="rId32" Type="http://schemas.openxmlformats.org/officeDocument/2006/relationships/image" Target="../media/image9.svg"/><Relationship Id="rId31" Type="http://schemas.openxmlformats.org/officeDocument/2006/relationships/image" Target="../media/image8.png"/><Relationship Id="rId30" Type="http://schemas.openxmlformats.org/officeDocument/2006/relationships/tags" Target="../tags/tag107.xml"/><Relationship Id="rId3" Type="http://schemas.openxmlformats.org/officeDocument/2006/relationships/tags" Target="../tags/tag86.xml"/><Relationship Id="rId29" Type="http://schemas.openxmlformats.org/officeDocument/2006/relationships/tags" Target="../tags/tag106.xml"/><Relationship Id="rId28" Type="http://schemas.openxmlformats.org/officeDocument/2006/relationships/tags" Target="../tags/tag105.xml"/><Relationship Id="rId27" Type="http://schemas.openxmlformats.org/officeDocument/2006/relationships/tags" Target="../tags/tag104.xml"/><Relationship Id="rId26" Type="http://schemas.openxmlformats.org/officeDocument/2006/relationships/image" Target="../media/image7.svg"/><Relationship Id="rId25" Type="http://schemas.openxmlformats.org/officeDocument/2006/relationships/image" Target="../media/image6.png"/><Relationship Id="rId24" Type="http://schemas.openxmlformats.org/officeDocument/2006/relationships/tags" Target="../tags/tag103.xml"/><Relationship Id="rId23" Type="http://schemas.openxmlformats.org/officeDocument/2006/relationships/tags" Target="../tags/tag102.xml"/><Relationship Id="rId22" Type="http://schemas.openxmlformats.org/officeDocument/2006/relationships/image" Target="../media/image5.svg"/><Relationship Id="rId21" Type="http://schemas.openxmlformats.org/officeDocument/2006/relationships/image" Target="../media/image4.png"/><Relationship Id="rId20" Type="http://schemas.openxmlformats.org/officeDocument/2006/relationships/tags" Target="../tags/tag101.xml"/><Relationship Id="rId2" Type="http://schemas.openxmlformats.org/officeDocument/2006/relationships/tags" Target="../tags/tag85.xml"/><Relationship Id="rId19" Type="http://schemas.openxmlformats.org/officeDocument/2006/relationships/tags" Target="../tags/tag100.xml"/><Relationship Id="rId18" Type="http://schemas.openxmlformats.org/officeDocument/2006/relationships/image" Target="../media/image3.svg"/><Relationship Id="rId17" Type="http://schemas.openxmlformats.org/officeDocument/2006/relationships/image" Target="../media/image2.png"/><Relationship Id="rId16" Type="http://schemas.openxmlformats.org/officeDocument/2006/relationships/tags" Target="../tags/tag99.xml"/><Relationship Id="rId15" Type="http://schemas.openxmlformats.org/officeDocument/2006/relationships/tags" Target="../tags/tag98.xml"/><Relationship Id="rId14" Type="http://schemas.openxmlformats.org/officeDocument/2006/relationships/tags" Target="../tags/tag97.xml"/><Relationship Id="rId13" Type="http://schemas.openxmlformats.org/officeDocument/2006/relationships/tags" Target="../tags/tag96.xml"/><Relationship Id="rId12" Type="http://schemas.openxmlformats.org/officeDocument/2006/relationships/tags" Target="../tags/tag95.xml"/><Relationship Id="rId11" Type="http://schemas.openxmlformats.org/officeDocument/2006/relationships/tags" Target="../tags/tag94.xml"/><Relationship Id="rId10" Type="http://schemas.openxmlformats.org/officeDocument/2006/relationships/tags" Target="../tags/tag93.xml"/><Relationship Id="rId1" Type="http://schemas.openxmlformats.org/officeDocument/2006/relationships/tags" Target="../tags/tag84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59.xml"/><Relationship Id="rId8" Type="http://schemas.openxmlformats.org/officeDocument/2006/relationships/tags" Target="../tags/tag158.xml"/><Relationship Id="rId7" Type="http://schemas.openxmlformats.org/officeDocument/2006/relationships/tags" Target="../tags/tag157.xml"/><Relationship Id="rId6" Type="http://schemas.openxmlformats.org/officeDocument/2006/relationships/tags" Target="../tags/tag156.xml"/><Relationship Id="rId5" Type="http://schemas.openxmlformats.org/officeDocument/2006/relationships/tags" Target="../tags/tag155.xml"/><Relationship Id="rId4" Type="http://schemas.openxmlformats.org/officeDocument/2006/relationships/tags" Target="../tags/tag154.xml"/><Relationship Id="rId3" Type="http://schemas.openxmlformats.org/officeDocument/2006/relationships/tags" Target="../tags/tag153.xml"/><Relationship Id="rId20" Type="http://schemas.openxmlformats.org/officeDocument/2006/relationships/slideLayout" Target="../slideLayouts/slideLayout13.xml"/><Relationship Id="rId2" Type="http://schemas.openxmlformats.org/officeDocument/2006/relationships/tags" Target="../tags/tag152.xml"/><Relationship Id="rId19" Type="http://schemas.openxmlformats.org/officeDocument/2006/relationships/tags" Target="../tags/tag169.xml"/><Relationship Id="rId18" Type="http://schemas.openxmlformats.org/officeDocument/2006/relationships/tags" Target="../tags/tag168.xml"/><Relationship Id="rId17" Type="http://schemas.openxmlformats.org/officeDocument/2006/relationships/tags" Target="../tags/tag167.xml"/><Relationship Id="rId16" Type="http://schemas.openxmlformats.org/officeDocument/2006/relationships/tags" Target="../tags/tag166.xml"/><Relationship Id="rId15" Type="http://schemas.openxmlformats.org/officeDocument/2006/relationships/tags" Target="../tags/tag165.xml"/><Relationship Id="rId14" Type="http://schemas.openxmlformats.org/officeDocument/2006/relationships/tags" Target="../tags/tag164.xml"/><Relationship Id="rId13" Type="http://schemas.openxmlformats.org/officeDocument/2006/relationships/tags" Target="../tags/tag163.xml"/><Relationship Id="rId12" Type="http://schemas.openxmlformats.org/officeDocument/2006/relationships/tags" Target="../tags/tag162.xml"/><Relationship Id="rId11" Type="http://schemas.openxmlformats.org/officeDocument/2006/relationships/tags" Target="../tags/tag161.xml"/><Relationship Id="rId10" Type="http://schemas.openxmlformats.org/officeDocument/2006/relationships/tags" Target="../tags/tag160.xml"/><Relationship Id="rId1" Type="http://schemas.openxmlformats.org/officeDocument/2006/relationships/tags" Target="../tags/tag15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72.xml"/><Relationship Id="rId2" Type="http://schemas.openxmlformats.org/officeDocument/2006/relationships/tags" Target="../tags/tag171.xml"/><Relationship Id="rId1" Type="http://schemas.openxmlformats.org/officeDocument/2006/relationships/tags" Target="../tags/tag170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79.xml"/><Relationship Id="rId8" Type="http://schemas.openxmlformats.org/officeDocument/2006/relationships/tags" Target="../tags/tag178.xml"/><Relationship Id="rId7" Type="http://schemas.openxmlformats.org/officeDocument/2006/relationships/tags" Target="../tags/tag177.xml"/><Relationship Id="rId6" Type="http://schemas.openxmlformats.org/officeDocument/2006/relationships/image" Target="../media/image29.svg"/><Relationship Id="rId54" Type="http://schemas.openxmlformats.org/officeDocument/2006/relationships/slideLayout" Target="../slideLayouts/slideLayout13.xml"/><Relationship Id="rId53" Type="http://schemas.openxmlformats.org/officeDocument/2006/relationships/tags" Target="../tags/tag211.xml"/><Relationship Id="rId52" Type="http://schemas.openxmlformats.org/officeDocument/2006/relationships/tags" Target="../tags/tag210.xml"/><Relationship Id="rId51" Type="http://schemas.openxmlformats.org/officeDocument/2006/relationships/tags" Target="../tags/tag209.xml"/><Relationship Id="rId50" Type="http://schemas.openxmlformats.org/officeDocument/2006/relationships/tags" Target="../tags/tag208.xml"/><Relationship Id="rId5" Type="http://schemas.openxmlformats.org/officeDocument/2006/relationships/image" Target="../media/image28.png"/><Relationship Id="rId49" Type="http://schemas.openxmlformats.org/officeDocument/2006/relationships/tags" Target="../tags/tag207.xml"/><Relationship Id="rId48" Type="http://schemas.openxmlformats.org/officeDocument/2006/relationships/image" Target="../media/image41.svg"/><Relationship Id="rId47" Type="http://schemas.openxmlformats.org/officeDocument/2006/relationships/image" Target="../media/image40.png"/><Relationship Id="rId46" Type="http://schemas.openxmlformats.org/officeDocument/2006/relationships/tags" Target="../tags/tag206.xml"/><Relationship Id="rId45" Type="http://schemas.openxmlformats.org/officeDocument/2006/relationships/tags" Target="../tags/tag205.xml"/><Relationship Id="rId44" Type="http://schemas.openxmlformats.org/officeDocument/2006/relationships/tags" Target="../tags/tag204.xml"/><Relationship Id="rId43" Type="http://schemas.openxmlformats.org/officeDocument/2006/relationships/tags" Target="../tags/tag203.xml"/><Relationship Id="rId42" Type="http://schemas.openxmlformats.org/officeDocument/2006/relationships/tags" Target="../tags/tag202.xml"/><Relationship Id="rId41" Type="http://schemas.openxmlformats.org/officeDocument/2006/relationships/tags" Target="../tags/tag201.xml"/><Relationship Id="rId40" Type="http://schemas.openxmlformats.org/officeDocument/2006/relationships/image" Target="../media/image39.svg"/><Relationship Id="rId4" Type="http://schemas.openxmlformats.org/officeDocument/2006/relationships/tags" Target="../tags/tag176.xml"/><Relationship Id="rId39" Type="http://schemas.openxmlformats.org/officeDocument/2006/relationships/image" Target="../media/image38.png"/><Relationship Id="rId38" Type="http://schemas.openxmlformats.org/officeDocument/2006/relationships/tags" Target="../tags/tag200.xml"/><Relationship Id="rId37" Type="http://schemas.openxmlformats.org/officeDocument/2006/relationships/tags" Target="../tags/tag199.xml"/><Relationship Id="rId36" Type="http://schemas.openxmlformats.org/officeDocument/2006/relationships/tags" Target="../tags/tag198.xml"/><Relationship Id="rId35" Type="http://schemas.openxmlformats.org/officeDocument/2006/relationships/tags" Target="../tags/tag197.xml"/><Relationship Id="rId34" Type="http://schemas.openxmlformats.org/officeDocument/2006/relationships/image" Target="../media/image37.svg"/><Relationship Id="rId33" Type="http://schemas.openxmlformats.org/officeDocument/2006/relationships/image" Target="../media/image36.png"/><Relationship Id="rId32" Type="http://schemas.openxmlformats.org/officeDocument/2006/relationships/tags" Target="../tags/tag196.xml"/><Relationship Id="rId31" Type="http://schemas.openxmlformats.org/officeDocument/2006/relationships/tags" Target="../tags/tag195.xml"/><Relationship Id="rId30" Type="http://schemas.openxmlformats.org/officeDocument/2006/relationships/tags" Target="../tags/tag194.xml"/><Relationship Id="rId3" Type="http://schemas.openxmlformats.org/officeDocument/2006/relationships/tags" Target="../tags/tag175.xml"/><Relationship Id="rId29" Type="http://schemas.openxmlformats.org/officeDocument/2006/relationships/tags" Target="../tags/tag193.xml"/><Relationship Id="rId28" Type="http://schemas.openxmlformats.org/officeDocument/2006/relationships/image" Target="../media/image35.svg"/><Relationship Id="rId27" Type="http://schemas.openxmlformats.org/officeDocument/2006/relationships/image" Target="../media/image34.png"/><Relationship Id="rId26" Type="http://schemas.openxmlformats.org/officeDocument/2006/relationships/tags" Target="../tags/tag192.xml"/><Relationship Id="rId25" Type="http://schemas.openxmlformats.org/officeDocument/2006/relationships/tags" Target="../tags/tag191.xml"/><Relationship Id="rId24" Type="http://schemas.openxmlformats.org/officeDocument/2006/relationships/tags" Target="../tags/tag190.xml"/><Relationship Id="rId23" Type="http://schemas.openxmlformats.org/officeDocument/2006/relationships/tags" Target="../tags/tag189.xml"/><Relationship Id="rId22" Type="http://schemas.openxmlformats.org/officeDocument/2006/relationships/image" Target="../media/image33.svg"/><Relationship Id="rId21" Type="http://schemas.openxmlformats.org/officeDocument/2006/relationships/image" Target="../media/image32.png"/><Relationship Id="rId20" Type="http://schemas.openxmlformats.org/officeDocument/2006/relationships/tags" Target="../tags/tag188.xml"/><Relationship Id="rId2" Type="http://schemas.openxmlformats.org/officeDocument/2006/relationships/tags" Target="../tags/tag174.xml"/><Relationship Id="rId19" Type="http://schemas.openxmlformats.org/officeDocument/2006/relationships/tags" Target="../tags/tag187.xml"/><Relationship Id="rId18" Type="http://schemas.openxmlformats.org/officeDocument/2006/relationships/tags" Target="../tags/tag186.xml"/><Relationship Id="rId17" Type="http://schemas.openxmlformats.org/officeDocument/2006/relationships/tags" Target="../tags/tag185.xml"/><Relationship Id="rId16" Type="http://schemas.openxmlformats.org/officeDocument/2006/relationships/tags" Target="../tags/tag184.xml"/><Relationship Id="rId15" Type="http://schemas.openxmlformats.org/officeDocument/2006/relationships/image" Target="../media/image31.svg"/><Relationship Id="rId14" Type="http://schemas.openxmlformats.org/officeDocument/2006/relationships/image" Target="../media/image30.png"/><Relationship Id="rId13" Type="http://schemas.openxmlformats.org/officeDocument/2006/relationships/tags" Target="../tags/tag183.xml"/><Relationship Id="rId12" Type="http://schemas.openxmlformats.org/officeDocument/2006/relationships/tags" Target="../tags/tag182.xml"/><Relationship Id="rId11" Type="http://schemas.openxmlformats.org/officeDocument/2006/relationships/tags" Target="../tags/tag181.xml"/><Relationship Id="rId10" Type="http://schemas.openxmlformats.org/officeDocument/2006/relationships/tags" Target="../tags/tag180.xml"/><Relationship Id="rId1" Type="http://schemas.openxmlformats.org/officeDocument/2006/relationships/tags" Target="../tags/tag173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214.xml"/><Relationship Id="rId2" Type="http://schemas.openxmlformats.org/officeDocument/2006/relationships/tags" Target="../tags/tag213.xml"/><Relationship Id="rId1" Type="http://schemas.openxmlformats.org/officeDocument/2006/relationships/tags" Target="../tags/tag21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23.xml"/><Relationship Id="rId8" Type="http://schemas.openxmlformats.org/officeDocument/2006/relationships/tags" Target="../tags/tag222.xml"/><Relationship Id="rId7" Type="http://schemas.openxmlformats.org/officeDocument/2006/relationships/tags" Target="../tags/tag221.xml"/><Relationship Id="rId6" Type="http://schemas.openxmlformats.org/officeDocument/2006/relationships/tags" Target="../tags/tag220.xml"/><Relationship Id="rId5" Type="http://schemas.openxmlformats.org/officeDocument/2006/relationships/tags" Target="../tags/tag219.xml"/><Relationship Id="rId4" Type="http://schemas.openxmlformats.org/officeDocument/2006/relationships/tags" Target="../tags/tag218.xml"/><Relationship Id="rId3" Type="http://schemas.openxmlformats.org/officeDocument/2006/relationships/tags" Target="../tags/tag217.xml"/><Relationship Id="rId2" Type="http://schemas.openxmlformats.org/officeDocument/2006/relationships/tags" Target="../tags/tag216.xml"/><Relationship Id="rId10" Type="http://schemas.openxmlformats.org/officeDocument/2006/relationships/slideLayout" Target="../slideLayouts/slideLayout13.xml"/><Relationship Id="rId1" Type="http://schemas.openxmlformats.org/officeDocument/2006/relationships/tags" Target="../tags/tag215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226.xml"/><Relationship Id="rId2" Type="http://schemas.openxmlformats.org/officeDocument/2006/relationships/tags" Target="../tags/tag225.xml"/><Relationship Id="rId1" Type="http://schemas.openxmlformats.org/officeDocument/2006/relationships/tags" Target="../tags/tag22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35.xml"/><Relationship Id="rId86" Type="http://schemas.openxmlformats.org/officeDocument/2006/relationships/slideLayout" Target="../slideLayouts/slideLayout13.xml"/><Relationship Id="rId85" Type="http://schemas.openxmlformats.org/officeDocument/2006/relationships/tags" Target="../tags/tag285.xml"/><Relationship Id="rId84" Type="http://schemas.openxmlformats.org/officeDocument/2006/relationships/tags" Target="../tags/tag284.xml"/><Relationship Id="rId83" Type="http://schemas.openxmlformats.org/officeDocument/2006/relationships/image" Target="../media/image65.svg"/><Relationship Id="rId82" Type="http://schemas.openxmlformats.org/officeDocument/2006/relationships/image" Target="../media/image64.png"/><Relationship Id="rId81" Type="http://schemas.openxmlformats.org/officeDocument/2006/relationships/tags" Target="../tags/tag283.xml"/><Relationship Id="rId80" Type="http://schemas.openxmlformats.org/officeDocument/2006/relationships/tags" Target="../tags/tag282.xml"/><Relationship Id="rId8" Type="http://schemas.openxmlformats.org/officeDocument/2006/relationships/tags" Target="../tags/tag234.xml"/><Relationship Id="rId79" Type="http://schemas.openxmlformats.org/officeDocument/2006/relationships/tags" Target="../tags/tag281.xml"/><Relationship Id="rId78" Type="http://schemas.openxmlformats.org/officeDocument/2006/relationships/image" Target="../media/image63.svg"/><Relationship Id="rId77" Type="http://schemas.openxmlformats.org/officeDocument/2006/relationships/image" Target="../media/image62.png"/><Relationship Id="rId76" Type="http://schemas.openxmlformats.org/officeDocument/2006/relationships/tags" Target="../tags/tag280.xml"/><Relationship Id="rId75" Type="http://schemas.openxmlformats.org/officeDocument/2006/relationships/tags" Target="../tags/tag279.xml"/><Relationship Id="rId74" Type="http://schemas.openxmlformats.org/officeDocument/2006/relationships/tags" Target="../tags/tag278.xml"/><Relationship Id="rId73" Type="http://schemas.openxmlformats.org/officeDocument/2006/relationships/image" Target="../media/image61.svg"/><Relationship Id="rId72" Type="http://schemas.openxmlformats.org/officeDocument/2006/relationships/image" Target="../media/image60.png"/><Relationship Id="rId71" Type="http://schemas.openxmlformats.org/officeDocument/2006/relationships/tags" Target="../tags/tag277.xml"/><Relationship Id="rId70" Type="http://schemas.openxmlformats.org/officeDocument/2006/relationships/tags" Target="../tags/tag276.xml"/><Relationship Id="rId7" Type="http://schemas.openxmlformats.org/officeDocument/2006/relationships/tags" Target="../tags/tag233.xml"/><Relationship Id="rId69" Type="http://schemas.openxmlformats.org/officeDocument/2006/relationships/tags" Target="../tags/tag275.xml"/><Relationship Id="rId68" Type="http://schemas.openxmlformats.org/officeDocument/2006/relationships/image" Target="../media/image59.svg"/><Relationship Id="rId67" Type="http://schemas.openxmlformats.org/officeDocument/2006/relationships/image" Target="../media/image58.png"/><Relationship Id="rId66" Type="http://schemas.openxmlformats.org/officeDocument/2006/relationships/tags" Target="../tags/tag274.xml"/><Relationship Id="rId65" Type="http://schemas.openxmlformats.org/officeDocument/2006/relationships/tags" Target="../tags/tag273.xml"/><Relationship Id="rId64" Type="http://schemas.openxmlformats.org/officeDocument/2006/relationships/tags" Target="../tags/tag272.xml"/><Relationship Id="rId63" Type="http://schemas.openxmlformats.org/officeDocument/2006/relationships/tags" Target="../tags/tag271.xml"/><Relationship Id="rId62" Type="http://schemas.openxmlformats.org/officeDocument/2006/relationships/tags" Target="../tags/tag270.xml"/><Relationship Id="rId61" Type="http://schemas.openxmlformats.org/officeDocument/2006/relationships/tags" Target="../tags/tag269.xml"/><Relationship Id="rId60" Type="http://schemas.openxmlformats.org/officeDocument/2006/relationships/tags" Target="../tags/tag268.xml"/><Relationship Id="rId6" Type="http://schemas.openxmlformats.org/officeDocument/2006/relationships/tags" Target="../tags/tag232.xml"/><Relationship Id="rId59" Type="http://schemas.openxmlformats.org/officeDocument/2006/relationships/tags" Target="../tags/tag267.xml"/><Relationship Id="rId58" Type="http://schemas.openxmlformats.org/officeDocument/2006/relationships/tags" Target="../tags/tag266.xml"/><Relationship Id="rId57" Type="http://schemas.openxmlformats.org/officeDocument/2006/relationships/image" Target="../media/image57.svg"/><Relationship Id="rId56" Type="http://schemas.openxmlformats.org/officeDocument/2006/relationships/image" Target="../media/image56.png"/><Relationship Id="rId55" Type="http://schemas.openxmlformats.org/officeDocument/2006/relationships/tags" Target="../tags/tag265.xml"/><Relationship Id="rId54" Type="http://schemas.openxmlformats.org/officeDocument/2006/relationships/tags" Target="../tags/tag264.xml"/><Relationship Id="rId53" Type="http://schemas.openxmlformats.org/officeDocument/2006/relationships/tags" Target="../tags/tag263.xml"/><Relationship Id="rId52" Type="http://schemas.openxmlformats.org/officeDocument/2006/relationships/image" Target="../media/image55.svg"/><Relationship Id="rId51" Type="http://schemas.openxmlformats.org/officeDocument/2006/relationships/image" Target="../media/image54.png"/><Relationship Id="rId50" Type="http://schemas.openxmlformats.org/officeDocument/2006/relationships/tags" Target="../tags/tag262.xml"/><Relationship Id="rId5" Type="http://schemas.openxmlformats.org/officeDocument/2006/relationships/tags" Target="../tags/tag231.xml"/><Relationship Id="rId49" Type="http://schemas.openxmlformats.org/officeDocument/2006/relationships/tags" Target="../tags/tag261.xml"/><Relationship Id="rId48" Type="http://schemas.openxmlformats.org/officeDocument/2006/relationships/tags" Target="../tags/tag260.xml"/><Relationship Id="rId47" Type="http://schemas.openxmlformats.org/officeDocument/2006/relationships/image" Target="../media/image53.svg"/><Relationship Id="rId46" Type="http://schemas.openxmlformats.org/officeDocument/2006/relationships/image" Target="../media/image52.png"/><Relationship Id="rId45" Type="http://schemas.openxmlformats.org/officeDocument/2006/relationships/tags" Target="../tags/tag259.xml"/><Relationship Id="rId44" Type="http://schemas.openxmlformats.org/officeDocument/2006/relationships/tags" Target="../tags/tag258.xml"/><Relationship Id="rId43" Type="http://schemas.openxmlformats.org/officeDocument/2006/relationships/tags" Target="../tags/tag257.xml"/><Relationship Id="rId42" Type="http://schemas.openxmlformats.org/officeDocument/2006/relationships/image" Target="../media/image39.svg"/><Relationship Id="rId41" Type="http://schemas.openxmlformats.org/officeDocument/2006/relationships/image" Target="../media/image51.png"/><Relationship Id="rId40" Type="http://schemas.openxmlformats.org/officeDocument/2006/relationships/tags" Target="../tags/tag256.xml"/><Relationship Id="rId4" Type="http://schemas.openxmlformats.org/officeDocument/2006/relationships/tags" Target="../tags/tag230.xml"/><Relationship Id="rId39" Type="http://schemas.openxmlformats.org/officeDocument/2006/relationships/tags" Target="../tags/tag255.xml"/><Relationship Id="rId38" Type="http://schemas.openxmlformats.org/officeDocument/2006/relationships/tags" Target="../tags/tag254.xml"/><Relationship Id="rId37" Type="http://schemas.openxmlformats.org/officeDocument/2006/relationships/tags" Target="../tags/tag253.xml"/><Relationship Id="rId36" Type="http://schemas.openxmlformats.org/officeDocument/2006/relationships/tags" Target="../tags/tag252.xml"/><Relationship Id="rId35" Type="http://schemas.openxmlformats.org/officeDocument/2006/relationships/tags" Target="../tags/tag251.xml"/><Relationship Id="rId34" Type="http://schemas.openxmlformats.org/officeDocument/2006/relationships/tags" Target="../tags/tag250.xml"/><Relationship Id="rId33" Type="http://schemas.openxmlformats.org/officeDocument/2006/relationships/tags" Target="../tags/tag249.xml"/><Relationship Id="rId32" Type="http://schemas.openxmlformats.org/officeDocument/2006/relationships/tags" Target="../tags/tag248.xml"/><Relationship Id="rId31" Type="http://schemas.openxmlformats.org/officeDocument/2006/relationships/image" Target="../media/image50.svg"/><Relationship Id="rId30" Type="http://schemas.openxmlformats.org/officeDocument/2006/relationships/image" Target="../media/image16.png"/><Relationship Id="rId3" Type="http://schemas.openxmlformats.org/officeDocument/2006/relationships/tags" Target="../tags/tag229.xml"/><Relationship Id="rId29" Type="http://schemas.openxmlformats.org/officeDocument/2006/relationships/tags" Target="../tags/tag247.xml"/><Relationship Id="rId28" Type="http://schemas.openxmlformats.org/officeDocument/2006/relationships/tags" Target="../tags/tag246.xml"/><Relationship Id="rId27" Type="http://schemas.openxmlformats.org/officeDocument/2006/relationships/tags" Target="../tags/tag245.xml"/><Relationship Id="rId26" Type="http://schemas.openxmlformats.org/officeDocument/2006/relationships/image" Target="../media/image49.svg"/><Relationship Id="rId25" Type="http://schemas.openxmlformats.org/officeDocument/2006/relationships/image" Target="../media/image48.png"/><Relationship Id="rId24" Type="http://schemas.openxmlformats.org/officeDocument/2006/relationships/tags" Target="../tags/tag244.xml"/><Relationship Id="rId23" Type="http://schemas.openxmlformats.org/officeDocument/2006/relationships/tags" Target="../tags/tag243.xml"/><Relationship Id="rId22" Type="http://schemas.openxmlformats.org/officeDocument/2006/relationships/tags" Target="../tags/tag242.xml"/><Relationship Id="rId21" Type="http://schemas.openxmlformats.org/officeDocument/2006/relationships/image" Target="../media/image47.svg"/><Relationship Id="rId20" Type="http://schemas.openxmlformats.org/officeDocument/2006/relationships/image" Target="../media/image46.png"/><Relationship Id="rId2" Type="http://schemas.openxmlformats.org/officeDocument/2006/relationships/tags" Target="../tags/tag228.xml"/><Relationship Id="rId19" Type="http://schemas.openxmlformats.org/officeDocument/2006/relationships/tags" Target="../tags/tag241.xml"/><Relationship Id="rId18" Type="http://schemas.openxmlformats.org/officeDocument/2006/relationships/tags" Target="../tags/tag240.xml"/><Relationship Id="rId17" Type="http://schemas.openxmlformats.org/officeDocument/2006/relationships/tags" Target="../tags/tag239.xml"/><Relationship Id="rId16" Type="http://schemas.openxmlformats.org/officeDocument/2006/relationships/image" Target="../media/image45.svg"/><Relationship Id="rId15" Type="http://schemas.openxmlformats.org/officeDocument/2006/relationships/image" Target="../media/image44.png"/><Relationship Id="rId14" Type="http://schemas.openxmlformats.org/officeDocument/2006/relationships/tags" Target="../tags/tag238.xml"/><Relationship Id="rId13" Type="http://schemas.openxmlformats.org/officeDocument/2006/relationships/tags" Target="../tags/tag237.xml"/><Relationship Id="rId12" Type="http://schemas.openxmlformats.org/officeDocument/2006/relationships/tags" Target="../tags/tag236.xml"/><Relationship Id="rId11" Type="http://schemas.openxmlformats.org/officeDocument/2006/relationships/image" Target="../media/image43.svg"/><Relationship Id="rId10" Type="http://schemas.openxmlformats.org/officeDocument/2006/relationships/image" Target="../media/image42.png"/><Relationship Id="rId1" Type="http://schemas.openxmlformats.org/officeDocument/2006/relationships/tags" Target="../tags/tag22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288.xml"/><Relationship Id="rId2" Type="http://schemas.openxmlformats.org/officeDocument/2006/relationships/tags" Target="../tags/tag287.xml"/><Relationship Id="rId1" Type="http://schemas.openxmlformats.org/officeDocument/2006/relationships/tags" Target="../tags/tag28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2D28"/>
                </a:solidFill>
              </a:rPr>
              <a:t>前三周做了什么</a:t>
            </a:r>
            <a:endParaRPr sz="3000" b="1">
              <a:solidFill>
                <a:srgbClr val="112D28"/>
              </a:solidFill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11039475" cy="996950"/>
          </a:xfrm>
          <a:custGeom>
            <a:avLst/>
            <a:gdLst>
              <a:gd name="sw" fmla="*/ 1 w 17385"/>
              <a:gd name="sh" fmla="*/ 1 h 1570"/>
              <a:gd name="mins" fmla="min sw sh"/>
              <a:gd name="dsw" fmla="+- 0 sw mins"/>
              <a:gd name="dsh" fmla="+- 0 sh mins"/>
              <a:gd name="p0x0" fmla="*/ 90 w 17385"/>
              <a:gd name="p0y0" fmla="*/ 0 h 1570"/>
              <a:gd name="p0x1" fmla="*/ 17295 w 17385"/>
              <a:gd name="p0y1" fmla="*/ 0 h 1570"/>
              <a:gd name="p0x2" fmla="*/ 17344 w 17385"/>
              <a:gd name="p0y2" fmla="*/ 0 h 1570"/>
              <a:gd name="p0x3" fmla="*/ 17385 w 17385"/>
              <a:gd name="p0y3" fmla="*/ 40 h 1570"/>
              <a:gd name="p0x4" fmla="*/ 17385 w 17385"/>
              <a:gd name="p0y4" fmla="*/ 90 h 1570"/>
              <a:gd name="p0x5" fmla="*/ 17385 w 17385"/>
              <a:gd name="p0y5" fmla="*/ 1480 h 1570"/>
              <a:gd name="p0x6" fmla="*/ 17385 w 17385"/>
              <a:gd name="p0y6" fmla="*/ 1530 h 1570"/>
              <a:gd name="p0x7" fmla="*/ 17344 w 17385"/>
              <a:gd name="p0y7" fmla="*/ 1570 h 1570"/>
              <a:gd name="p0x8" fmla="*/ 17295 w 17385"/>
              <a:gd name="p0y8" fmla="*/ 1570 h 1570"/>
              <a:gd name="p0x9" fmla="*/ 90 w 17385"/>
              <a:gd name="p0y9" fmla="*/ 1570 h 1570"/>
              <a:gd name="p0x10" fmla="*/ 40 w 17385"/>
              <a:gd name="p0y10" fmla="*/ 1570 h 1570"/>
              <a:gd name="p0x11" fmla="*/ 0 w 17385"/>
              <a:gd name="p0y11" fmla="*/ 1530 h 1570"/>
              <a:gd name="p0x12" fmla="*/ 0 w 17385"/>
              <a:gd name="p0y12" fmla="*/ 1480 h 1570"/>
              <a:gd name="p0x13" fmla="*/ 0 w 17385"/>
              <a:gd name="p0y13" fmla="*/ 90 h 1570"/>
              <a:gd name="p0x14" fmla="*/ 0 w 17385"/>
              <a:gd name="p0y14" fmla="*/ 40 h 1570"/>
              <a:gd name="p0x15" fmla="*/ 40 w 17385"/>
              <a:gd name="p0y15" fmla="*/ 0 h 1570"/>
              <a:gd name="p0x16" fmla="*/ 90 w 17385"/>
              <a:gd name="p0y16" fmla="*/ 0 h 157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9A7F5E"/>
          </a:solidFill>
          <a:ln w="9525" cmpd="sng">
            <a:solidFill>
              <a:srgbClr val="DBD4C9"/>
            </a:solidFill>
            <a:prstDash val="solid"/>
          </a:ln>
          <a:effectLst>
            <a:outerShdw blurRad="42863" dist="9525" dir="5399999" algn="ctr" rotWithShape="0">
              <a:srgbClr val="112D28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686820" y="1255890"/>
            <a:ext cx="866251" cy="7048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4200" b="1">
                <a:solidFill>
                  <a:srgbClr val="FFFFFF"/>
                </a:solidFill>
              </a:rPr>
              <a:t>8</a:t>
            </a:r>
            <a:endParaRPr sz="4200" b="1">
              <a:solidFill>
                <a:srgbClr val="FFFFFF"/>
              </a:solidFill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057771" y="1513065"/>
            <a:ext cx="10668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>
                <a:solidFill>
                  <a:srgbClr val="FFFFFF"/>
                </a:solidFill>
              </a:rPr>
              <a:t>家公司</a:t>
            </a:r>
            <a:endParaRPr sz="2100">
              <a:solidFill>
                <a:srgbClr val="FFFFFF"/>
              </a:solidFill>
            </a:endParaRPr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3009900" y="1417320"/>
            <a:ext cx="19050" cy="381000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3181721" y="1255890"/>
            <a:ext cx="3529013" cy="7048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4200" b="1">
                <a:solidFill>
                  <a:srgbClr val="FFFFFF"/>
                </a:solidFill>
              </a:rPr>
              <a:t>66+452+28</a:t>
            </a:r>
            <a:endParaRPr sz="4200" b="1">
              <a:solidFill>
                <a:srgbClr val="FFFFFF"/>
              </a:solidFill>
            </a:endParaRPr>
          </a:p>
        </p:txBody>
      </p:sp>
      <p:sp>
        <p:nvSpPr>
          <p:cNvPr id="9" name="矩形 8"/>
          <p:cNvSpPr/>
          <p:nvPr>
            <p:custDataLst>
              <p:tags r:id="rId7"/>
            </p:custDataLst>
          </p:nvPr>
        </p:nvSpPr>
        <p:spPr>
          <a:xfrm>
            <a:off x="6329680" y="1417320"/>
            <a:ext cx="19050" cy="381000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6501184" y="1432103"/>
            <a:ext cx="13335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>
                <a:solidFill>
                  <a:srgbClr val="FFFFFF"/>
                </a:solidFill>
              </a:rPr>
              <a:t>全部完成</a:t>
            </a:r>
            <a:endParaRPr sz="2100">
              <a:solidFill>
                <a:srgbClr val="FFFFFF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9"/>
            </p:custDataLst>
          </p:nvPr>
        </p:nvSpPr>
        <p:spPr>
          <a:xfrm>
            <a:off x="7720330" y="1417320"/>
            <a:ext cx="19050" cy="381000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7891834" y="1474965"/>
            <a:ext cx="1219124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2100">
                <a:solidFill>
                  <a:srgbClr val="FFFFFF"/>
                </a:solidFill>
                <a:cs typeface="微软雅黑" panose="020B0503020204020204" charset="-122"/>
              </a:rPr>
              <a:t>Excel</a:t>
            </a:r>
            <a:r>
              <a:rPr lang="zh-CN" sz="2100">
                <a:solidFill>
                  <a:srgbClr val="FFFFFF"/>
                </a:solidFill>
                <a:cs typeface="微软雅黑" panose="020B0503020204020204" charset="-122"/>
              </a:rPr>
              <a:t>含</a:t>
            </a:r>
            <a:endParaRPr lang="zh-CN" sz="2100">
              <a:solidFill>
                <a:srgbClr val="FFFFFF"/>
              </a:solidFill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8882358" y="1332090"/>
            <a:ext cx="1203722" cy="5524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3300" b="1">
                <a:solidFill>
                  <a:srgbClr val="FFFFFF"/>
                </a:solidFill>
              </a:rPr>
              <a:t>403</a:t>
            </a:r>
            <a:endParaRPr sz="3300" b="1">
              <a:solidFill>
                <a:srgbClr val="FFFFFF"/>
              </a:solidFill>
            </a:endParaRPr>
          </a:p>
        </p:txBody>
      </p:sp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9705080" y="1474965"/>
            <a:ext cx="10668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>
                <a:solidFill>
                  <a:srgbClr val="FFFFFF"/>
                </a:solidFill>
              </a:rPr>
              <a:t>条记录</a:t>
            </a:r>
            <a:endParaRPr sz="2100">
              <a:solidFill>
                <a:srgbClr val="FFFFFF"/>
              </a:solidFill>
            </a:endParaRPr>
          </a:p>
        </p:txBody>
      </p:sp>
      <p:sp>
        <p:nvSpPr>
          <p:cNvPr id="15" name="任意多边形 14"/>
          <p:cNvSpPr/>
          <p:nvPr>
            <p:custDataLst>
              <p:tags r:id="rId13"/>
            </p:custDataLst>
          </p:nvPr>
        </p:nvSpPr>
        <p:spPr>
          <a:xfrm>
            <a:off x="575945" y="2230120"/>
            <a:ext cx="5457825" cy="3006090"/>
          </a:xfrm>
          <a:custGeom>
            <a:avLst/>
            <a:gdLst>
              <a:gd name="sw" fmla="*/ 1 w 8595"/>
              <a:gd name="sh" fmla="*/ 1 h 4733"/>
              <a:gd name="mins" fmla="min sw sh"/>
              <a:gd name="dsw" fmla="+- 0 sw mins"/>
              <a:gd name="dsh" fmla="+- 0 sh mins"/>
              <a:gd name="p0x0" fmla="*/ 90 w 8595"/>
              <a:gd name="p0y0" fmla="*/ 0 h 4733"/>
              <a:gd name="p0x1" fmla="*/ 8505 w 8595"/>
              <a:gd name="p0y1" fmla="*/ 0 h 4733"/>
              <a:gd name="p0x2" fmla="*/ 8554 w 8595"/>
              <a:gd name="p0y2" fmla="*/ 0 h 4733"/>
              <a:gd name="p0x3" fmla="*/ 8595 w 8595"/>
              <a:gd name="p0y3" fmla="*/ 40 h 4733"/>
              <a:gd name="p0x4" fmla="*/ 8595 w 8595"/>
              <a:gd name="p0y4" fmla="*/ 90 h 4733"/>
              <a:gd name="p0x5" fmla="*/ 8595 w 8595"/>
              <a:gd name="p0y5" fmla="*/ 4643 h 4733"/>
              <a:gd name="p0x6" fmla="*/ 8595 w 8595"/>
              <a:gd name="p0y6" fmla="*/ 4693 h 4733"/>
              <a:gd name="p0x7" fmla="*/ 8554 w 8595"/>
              <a:gd name="p0y7" fmla="*/ 4733 h 4733"/>
              <a:gd name="p0x8" fmla="*/ 8505 w 8595"/>
              <a:gd name="p0y8" fmla="*/ 4733 h 4733"/>
              <a:gd name="p0x9" fmla="*/ 90 w 8595"/>
              <a:gd name="p0y9" fmla="*/ 4733 h 4733"/>
              <a:gd name="p0x10" fmla="*/ 40 w 8595"/>
              <a:gd name="p0y10" fmla="*/ 4733 h 4733"/>
              <a:gd name="p0x11" fmla="*/ 0 w 8595"/>
              <a:gd name="p0y11" fmla="*/ 4693 h 4733"/>
              <a:gd name="p0x12" fmla="*/ 0 w 8595"/>
              <a:gd name="p0y12" fmla="*/ 4643 h 4733"/>
              <a:gd name="p0x13" fmla="*/ 0 w 8595"/>
              <a:gd name="p0y13" fmla="*/ 90 h 4733"/>
              <a:gd name="p0x14" fmla="*/ 0 w 8595"/>
              <a:gd name="p0y14" fmla="*/ 40 h 4733"/>
              <a:gd name="p0x15" fmla="*/ 40 w 8595"/>
              <a:gd name="p0y15" fmla="*/ 0 h 4733"/>
              <a:gd name="p0x16" fmla="*/ 90 w 8595"/>
              <a:gd name="p0y16" fmla="*/ 0 h 473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8F5"/>
          </a:solidFill>
          <a:ln w="9525" cmpd="sng">
            <a:solidFill>
              <a:srgbClr val="DBD4C9"/>
            </a:solidFill>
            <a:prstDash val="solid"/>
          </a:ln>
          <a:effectLst>
            <a:outerShdw blurRad="42863" dist="9525" dir="5399999" algn="ctr" rotWithShape="0">
              <a:srgbClr val="112D28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4"/>
            </p:custDataLst>
          </p:nvPr>
        </p:nvSpPr>
        <p:spPr>
          <a:xfrm>
            <a:off x="2619299" y="2410730"/>
            <a:ext cx="13716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b="1">
                <a:solidFill>
                  <a:srgbClr val="112D28"/>
                </a:solidFill>
              </a:rPr>
              <a:t>七步流水线</a:t>
            </a:r>
            <a:endParaRPr b="1">
              <a:solidFill>
                <a:srgbClr val="112D28"/>
              </a:solidFill>
            </a:endParaRPr>
          </a:p>
        </p:txBody>
      </p:sp>
      <p:sp>
        <p:nvSpPr>
          <p:cNvPr id="17" name="任意多边形 16"/>
          <p:cNvSpPr/>
          <p:nvPr>
            <p:custDataLst>
              <p:tags r:id="rId15"/>
            </p:custDataLst>
          </p:nvPr>
        </p:nvSpPr>
        <p:spPr>
          <a:xfrm>
            <a:off x="804545" y="355219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80 w 540"/>
              <a:gd name="p0y0" fmla="*/ 0 h 540"/>
              <a:gd name="p0x1" fmla="*/ 360 w 540"/>
              <a:gd name="p0y1" fmla="*/ 0 h 540"/>
              <a:gd name="p0x2" fmla="*/ 459 w 540"/>
              <a:gd name="p0y2" fmla="*/ 0 h 540"/>
              <a:gd name="p0x3" fmla="*/ 540 w 540"/>
              <a:gd name="p0y3" fmla="*/ 80 h 540"/>
              <a:gd name="p0x4" fmla="*/ 540 w 540"/>
              <a:gd name="p0y4" fmla="*/ 180 h 540"/>
              <a:gd name="p0x5" fmla="*/ 540 w 540"/>
              <a:gd name="p0y5" fmla="*/ 360 h 540"/>
              <a:gd name="p0x6" fmla="*/ 540 w 540"/>
              <a:gd name="p0y6" fmla="*/ 459 h 540"/>
              <a:gd name="p0x7" fmla="*/ 459 w 540"/>
              <a:gd name="p0y7" fmla="*/ 540 h 540"/>
              <a:gd name="p0x8" fmla="*/ 360 w 540"/>
              <a:gd name="p0y8" fmla="*/ 540 h 540"/>
              <a:gd name="p0x9" fmla="*/ 180 w 540"/>
              <a:gd name="p0y9" fmla="*/ 540 h 540"/>
              <a:gd name="p0x10" fmla="*/ 80 w 540"/>
              <a:gd name="p0y10" fmla="*/ 540 h 540"/>
              <a:gd name="p0x11" fmla="*/ 0 w 540"/>
              <a:gd name="p0y11" fmla="*/ 459 h 540"/>
              <a:gd name="p0x12" fmla="*/ 0 w 540"/>
              <a:gd name="p0y12" fmla="*/ 360 h 540"/>
              <a:gd name="p0x13" fmla="*/ 0 w 540"/>
              <a:gd name="p0y13" fmla="*/ 180 h 540"/>
              <a:gd name="p0x14" fmla="*/ 0 w 540"/>
              <a:gd name="p0y14" fmla="*/ 80 h 540"/>
              <a:gd name="p0x15" fmla="*/ 80 w 540"/>
              <a:gd name="p0y15" fmla="*/ 0 h 540"/>
              <a:gd name="p0x16" fmla="*/ 18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EE5D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 l="-6818" t="-1061" r="-6818" b="-1061"/>
          <a:stretch>
            <a:fillRect/>
          </a:stretch>
        </p:blipFill>
        <p:spPr>
          <a:xfrm>
            <a:off x="857250" y="3614420"/>
            <a:ext cx="238125" cy="213995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19"/>
            </p:custDataLst>
          </p:nvPr>
        </p:nvSpPr>
        <p:spPr>
          <a:xfrm>
            <a:off x="782907" y="3925024"/>
            <a:ext cx="386801" cy="3981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200">
                <a:solidFill>
                  <a:srgbClr val="3A5652"/>
                </a:solidFill>
              </a:rPr>
              <a:t>PDF</a:t>
            </a:r>
            <a:endParaRPr sz="1200">
              <a:solidFill>
                <a:srgbClr val="3A5652"/>
              </a:solidFill>
            </a:endParaRPr>
          </a:p>
          <a:p>
            <a:pPr algn="ctr">
              <a:lnSpc>
                <a:spcPct val="104000"/>
              </a:lnSpc>
            </a:pPr>
            <a:r>
              <a:rPr sz="1200">
                <a:solidFill>
                  <a:srgbClr val="3A5652"/>
                </a:solidFill>
              </a:rPr>
              <a:t>下载</a:t>
            </a:r>
            <a:endParaRPr sz="1200">
              <a:solidFill>
                <a:srgbClr val="3A5652"/>
              </a:solidFill>
            </a:endParaRPr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-22083" t="-11556" r="-22083" b="-11556"/>
          <a:stretch>
            <a:fillRect/>
          </a:stretch>
        </p:blipFill>
        <p:spPr>
          <a:xfrm>
            <a:off x="1309370" y="3843020"/>
            <a:ext cx="109855" cy="175895"/>
          </a:xfrm>
          <a:prstGeom prst="rect">
            <a:avLst/>
          </a:prstGeom>
        </p:spPr>
      </p:pic>
      <p:sp>
        <p:nvSpPr>
          <p:cNvPr id="21" name="任意多边形 20"/>
          <p:cNvSpPr/>
          <p:nvPr>
            <p:custDataLst>
              <p:tags r:id="rId23"/>
            </p:custDataLst>
          </p:nvPr>
        </p:nvSpPr>
        <p:spPr>
          <a:xfrm>
            <a:off x="1581150" y="345694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80 w 540"/>
              <a:gd name="p0y0" fmla="*/ 0 h 540"/>
              <a:gd name="p0x1" fmla="*/ 360 w 540"/>
              <a:gd name="p0y1" fmla="*/ 0 h 540"/>
              <a:gd name="p0x2" fmla="*/ 459 w 540"/>
              <a:gd name="p0y2" fmla="*/ 0 h 540"/>
              <a:gd name="p0x3" fmla="*/ 540 w 540"/>
              <a:gd name="p0y3" fmla="*/ 80 h 540"/>
              <a:gd name="p0x4" fmla="*/ 540 w 540"/>
              <a:gd name="p0y4" fmla="*/ 180 h 540"/>
              <a:gd name="p0x5" fmla="*/ 540 w 540"/>
              <a:gd name="p0y5" fmla="*/ 360 h 540"/>
              <a:gd name="p0x6" fmla="*/ 540 w 540"/>
              <a:gd name="p0y6" fmla="*/ 459 h 540"/>
              <a:gd name="p0x7" fmla="*/ 459 w 540"/>
              <a:gd name="p0y7" fmla="*/ 540 h 540"/>
              <a:gd name="p0x8" fmla="*/ 360 w 540"/>
              <a:gd name="p0y8" fmla="*/ 540 h 540"/>
              <a:gd name="p0x9" fmla="*/ 180 w 540"/>
              <a:gd name="p0y9" fmla="*/ 540 h 540"/>
              <a:gd name="p0x10" fmla="*/ 80 w 540"/>
              <a:gd name="p0y10" fmla="*/ 540 h 540"/>
              <a:gd name="p0x11" fmla="*/ 0 w 540"/>
              <a:gd name="p0y11" fmla="*/ 459 h 540"/>
              <a:gd name="p0x12" fmla="*/ 0 w 540"/>
              <a:gd name="p0y12" fmla="*/ 360 h 540"/>
              <a:gd name="p0x13" fmla="*/ 0 w 540"/>
              <a:gd name="p0y13" fmla="*/ 180 h 540"/>
              <a:gd name="p0x14" fmla="*/ 0 w 540"/>
              <a:gd name="p0y14" fmla="*/ 80 h 540"/>
              <a:gd name="p0x15" fmla="*/ 80 w 540"/>
              <a:gd name="p0y15" fmla="*/ 0 h 540"/>
              <a:gd name="p0x16" fmla="*/ 18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EE5D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-1458" t="-3492" r="-1458" b="-3492"/>
          <a:stretch>
            <a:fillRect/>
          </a:stretch>
        </p:blipFill>
        <p:spPr>
          <a:xfrm>
            <a:off x="1673860" y="3519170"/>
            <a:ext cx="156845" cy="213995"/>
          </a:xfrm>
          <a:prstGeom prst="rect">
            <a:avLst/>
          </a:prstGeom>
        </p:spPr>
      </p:pic>
      <p:sp>
        <p:nvSpPr>
          <p:cNvPr id="23" name="文本框 22"/>
          <p:cNvSpPr txBox="1"/>
          <p:nvPr>
            <p:custDataLst>
              <p:tags r:id="rId27"/>
            </p:custDataLst>
          </p:nvPr>
        </p:nvSpPr>
        <p:spPr>
          <a:xfrm>
            <a:off x="1548927" y="3829774"/>
            <a:ext cx="407270" cy="58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200">
                <a:solidFill>
                  <a:srgbClr val="3A5652"/>
                </a:solidFill>
              </a:rPr>
              <a:t>MinerU</a:t>
            </a:r>
            <a:endParaRPr sz="1200">
              <a:solidFill>
                <a:srgbClr val="3A5652"/>
              </a:solidFill>
            </a:endParaRPr>
          </a:p>
          <a:p>
            <a:pPr algn="ctr">
              <a:lnSpc>
                <a:spcPct val="104000"/>
              </a:lnSpc>
            </a:pPr>
            <a:r>
              <a:rPr sz="1200">
                <a:solidFill>
                  <a:srgbClr val="3A5652"/>
                </a:solidFill>
              </a:rPr>
              <a:t>解析</a:t>
            </a:r>
            <a:endParaRPr sz="1200">
              <a:solidFill>
                <a:srgbClr val="3A5652"/>
              </a:solidFill>
            </a:endParaRPr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-21667" t="-11556" r="-21667" b="-11556"/>
          <a:stretch>
            <a:fillRect/>
          </a:stretch>
        </p:blipFill>
        <p:spPr>
          <a:xfrm>
            <a:off x="2085975" y="3843020"/>
            <a:ext cx="109220" cy="175895"/>
          </a:xfrm>
          <a:prstGeom prst="rect">
            <a:avLst/>
          </a:prstGeom>
        </p:spPr>
      </p:pic>
      <p:sp>
        <p:nvSpPr>
          <p:cNvPr id="25" name="任意多边形 24"/>
          <p:cNvSpPr/>
          <p:nvPr>
            <p:custDataLst>
              <p:tags r:id="rId29"/>
            </p:custDataLst>
          </p:nvPr>
        </p:nvSpPr>
        <p:spPr>
          <a:xfrm>
            <a:off x="2357120" y="345694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80 w 540"/>
              <a:gd name="p0y0" fmla="*/ 0 h 540"/>
              <a:gd name="p0x1" fmla="*/ 360 w 540"/>
              <a:gd name="p0y1" fmla="*/ 0 h 540"/>
              <a:gd name="p0x2" fmla="*/ 459 w 540"/>
              <a:gd name="p0y2" fmla="*/ 0 h 540"/>
              <a:gd name="p0x3" fmla="*/ 540 w 540"/>
              <a:gd name="p0y3" fmla="*/ 80 h 540"/>
              <a:gd name="p0x4" fmla="*/ 540 w 540"/>
              <a:gd name="p0y4" fmla="*/ 180 h 540"/>
              <a:gd name="p0x5" fmla="*/ 540 w 540"/>
              <a:gd name="p0y5" fmla="*/ 360 h 540"/>
              <a:gd name="p0x6" fmla="*/ 540 w 540"/>
              <a:gd name="p0y6" fmla="*/ 459 h 540"/>
              <a:gd name="p0x7" fmla="*/ 459 w 540"/>
              <a:gd name="p0y7" fmla="*/ 540 h 540"/>
              <a:gd name="p0x8" fmla="*/ 360 w 540"/>
              <a:gd name="p0y8" fmla="*/ 540 h 540"/>
              <a:gd name="p0x9" fmla="*/ 180 w 540"/>
              <a:gd name="p0y9" fmla="*/ 540 h 540"/>
              <a:gd name="p0x10" fmla="*/ 80 w 540"/>
              <a:gd name="p0y10" fmla="*/ 540 h 540"/>
              <a:gd name="p0x11" fmla="*/ 0 w 540"/>
              <a:gd name="p0y11" fmla="*/ 459 h 540"/>
              <a:gd name="p0x12" fmla="*/ 0 w 540"/>
              <a:gd name="p0y12" fmla="*/ 360 h 540"/>
              <a:gd name="p0x13" fmla="*/ 0 w 540"/>
              <a:gd name="p0y13" fmla="*/ 180 h 540"/>
              <a:gd name="p0x14" fmla="*/ 0 w 540"/>
              <a:gd name="p0y14" fmla="*/ 80 h 540"/>
              <a:gd name="p0x15" fmla="*/ 80 w 540"/>
              <a:gd name="p0y15" fmla="*/ 0 h 540"/>
              <a:gd name="p0x16" fmla="*/ 18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EE5D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 l="-2381" t="-16078" r="-2381" b="-16078"/>
          <a:stretch>
            <a:fillRect/>
          </a:stretch>
        </p:blipFill>
        <p:spPr>
          <a:xfrm>
            <a:off x="2423795" y="3519170"/>
            <a:ext cx="209550" cy="213995"/>
          </a:xfrm>
          <a:prstGeom prst="rect">
            <a:avLst/>
          </a:prstGeom>
        </p:spPr>
      </p:pic>
      <p:sp>
        <p:nvSpPr>
          <p:cNvPr id="27" name="文本框 26"/>
          <p:cNvSpPr txBox="1"/>
          <p:nvPr>
            <p:custDataLst>
              <p:tags r:id="rId33"/>
            </p:custDataLst>
          </p:nvPr>
        </p:nvSpPr>
        <p:spPr>
          <a:xfrm>
            <a:off x="2333035" y="3829774"/>
            <a:ext cx="391716" cy="58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200">
                <a:solidFill>
                  <a:srgbClr val="3A5652"/>
                </a:solidFill>
              </a:rPr>
              <a:t>TOC</a:t>
            </a:r>
            <a:endParaRPr sz="1200">
              <a:solidFill>
                <a:srgbClr val="3A5652"/>
              </a:solidFill>
            </a:endParaRPr>
          </a:p>
          <a:p>
            <a:pPr algn="ctr">
              <a:lnSpc>
                <a:spcPct val="104000"/>
              </a:lnSpc>
            </a:pPr>
            <a:r>
              <a:rPr sz="1200">
                <a:solidFill>
                  <a:srgbClr val="3A5652"/>
                </a:solidFill>
              </a:rPr>
              <a:t>目录定位</a:t>
            </a:r>
            <a:endParaRPr sz="1200">
              <a:solidFill>
                <a:srgbClr val="3A5652"/>
              </a:solidFill>
            </a:endParaRPr>
          </a:p>
        </p:txBody>
      </p:sp>
      <p:pic>
        <p:nvPicPr>
          <p:cNvPr id="28" name="图片 27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-22083" t="-11556" r="-22083" b="-11556"/>
          <a:stretch>
            <a:fillRect/>
          </a:stretch>
        </p:blipFill>
        <p:spPr>
          <a:xfrm>
            <a:off x="2861945" y="3843020"/>
            <a:ext cx="109855" cy="175895"/>
          </a:xfrm>
          <a:prstGeom prst="rect">
            <a:avLst/>
          </a:prstGeom>
        </p:spPr>
      </p:pic>
      <p:sp>
        <p:nvSpPr>
          <p:cNvPr id="29" name="任意多边形 28"/>
          <p:cNvSpPr/>
          <p:nvPr>
            <p:custDataLst>
              <p:tags r:id="rId35"/>
            </p:custDataLst>
          </p:nvPr>
        </p:nvSpPr>
        <p:spPr>
          <a:xfrm>
            <a:off x="3133725" y="355219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80 w 540"/>
              <a:gd name="p0y0" fmla="*/ 0 h 540"/>
              <a:gd name="p0x1" fmla="*/ 360 w 540"/>
              <a:gd name="p0y1" fmla="*/ 0 h 540"/>
              <a:gd name="p0x2" fmla="*/ 459 w 540"/>
              <a:gd name="p0y2" fmla="*/ 0 h 540"/>
              <a:gd name="p0x3" fmla="*/ 540 w 540"/>
              <a:gd name="p0y3" fmla="*/ 80 h 540"/>
              <a:gd name="p0x4" fmla="*/ 540 w 540"/>
              <a:gd name="p0y4" fmla="*/ 180 h 540"/>
              <a:gd name="p0x5" fmla="*/ 540 w 540"/>
              <a:gd name="p0y5" fmla="*/ 360 h 540"/>
              <a:gd name="p0x6" fmla="*/ 540 w 540"/>
              <a:gd name="p0y6" fmla="*/ 459 h 540"/>
              <a:gd name="p0x7" fmla="*/ 459 w 540"/>
              <a:gd name="p0y7" fmla="*/ 540 h 540"/>
              <a:gd name="p0x8" fmla="*/ 360 w 540"/>
              <a:gd name="p0y8" fmla="*/ 540 h 540"/>
              <a:gd name="p0x9" fmla="*/ 180 w 540"/>
              <a:gd name="p0y9" fmla="*/ 540 h 540"/>
              <a:gd name="p0x10" fmla="*/ 80 w 540"/>
              <a:gd name="p0y10" fmla="*/ 540 h 540"/>
              <a:gd name="p0x11" fmla="*/ 0 w 540"/>
              <a:gd name="p0y11" fmla="*/ 459 h 540"/>
              <a:gd name="p0x12" fmla="*/ 0 w 540"/>
              <a:gd name="p0y12" fmla="*/ 360 h 540"/>
              <a:gd name="p0x13" fmla="*/ 0 w 540"/>
              <a:gd name="p0y13" fmla="*/ 180 h 540"/>
              <a:gd name="p0x14" fmla="*/ 0 w 540"/>
              <a:gd name="p0y14" fmla="*/ 80 h 540"/>
              <a:gd name="p0x15" fmla="*/ 80 w 540"/>
              <a:gd name="p0y15" fmla="*/ 0 h 540"/>
              <a:gd name="p0x16" fmla="*/ 18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EE5D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 l="-2381" t="-3492" r="-2381" b="-3492"/>
          <a:stretch>
            <a:fillRect/>
          </a:stretch>
        </p:blipFill>
        <p:spPr>
          <a:xfrm>
            <a:off x="3200400" y="3614420"/>
            <a:ext cx="209550" cy="213995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39"/>
            </p:custDataLst>
          </p:nvPr>
        </p:nvSpPr>
        <p:spPr>
          <a:xfrm>
            <a:off x="3114599" y="3925024"/>
            <a:ext cx="381076" cy="3981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200">
                <a:solidFill>
                  <a:srgbClr val="3A5652"/>
                </a:solidFill>
              </a:rPr>
              <a:t>章节</a:t>
            </a:r>
            <a:endParaRPr sz="1200">
              <a:solidFill>
                <a:srgbClr val="3A5652"/>
              </a:solidFill>
            </a:endParaRPr>
          </a:p>
          <a:p>
            <a:pPr algn="ctr">
              <a:lnSpc>
                <a:spcPct val="104000"/>
              </a:lnSpc>
            </a:pPr>
            <a:r>
              <a:rPr sz="1200">
                <a:solidFill>
                  <a:srgbClr val="3A5652"/>
                </a:solidFill>
              </a:rPr>
              <a:t>提取</a:t>
            </a:r>
            <a:endParaRPr sz="1200">
              <a:solidFill>
                <a:srgbClr val="3A5652"/>
              </a:solidFill>
            </a:endParaRPr>
          </a:p>
        </p:txBody>
      </p:sp>
      <p:pic>
        <p:nvPicPr>
          <p:cNvPr id="32" name="图片 31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-21667" t="-11556" r="-21667" b="-11556"/>
          <a:stretch>
            <a:fillRect/>
          </a:stretch>
        </p:blipFill>
        <p:spPr>
          <a:xfrm>
            <a:off x="3638550" y="3843020"/>
            <a:ext cx="109220" cy="175895"/>
          </a:xfrm>
          <a:prstGeom prst="rect">
            <a:avLst/>
          </a:prstGeom>
        </p:spPr>
      </p:pic>
      <p:sp>
        <p:nvSpPr>
          <p:cNvPr id="33" name="任意多边形 32"/>
          <p:cNvSpPr/>
          <p:nvPr>
            <p:custDataLst>
              <p:tags r:id="rId41"/>
            </p:custDataLst>
          </p:nvPr>
        </p:nvSpPr>
        <p:spPr>
          <a:xfrm>
            <a:off x="3909695" y="355219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80 w 540"/>
              <a:gd name="p0y0" fmla="*/ 0 h 540"/>
              <a:gd name="p0x1" fmla="*/ 360 w 540"/>
              <a:gd name="p0y1" fmla="*/ 0 h 540"/>
              <a:gd name="p0x2" fmla="*/ 459 w 540"/>
              <a:gd name="p0y2" fmla="*/ 0 h 540"/>
              <a:gd name="p0x3" fmla="*/ 540 w 540"/>
              <a:gd name="p0y3" fmla="*/ 80 h 540"/>
              <a:gd name="p0x4" fmla="*/ 540 w 540"/>
              <a:gd name="p0y4" fmla="*/ 180 h 540"/>
              <a:gd name="p0x5" fmla="*/ 540 w 540"/>
              <a:gd name="p0y5" fmla="*/ 360 h 540"/>
              <a:gd name="p0x6" fmla="*/ 540 w 540"/>
              <a:gd name="p0y6" fmla="*/ 459 h 540"/>
              <a:gd name="p0x7" fmla="*/ 459 w 540"/>
              <a:gd name="p0y7" fmla="*/ 540 h 540"/>
              <a:gd name="p0x8" fmla="*/ 360 w 540"/>
              <a:gd name="p0y8" fmla="*/ 540 h 540"/>
              <a:gd name="p0x9" fmla="*/ 180 w 540"/>
              <a:gd name="p0y9" fmla="*/ 540 h 540"/>
              <a:gd name="p0x10" fmla="*/ 80 w 540"/>
              <a:gd name="p0y10" fmla="*/ 540 h 540"/>
              <a:gd name="p0x11" fmla="*/ 0 w 540"/>
              <a:gd name="p0y11" fmla="*/ 459 h 540"/>
              <a:gd name="p0x12" fmla="*/ 0 w 540"/>
              <a:gd name="p0y12" fmla="*/ 360 h 540"/>
              <a:gd name="p0x13" fmla="*/ 0 w 540"/>
              <a:gd name="p0y13" fmla="*/ 180 h 540"/>
              <a:gd name="p0x14" fmla="*/ 0 w 540"/>
              <a:gd name="p0y14" fmla="*/ 80 h 540"/>
              <a:gd name="p0x15" fmla="*/ 80 w 540"/>
              <a:gd name="p0y15" fmla="*/ 0 h 540"/>
              <a:gd name="p0x16" fmla="*/ 18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EE5D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4" name="图片 33"/>
          <p:cNvPicPr>
            <a:picLocks noChangeAspect="1"/>
          </p:cNvPicPr>
          <p:nvPr>
            <p:custDataLst>
              <p:tags r:id="rId42"/>
            </p:custDataLst>
          </p:nvPr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 l="-2381" t="-3492" r="-2381" b="-3492"/>
          <a:stretch>
            <a:fillRect/>
          </a:stretch>
        </p:blipFill>
        <p:spPr>
          <a:xfrm>
            <a:off x="3976370" y="3614420"/>
            <a:ext cx="209550" cy="213995"/>
          </a:xfrm>
          <a:prstGeom prst="rect">
            <a:avLst/>
          </a:prstGeom>
        </p:spPr>
      </p:pic>
      <p:sp>
        <p:nvSpPr>
          <p:cNvPr id="35" name="文本框 34"/>
          <p:cNvSpPr txBox="1"/>
          <p:nvPr>
            <p:custDataLst>
              <p:tags r:id="rId45"/>
            </p:custDataLst>
          </p:nvPr>
        </p:nvSpPr>
        <p:spPr>
          <a:xfrm>
            <a:off x="3890886" y="3925024"/>
            <a:ext cx="381076" cy="3981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200">
                <a:solidFill>
                  <a:srgbClr val="3A5652"/>
                </a:solidFill>
              </a:rPr>
              <a:t>密度</a:t>
            </a:r>
            <a:endParaRPr sz="1200">
              <a:solidFill>
                <a:srgbClr val="3A5652"/>
              </a:solidFill>
            </a:endParaRPr>
          </a:p>
          <a:p>
            <a:pPr algn="ctr">
              <a:lnSpc>
                <a:spcPct val="104000"/>
              </a:lnSpc>
            </a:pPr>
            <a:r>
              <a:rPr sz="1200">
                <a:solidFill>
                  <a:srgbClr val="3A5652"/>
                </a:solidFill>
              </a:rPr>
              <a:t>评分</a:t>
            </a:r>
            <a:endParaRPr sz="1200">
              <a:solidFill>
                <a:srgbClr val="3A5652"/>
              </a:solidFill>
            </a:endParaRPr>
          </a:p>
        </p:txBody>
      </p:sp>
      <p:pic>
        <p:nvPicPr>
          <p:cNvPr id="36" name="图片 35"/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-22083" t="-11556" r="-22083" b="-11556"/>
          <a:stretch>
            <a:fillRect/>
          </a:stretch>
        </p:blipFill>
        <p:spPr>
          <a:xfrm>
            <a:off x="4414520" y="3843020"/>
            <a:ext cx="109855" cy="175895"/>
          </a:xfrm>
          <a:prstGeom prst="rect">
            <a:avLst/>
          </a:prstGeom>
        </p:spPr>
      </p:pic>
      <p:sp>
        <p:nvSpPr>
          <p:cNvPr id="37" name="任意多边形 36"/>
          <p:cNvSpPr/>
          <p:nvPr>
            <p:custDataLst>
              <p:tags r:id="rId47"/>
            </p:custDataLst>
          </p:nvPr>
        </p:nvSpPr>
        <p:spPr>
          <a:xfrm>
            <a:off x="4686300" y="345694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80 w 540"/>
              <a:gd name="p0y0" fmla="*/ 0 h 540"/>
              <a:gd name="p0x1" fmla="*/ 360 w 540"/>
              <a:gd name="p0y1" fmla="*/ 0 h 540"/>
              <a:gd name="p0x2" fmla="*/ 459 w 540"/>
              <a:gd name="p0y2" fmla="*/ 0 h 540"/>
              <a:gd name="p0x3" fmla="*/ 540 w 540"/>
              <a:gd name="p0y3" fmla="*/ 80 h 540"/>
              <a:gd name="p0x4" fmla="*/ 540 w 540"/>
              <a:gd name="p0y4" fmla="*/ 180 h 540"/>
              <a:gd name="p0x5" fmla="*/ 540 w 540"/>
              <a:gd name="p0y5" fmla="*/ 360 h 540"/>
              <a:gd name="p0x6" fmla="*/ 540 w 540"/>
              <a:gd name="p0y6" fmla="*/ 459 h 540"/>
              <a:gd name="p0x7" fmla="*/ 459 w 540"/>
              <a:gd name="p0y7" fmla="*/ 540 h 540"/>
              <a:gd name="p0x8" fmla="*/ 360 w 540"/>
              <a:gd name="p0y8" fmla="*/ 540 h 540"/>
              <a:gd name="p0x9" fmla="*/ 180 w 540"/>
              <a:gd name="p0y9" fmla="*/ 540 h 540"/>
              <a:gd name="p0x10" fmla="*/ 80 w 540"/>
              <a:gd name="p0y10" fmla="*/ 540 h 540"/>
              <a:gd name="p0x11" fmla="*/ 0 w 540"/>
              <a:gd name="p0y11" fmla="*/ 459 h 540"/>
              <a:gd name="p0x12" fmla="*/ 0 w 540"/>
              <a:gd name="p0y12" fmla="*/ 360 h 540"/>
              <a:gd name="p0x13" fmla="*/ 0 w 540"/>
              <a:gd name="p0y13" fmla="*/ 180 h 540"/>
              <a:gd name="p0x14" fmla="*/ 0 w 540"/>
              <a:gd name="p0y14" fmla="*/ 80 h 540"/>
              <a:gd name="p0x15" fmla="*/ 80 w 540"/>
              <a:gd name="p0y15" fmla="*/ 0 h 540"/>
              <a:gd name="p0x16" fmla="*/ 18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EE5D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8" name="图片 37"/>
          <p:cNvPicPr>
            <a:picLocks noChangeAspect="1"/>
          </p:cNvPicPr>
          <p:nvPr>
            <p:custDataLst>
              <p:tags r:id="rId48"/>
            </p:custDataLst>
          </p:nvPr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 l="-5000" t="-3492" r="-5000" b="-3492"/>
          <a:stretch>
            <a:fillRect/>
          </a:stretch>
        </p:blipFill>
        <p:spPr>
          <a:xfrm>
            <a:off x="4752975" y="3519170"/>
            <a:ext cx="209550" cy="213995"/>
          </a:xfrm>
          <a:prstGeom prst="rect">
            <a:avLst/>
          </a:prstGeom>
        </p:spPr>
      </p:pic>
      <p:sp>
        <p:nvSpPr>
          <p:cNvPr id="39" name="文本框 38"/>
          <p:cNvSpPr txBox="1"/>
          <p:nvPr>
            <p:custDataLst>
              <p:tags r:id="rId51"/>
            </p:custDataLst>
          </p:nvPr>
        </p:nvSpPr>
        <p:spPr>
          <a:xfrm>
            <a:off x="4637889" y="3829774"/>
            <a:ext cx="439722" cy="58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200">
                <a:solidFill>
                  <a:srgbClr val="3A5652"/>
                </a:solidFill>
              </a:rPr>
              <a:t>Deepseek</a:t>
            </a:r>
            <a:endParaRPr sz="1200">
              <a:solidFill>
                <a:srgbClr val="3A5652"/>
              </a:solidFill>
            </a:endParaRPr>
          </a:p>
          <a:p>
            <a:pPr algn="ctr">
              <a:lnSpc>
                <a:spcPct val="104000"/>
              </a:lnSpc>
            </a:pPr>
            <a:r>
              <a:rPr sz="1200">
                <a:solidFill>
                  <a:srgbClr val="3A5652"/>
                </a:solidFill>
              </a:rPr>
              <a:t>AI</a:t>
            </a:r>
            <a:endParaRPr sz="1200">
              <a:solidFill>
                <a:srgbClr val="3A5652"/>
              </a:solidFill>
            </a:endParaRPr>
          </a:p>
        </p:txBody>
      </p:sp>
      <p:pic>
        <p:nvPicPr>
          <p:cNvPr id="40" name="图片 39"/>
          <p:cNvPicPr>
            <a:picLocks noChangeAspect="1"/>
          </p:cNvPicPr>
          <p:nvPr>
            <p:custDataLst>
              <p:tags r:id="rId52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-21667" t="-11556" r="-21667" b="-11556"/>
          <a:stretch>
            <a:fillRect/>
          </a:stretch>
        </p:blipFill>
        <p:spPr>
          <a:xfrm>
            <a:off x="5191125" y="3843020"/>
            <a:ext cx="109220" cy="175895"/>
          </a:xfrm>
          <a:prstGeom prst="rect">
            <a:avLst/>
          </a:prstGeom>
        </p:spPr>
      </p:pic>
      <p:sp>
        <p:nvSpPr>
          <p:cNvPr id="41" name="任意多边形 40"/>
          <p:cNvSpPr/>
          <p:nvPr>
            <p:custDataLst>
              <p:tags r:id="rId53"/>
            </p:custDataLst>
          </p:nvPr>
        </p:nvSpPr>
        <p:spPr>
          <a:xfrm>
            <a:off x="5462270" y="364744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80 w 540"/>
              <a:gd name="p0y0" fmla="*/ 0 h 540"/>
              <a:gd name="p0x1" fmla="*/ 360 w 540"/>
              <a:gd name="p0y1" fmla="*/ 0 h 540"/>
              <a:gd name="p0x2" fmla="*/ 459 w 540"/>
              <a:gd name="p0y2" fmla="*/ 0 h 540"/>
              <a:gd name="p0x3" fmla="*/ 540 w 540"/>
              <a:gd name="p0y3" fmla="*/ 80 h 540"/>
              <a:gd name="p0x4" fmla="*/ 540 w 540"/>
              <a:gd name="p0y4" fmla="*/ 180 h 540"/>
              <a:gd name="p0x5" fmla="*/ 540 w 540"/>
              <a:gd name="p0y5" fmla="*/ 360 h 540"/>
              <a:gd name="p0x6" fmla="*/ 540 w 540"/>
              <a:gd name="p0y6" fmla="*/ 459 h 540"/>
              <a:gd name="p0x7" fmla="*/ 459 w 540"/>
              <a:gd name="p0y7" fmla="*/ 540 h 540"/>
              <a:gd name="p0x8" fmla="*/ 360 w 540"/>
              <a:gd name="p0y8" fmla="*/ 540 h 540"/>
              <a:gd name="p0x9" fmla="*/ 180 w 540"/>
              <a:gd name="p0y9" fmla="*/ 540 h 540"/>
              <a:gd name="p0x10" fmla="*/ 80 w 540"/>
              <a:gd name="p0y10" fmla="*/ 540 h 540"/>
              <a:gd name="p0x11" fmla="*/ 0 w 540"/>
              <a:gd name="p0y11" fmla="*/ 459 h 540"/>
              <a:gd name="p0x12" fmla="*/ 0 w 540"/>
              <a:gd name="p0y12" fmla="*/ 360 h 540"/>
              <a:gd name="p0x13" fmla="*/ 0 w 540"/>
              <a:gd name="p0y13" fmla="*/ 180 h 540"/>
              <a:gd name="p0x14" fmla="*/ 0 w 540"/>
              <a:gd name="p0y14" fmla="*/ 80 h 540"/>
              <a:gd name="p0x15" fmla="*/ 80 w 540"/>
              <a:gd name="p0y15" fmla="*/ 0 h 540"/>
              <a:gd name="p0x16" fmla="*/ 18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EE5D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2" name="图片 41"/>
          <p:cNvPicPr>
            <a:picLocks noChangeAspect="1"/>
          </p:cNvPicPr>
          <p:nvPr>
            <p:custDataLst>
              <p:tags r:id="rId54"/>
            </p:custDataLst>
          </p:nvPr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 l="-5111" t="-9123" r="-5111" b="-9123"/>
          <a:stretch>
            <a:fillRect/>
          </a:stretch>
        </p:blipFill>
        <p:spPr>
          <a:xfrm>
            <a:off x="5554980" y="3709670"/>
            <a:ext cx="157480" cy="213995"/>
          </a:xfrm>
          <a:prstGeom prst="rect">
            <a:avLst/>
          </a:prstGeom>
        </p:spPr>
      </p:pic>
      <p:sp>
        <p:nvSpPr>
          <p:cNvPr id="43" name="文本框 42"/>
          <p:cNvSpPr txBox="1"/>
          <p:nvPr>
            <p:custDataLst>
              <p:tags r:id="rId57"/>
            </p:custDataLst>
          </p:nvPr>
        </p:nvSpPr>
        <p:spPr>
          <a:xfrm>
            <a:off x="5405361" y="4020274"/>
            <a:ext cx="457276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200">
                <a:solidFill>
                  <a:srgbClr val="3A5652"/>
                </a:solidFill>
              </a:rPr>
              <a:t>校验</a:t>
            </a:r>
            <a:endParaRPr sz="1200">
              <a:solidFill>
                <a:srgbClr val="3A5652"/>
              </a:solidFill>
            </a:endParaRPr>
          </a:p>
        </p:txBody>
      </p:sp>
      <p:sp>
        <p:nvSpPr>
          <p:cNvPr id="44" name="任意多边形 43"/>
          <p:cNvSpPr/>
          <p:nvPr>
            <p:custDataLst>
              <p:tags r:id="rId58"/>
            </p:custDataLst>
          </p:nvPr>
        </p:nvSpPr>
        <p:spPr>
          <a:xfrm>
            <a:off x="6157595" y="2230120"/>
            <a:ext cx="5457825" cy="3006090"/>
          </a:xfrm>
          <a:custGeom>
            <a:avLst/>
            <a:gdLst>
              <a:gd name="sw" fmla="*/ 1 w 8595"/>
              <a:gd name="sh" fmla="*/ 1 h 4733"/>
              <a:gd name="mins" fmla="min sw sh"/>
              <a:gd name="dsw" fmla="+- 0 sw mins"/>
              <a:gd name="dsh" fmla="+- 0 sh mins"/>
              <a:gd name="p0x0" fmla="*/ 90 w 8595"/>
              <a:gd name="p0y0" fmla="*/ 0 h 4733"/>
              <a:gd name="p0x1" fmla="*/ 8505 w 8595"/>
              <a:gd name="p0y1" fmla="*/ 0 h 4733"/>
              <a:gd name="p0x2" fmla="*/ 8554 w 8595"/>
              <a:gd name="p0y2" fmla="*/ 0 h 4733"/>
              <a:gd name="p0x3" fmla="*/ 8595 w 8595"/>
              <a:gd name="p0y3" fmla="*/ 40 h 4733"/>
              <a:gd name="p0x4" fmla="*/ 8595 w 8595"/>
              <a:gd name="p0y4" fmla="*/ 90 h 4733"/>
              <a:gd name="p0x5" fmla="*/ 8595 w 8595"/>
              <a:gd name="p0y5" fmla="*/ 4643 h 4733"/>
              <a:gd name="p0x6" fmla="*/ 8595 w 8595"/>
              <a:gd name="p0y6" fmla="*/ 4693 h 4733"/>
              <a:gd name="p0x7" fmla="*/ 8554 w 8595"/>
              <a:gd name="p0y7" fmla="*/ 4733 h 4733"/>
              <a:gd name="p0x8" fmla="*/ 8505 w 8595"/>
              <a:gd name="p0y8" fmla="*/ 4733 h 4733"/>
              <a:gd name="p0x9" fmla="*/ 90 w 8595"/>
              <a:gd name="p0y9" fmla="*/ 4733 h 4733"/>
              <a:gd name="p0x10" fmla="*/ 40 w 8595"/>
              <a:gd name="p0y10" fmla="*/ 4733 h 4733"/>
              <a:gd name="p0x11" fmla="*/ 0 w 8595"/>
              <a:gd name="p0y11" fmla="*/ 4693 h 4733"/>
              <a:gd name="p0x12" fmla="*/ 0 w 8595"/>
              <a:gd name="p0y12" fmla="*/ 4643 h 4733"/>
              <a:gd name="p0x13" fmla="*/ 0 w 8595"/>
              <a:gd name="p0y13" fmla="*/ 90 h 4733"/>
              <a:gd name="p0x14" fmla="*/ 0 w 8595"/>
              <a:gd name="p0y14" fmla="*/ 40 h 4733"/>
              <a:gd name="p0x15" fmla="*/ 40 w 8595"/>
              <a:gd name="p0y15" fmla="*/ 0 h 4733"/>
              <a:gd name="p0x16" fmla="*/ 90 w 8595"/>
              <a:gd name="p0y16" fmla="*/ 0 h 473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8F5"/>
          </a:solidFill>
          <a:ln w="9525" cmpd="sng">
            <a:solidFill>
              <a:srgbClr val="DBD4C9"/>
            </a:solidFill>
            <a:prstDash val="solid"/>
          </a:ln>
          <a:effectLst>
            <a:outerShdw blurRad="42863" dist="9525" dir="5399999" algn="ctr" rotWithShape="0">
              <a:srgbClr val="112D28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>
            <p:custDataLst>
              <p:tags r:id="rId59"/>
            </p:custDataLst>
          </p:nvPr>
        </p:nvSpPr>
        <p:spPr>
          <a:xfrm>
            <a:off x="6353175" y="2410730"/>
            <a:ext cx="506730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112D28"/>
                </a:solidFill>
              </a:rPr>
              <a:t>三个核心坑</a:t>
            </a:r>
            <a:endParaRPr b="1">
              <a:solidFill>
                <a:srgbClr val="112D28"/>
              </a:solidFill>
            </a:endParaRPr>
          </a:p>
        </p:txBody>
      </p:sp>
      <p:sp>
        <p:nvSpPr>
          <p:cNvPr id="46" name="任意多边形 45"/>
          <p:cNvSpPr/>
          <p:nvPr>
            <p:custDataLst>
              <p:tags r:id="rId60"/>
            </p:custDataLst>
          </p:nvPr>
        </p:nvSpPr>
        <p:spPr>
          <a:xfrm>
            <a:off x="6353175" y="282575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80 w 420"/>
              <a:gd name="p0y0" fmla="*/ 0 h 420"/>
              <a:gd name="p0x1" fmla="*/ 240 w 420"/>
              <a:gd name="p0y1" fmla="*/ 0 h 420"/>
              <a:gd name="p0x2" fmla="*/ 339 w 420"/>
              <a:gd name="p0y2" fmla="*/ 0 h 420"/>
              <a:gd name="p0x3" fmla="*/ 420 w 420"/>
              <a:gd name="p0y3" fmla="*/ 80 h 420"/>
              <a:gd name="p0x4" fmla="*/ 420 w 420"/>
              <a:gd name="p0y4" fmla="*/ 180 h 420"/>
              <a:gd name="p0x5" fmla="*/ 420 w 420"/>
              <a:gd name="p0y5" fmla="*/ 240 h 420"/>
              <a:gd name="p0x6" fmla="*/ 420 w 420"/>
              <a:gd name="p0y6" fmla="*/ 339 h 420"/>
              <a:gd name="p0x7" fmla="*/ 339 w 420"/>
              <a:gd name="p0y7" fmla="*/ 420 h 420"/>
              <a:gd name="p0x8" fmla="*/ 240 w 420"/>
              <a:gd name="p0y8" fmla="*/ 420 h 420"/>
              <a:gd name="p0x9" fmla="*/ 180 w 420"/>
              <a:gd name="p0y9" fmla="*/ 420 h 420"/>
              <a:gd name="p0x10" fmla="*/ 80 w 420"/>
              <a:gd name="p0y10" fmla="*/ 420 h 420"/>
              <a:gd name="p0x11" fmla="*/ 0 w 420"/>
              <a:gd name="p0y11" fmla="*/ 339 h 420"/>
              <a:gd name="p0x12" fmla="*/ 0 w 420"/>
              <a:gd name="p0y12" fmla="*/ 240 h 420"/>
              <a:gd name="p0x13" fmla="*/ 0 w 420"/>
              <a:gd name="p0y13" fmla="*/ 180 h 420"/>
              <a:gd name="p0x14" fmla="*/ 0 w 420"/>
              <a:gd name="p0y14" fmla="*/ 80 h 420"/>
              <a:gd name="p0x15" fmla="*/ 80 w 420"/>
              <a:gd name="p0y15" fmla="*/ 0 h 420"/>
              <a:gd name="p0x16" fmla="*/ 18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EE5D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7" name="图片 46"/>
          <p:cNvPicPr>
            <a:picLocks noChangeAspect="1"/>
          </p:cNvPicPr>
          <p:nvPr>
            <p:custDataLst>
              <p:tags r:id="rId61"/>
            </p:custDataLst>
          </p:nvPr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rcRect t="-3333" b="-3333"/>
          <a:stretch>
            <a:fillRect/>
          </a:stretch>
        </p:blipFill>
        <p:spPr>
          <a:xfrm>
            <a:off x="6410325" y="2882900"/>
            <a:ext cx="152400" cy="152400"/>
          </a:xfrm>
          <a:prstGeom prst="rect">
            <a:avLst/>
          </a:prstGeom>
        </p:spPr>
      </p:pic>
      <p:sp>
        <p:nvSpPr>
          <p:cNvPr id="48" name="文本框 47"/>
          <p:cNvSpPr txBox="1"/>
          <p:nvPr>
            <p:custDataLst>
              <p:tags r:id="rId64"/>
            </p:custDataLst>
          </p:nvPr>
        </p:nvSpPr>
        <p:spPr>
          <a:xfrm>
            <a:off x="6734175" y="2811732"/>
            <a:ext cx="46863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500" b="1">
                <a:solidFill>
                  <a:srgbClr val="112D28"/>
                </a:solidFill>
                <a:cs typeface="微软雅黑" panose="020B0503020204020204" charset="-122"/>
              </a:rPr>
              <a:t>坑</a:t>
            </a:r>
            <a:r>
              <a:rPr lang="en-US" altLang="zh-CN" sz="1500" b="1">
                <a:solidFill>
                  <a:srgbClr val="112D28"/>
                </a:solidFill>
                <a:cs typeface="微软雅黑" panose="020B0503020204020204" charset="-122"/>
              </a:rPr>
              <a:t>1</a:t>
            </a:r>
            <a:r>
              <a:rPr lang="zh-CN" altLang="en-US" sz="1500" b="1">
                <a:solidFill>
                  <a:srgbClr val="112D28"/>
                </a:solidFill>
                <a:cs typeface="微软雅黑" panose="020B0503020204020204" charset="-122"/>
              </a:rPr>
              <a:t>：</a:t>
            </a:r>
            <a:r>
              <a:rPr lang="en-US" altLang="zh-CN" sz="1500" b="1">
                <a:solidFill>
                  <a:srgbClr val="112D28"/>
                </a:solidFill>
                <a:cs typeface="微软雅黑" panose="020B0503020204020204" charset="-122"/>
              </a:rPr>
              <a:t>MinerU</a:t>
            </a:r>
            <a:r>
              <a:rPr lang="zh-CN" altLang="en-US" sz="1500" b="1">
                <a:solidFill>
                  <a:srgbClr val="112D28"/>
                </a:solidFill>
                <a:cs typeface="微软雅黑" panose="020B0503020204020204" charset="-122"/>
              </a:rPr>
              <a:t>解析遗漏附件内容</a:t>
            </a:r>
            <a:endParaRPr lang="zh-CN" altLang="en-US" sz="1500" b="1">
              <a:solidFill>
                <a:srgbClr val="112D28"/>
              </a:solidFill>
              <a:cs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>
            <p:custDataLst>
              <p:tags r:id="rId65"/>
            </p:custDataLst>
          </p:nvPr>
        </p:nvSpPr>
        <p:spPr>
          <a:xfrm>
            <a:off x="6734175" y="3087005"/>
            <a:ext cx="4686300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3A5652"/>
                </a:solidFill>
                <a:cs typeface="微软雅黑" panose="020B0503020204020204" charset="-122"/>
              </a:rPr>
              <a:t>最初仅上传主</a:t>
            </a:r>
            <a:r>
              <a:rPr lang="en-US" altLang="zh-CN" sz="1350">
                <a:solidFill>
                  <a:srgbClr val="3A5652"/>
                </a:solidFill>
                <a:cs typeface="微软雅黑" panose="020B0503020204020204" charset="-122"/>
              </a:rPr>
              <a:t>PDF</a:t>
            </a:r>
            <a:r>
              <a:rPr lang="zh-CN" altLang="en-US" sz="1350">
                <a:solidFill>
                  <a:srgbClr val="3A5652"/>
                </a:solidFill>
                <a:cs typeface="微软雅黑" panose="020B0503020204020204" charset="-122"/>
              </a:rPr>
              <a:t>，</a:t>
            </a:r>
            <a:r>
              <a:rPr lang="en-US" altLang="zh-CN" sz="1350">
                <a:solidFill>
                  <a:srgbClr val="3A5652"/>
                </a:solidFill>
                <a:cs typeface="微软雅黑" panose="020B0503020204020204" charset="-122"/>
              </a:rPr>
              <a:t>AI</a:t>
            </a:r>
            <a:r>
              <a:rPr lang="zh-CN" altLang="en-US" sz="1350">
                <a:solidFill>
                  <a:srgbClr val="3A5652"/>
                </a:solidFill>
                <a:cs typeface="微软雅黑" panose="020B0503020204020204" charset="-122"/>
              </a:rPr>
              <a:t>仅提取</a:t>
            </a:r>
            <a:r>
              <a:rPr lang="en-US" altLang="zh-CN" sz="1350">
                <a:solidFill>
                  <a:srgbClr val="3A5652"/>
                </a:solidFill>
                <a:cs typeface="微软雅黑" panose="020B0503020204020204" charset="-122"/>
              </a:rPr>
              <a:t>1</a:t>
            </a:r>
            <a:r>
              <a:rPr lang="zh-CN" altLang="en-US" sz="1350">
                <a:solidFill>
                  <a:srgbClr val="3A5652"/>
                </a:solidFill>
                <a:cs typeface="微软雅黑" panose="020B0503020204020204" charset="-122"/>
              </a:rPr>
              <a:t>条认缴记录；上传附件后从</a:t>
            </a:r>
            <a:r>
              <a:rPr lang="en-US" altLang="zh-CN" sz="1350">
                <a:solidFill>
                  <a:srgbClr val="3A5652"/>
                </a:solidFill>
                <a:cs typeface="微软雅黑" panose="020B0503020204020204" charset="-122"/>
              </a:rPr>
              <a:t>1</a:t>
            </a:r>
            <a:r>
              <a:rPr lang="zh-CN" altLang="en-US" sz="1350">
                <a:solidFill>
                  <a:srgbClr val="3A5652"/>
                </a:solidFill>
                <a:cs typeface="微软雅黑" panose="020B0503020204020204" charset="-122"/>
              </a:rPr>
              <a:t>条增至</a:t>
            </a:r>
            <a:r>
              <a:rPr lang="en-US" altLang="zh-CN" sz="1350">
                <a:solidFill>
                  <a:srgbClr val="3A5652"/>
                </a:solidFill>
                <a:cs typeface="微软雅黑" panose="020B0503020204020204" charset="-122"/>
              </a:rPr>
              <a:t>12</a:t>
            </a:r>
            <a:r>
              <a:rPr lang="zh-CN" altLang="en-US" sz="1350">
                <a:solidFill>
                  <a:srgbClr val="3A5652"/>
                </a:solidFill>
                <a:cs typeface="微软雅黑" panose="020B0503020204020204" charset="-122"/>
              </a:rPr>
              <a:t>条，存量从</a:t>
            </a:r>
            <a:r>
              <a:rPr lang="en-US" altLang="zh-CN" sz="1350">
                <a:solidFill>
                  <a:srgbClr val="3A5652"/>
                </a:solidFill>
                <a:cs typeface="微软雅黑" panose="020B0503020204020204" charset="-122"/>
              </a:rPr>
              <a:t>4</a:t>
            </a:r>
            <a:r>
              <a:rPr lang="zh-CN" altLang="en-US" sz="1350">
                <a:solidFill>
                  <a:srgbClr val="3A5652"/>
                </a:solidFill>
                <a:cs typeface="微软雅黑" panose="020B0503020204020204" charset="-122"/>
              </a:rPr>
              <a:t>条增至</a:t>
            </a:r>
            <a:r>
              <a:rPr lang="en-US" altLang="zh-CN" sz="1350">
                <a:solidFill>
                  <a:srgbClr val="3A5652"/>
                </a:solidFill>
                <a:cs typeface="微软雅黑" panose="020B0503020204020204" charset="-122"/>
              </a:rPr>
              <a:t>28</a:t>
            </a:r>
            <a:r>
              <a:rPr lang="zh-CN" altLang="en-US" sz="1350">
                <a:solidFill>
                  <a:srgbClr val="3A5652"/>
                </a:solidFill>
                <a:cs typeface="微软雅黑" panose="020B0503020204020204" charset="-122"/>
              </a:rPr>
              <a:t>条</a:t>
            </a:r>
            <a:endParaRPr lang="zh-CN" altLang="en-US" sz="1350">
              <a:solidFill>
                <a:srgbClr val="3A5652"/>
              </a:solidFill>
              <a:cs typeface="微软雅黑" panose="020B0503020204020204" charset="-122"/>
            </a:endParaRPr>
          </a:p>
        </p:txBody>
      </p:sp>
      <p:sp>
        <p:nvSpPr>
          <p:cNvPr id="50" name="任意多边形 49"/>
          <p:cNvSpPr/>
          <p:nvPr>
            <p:custDataLst>
              <p:tags r:id="rId66"/>
            </p:custDataLst>
          </p:nvPr>
        </p:nvSpPr>
        <p:spPr>
          <a:xfrm>
            <a:off x="6353175" y="360235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80 w 420"/>
              <a:gd name="p0y0" fmla="*/ 0 h 420"/>
              <a:gd name="p0x1" fmla="*/ 240 w 420"/>
              <a:gd name="p0y1" fmla="*/ 0 h 420"/>
              <a:gd name="p0x2" fmla="*/ 339 w 420"/>
              <a:gd name="p0y2" fmla="*/ 0 h 420"/>
              <a:gd name="p0x3" fmla="*/ 420 w 420"/>
              <a:gd name="p0y3" fmla="*/ 80 h 420"/>
              <a:gd name="p0x4" fmla="*/ 420 w 420"/>
              <a:gd name="p0y4" fmla="*/ 180 h 420"/>
              <a:gd name="p0x5" fmla="*/ 420 w 420"/>
              <a:gd name="p0y5" fmla="*/ 240 h 420"/>
              <a:gd name="p0x6" fmla="*/ 420 w 420"/>
              <a:gd name="p0y6" fmla="*/ 339 h 420"/>
              <a:gd name="p0x7" fmla="*/ 339 w 420"/>
              <a:gd name="p0y7" fmla="*/ 420 h 420"/>
              <a:gd name="p0x8" fmla="*/ 240 w 420"/>
              <a:gd name="p0y8" fmla="*/ 420 h 420"/>
              <a:gd name="p0x9" fmla="*/ 180 w 420"/>
              <a:gd name="p0y9" fmla="*/ 420 h 420"/>
              <a:gd name="p0x10" fmla="*/ 80 w 420"/>
              <a:gd name="p0y10" fmla="*/ 420 h 420"/>
              <a:gd name="p0x11" fmla="*/ 0 w 420"/>
              <a:gd name="p0y11" fmla="*/ 339 h 420"/>
              <a:gd name="p0x12" fmla="*/ 0 w 420"/>
              <a:gd name="p0y12" fmla="*/ 240 h 420"/>
              <a:gd name="p0x13" fmla="*/ 0 w 420"/>
              <a:gd name="p0y13" fmla="*/ 180 h 420"/>
              <a:gd name="p0x14" fmla="*/ 0 w 420"/>
              <a:gd name="p0y14" fmla="*/ 80 h 420"/>
              <a:gd name="p0x15" fmla="*/ 80 w 420"/>
              <a:gd name="p0y15" fmla="*/ 0 h 420"/>
              <a:gd name="p0x16" fmla="*/ 18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EE5D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1" name="图片 50"/>
          <p:cNvPicPr>
            <a:picLocks noChangeAspect="1"/>
          </p:cNvPicPr>
          <p:nvPr>
            <p:custDataLst>
              <p:tags r:id="rId67"/>
            </p:custDataLst>
          </p:nvPr>
        </p:nvPicPr>
        <p:blipFill>
          <a:blip r:embed="rId68"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rcRect t="-7143" b="-7143"/>
          <a:stretch>
            <a:fillRect/>
          </a:stretch>
        </p:blipFill>
        <p:spPr>
          <a:xfrm>
            <a:off x="6419850" y="3659505"/>
            <a:ext cx="133350" cy="152400"/>
          </a:xfrm>
          <a:prstGeom prst="rect">
            <a:avLst/>
          </a:prstGeom>
        </p:spPr>
      </p:pic>
      <p:sp>
        <p:nvSpPr>
          <p:cNvPr id="52" name="文本框 51"/>
          <p:cNvSpPr txBox="1"/>
          <p:nvPr>
            <p:custDataLst>
              <p:tags r:id="rId70"/>
            </p:custDataLst>
          </p:nvPr>
        </p:nvSpPr>
        <p:spPr>
          <a:xfrm>
            <a:off x="6734175" y="3588239"/>
            <a:ext cx="46863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500" b="1">
                <a:solidFill>
                  <a:srgbClr val="112D28"/>
                </a:solidFill>
                <a:cs typeface="微软雅黑" panose="020B0503020204020204" charset="-122"/>
              </a:rPr>
              <a:t>坑</a:t>
            </a:r>
            <a:r>
              <a:rPr lang="en-US" altLang="zh-CN" sz="1500" b="1">
                <a:solidFill>
                  <a:srgbClr val="112D28"/>
                </a:solidFill>
                <a:cs typeface="微软雅黑" panose="020B0503020204020204" charset="-122"/>
              </a:rPr>
              <a:t>2</a:t>
            </a:r>
            <a:r>
              <a:rPr lang="zh-CN" altLang="en-US" sz="1500" b="1">
                <a:solidFill>
                  <a:srgbClr val="112D28"/>
                </a:solidFill>
                <a:cs typeface="微软雅黑" panose="020B0503020204020204" charset="-122"/>
              </a:rPr>
              <a:t>：</a:t>
            </a:r>
            <a:r>
              <a:rPr lang="en-US" altLang="zh-CN" sz="1500" b="1">
                <a:solidFill>
                  <a:srgbClr val="112D28"/>
                </a:solidFill>
                <a:cs typeface="微软雅黑" panose="020B0503020204020204" charset="-122"/>
              </a:rPr>
              <a:t>PDF</a:t>
            </a:r>
            <a:r>
              <a:rPr lang="zh-CN" altLang="en-US" sz="1500" b="1">
                <a:solidFill>
                  <a:srgbClr val="112D28"/>
                </a:solidFill>
                <a:cs typeface="微软雅黑" panose="020B0503020204020204" charset="-122"/>
              </a:rPr>
              <a:t>表格展平导致数据丢失</a:t>
            </a:r>
            <a:endParaRPr lang="zh-CN" altLang="en-US" sz="1500" b="1">
              <a:solidFill>
                <a:srgbClr val="112D28"/>
              </a:solidFill>
              <a:cs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>
            <p:custDataLst>
              <p:tags r:id="rId71"/>
            </p:custDataLst>
          </p:nvPr>
        </p:nvSpPr>
        <p:spPr>
          <a:xfrm>
            <a:off x="6734175" y="3863511"/>
            <a:ext cx="4686300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350">
                <a:solidFill>
                  <a:srgbClr val="3A5652"/>
                </a:solidFill>
                <a:cs typeface="微软雅黑" panose="020B0503020204020204" charset="-122"/>
              </a:rPr>
              <a:t>MinerU</a:t>
            </a:r>
            <a:r>
              <a:rPr lang="zh-CN" altLang="en-US" sz="1350">
                <a:solidFill>
                  <a:srgbClr val="3A5652"/>
                </a:solidFill>
                <a:cs typeface="微软雅黑" panose="020B0503020204020204" charset="-122"/>
              </a:rPr>
              <a:t>转纯文本后行列结构消失，赛分科技从</a:t>
            </a:r>
            <a:r>
              <a:rPr lang="en-US" altLang="zh-CN" sz="1350">
                <a:solidFill>
                  <a:srgbClr val="3A5652"/>
                </a:solidFill>
                <a:cs typeface="微软雅黑" panose="020B0503020204020204" charset="-122"/>
              </a:rPr>
              <a:t>14</a:t>
            </a:r>
            <a:r>
              <a:rPr lang="zh-CN" altLang="en-US" sz="1350">
                <a:solidFill>
                  <a:srgbClr val="3A5652"/>
                </a:solidFill>
                <a:cs typeface="微软雅黑" panose="020B0503020204020204" charset="-122"/>
              </a:rPr>
              <a:t>条增至</a:t>
            </a:r>
            <a:r>
              <a:rPr lang="en-US" altLang="zh-CN" sz="1350">
                <a:solidFill>
                  <a:srgbClr val="3A5652"/>
                </a:solidFill>
                <a:cs typeface="微软雅黑" panose="020B0503020204020204" charset="-122"/>
              </a:rPr>
              <a:t>184</a:t>
            </a:r>
            <a:r>
              <a:rPr lang="zh-CN" altLang="en-US" sz="1350">
                <a:solidFill>
                  <a:srgbClr val="3A5652"/>
                </a:solidFill>
                <a:cs typeface="微软雅黑" panose="020B0503020204020204" charset="-122"/>
              </a:rPr>
              <a:t>条，影石创新从</a:t>
            </a:r>
            <a:r>
              <a:rPr lang="en-US" altLang="zh-CN" sz="1350">
                <a:solidFill>
                  <a:srgbClr val="3A5652"/>
                </a:solidFill>
                <a:cs typeface="微软雅黑" panose="020B0503020204020204" charset="-122"/>
              </a:rPr>
              <a:t>2</a:t>
            </a:r>
            <a:r>
              <a:rPr lang="zh-CN" altLang="en-US" sz="1350">
                <a:solidFill>
                  <a:srgbClr val="3A5652"/>
                </a:solidFill>
                <a:cs typeface="微软雅黑" panose="020B0503020204020204" charset="-122"/>
              </a:rPr>
              <a:t>条增至</a:t>
            </a:r>
            <a:r>
              <a:rPr lang="en-US" altLang="zh-CN" sz="1350">
                <a:solidFill>
                  <a:srgbClr val="3A5652"/>
                </a:solidFill>
                <a:cs typeface="微软雅黑" panose="020B0503020204020204" charset="-122"/>
              </a:rPr>
              <a:t>65</a:t>
            </a:r>
            <a:r>
              <a:rPr lang="zh-CN" altLang="en-US" sz="1350">
                <a:solidFill>
                  <a:srgbClr val="3A5652"/>
                </a:solidFill>
                <a:cs typeface="微软雅黑" panose="020B0503020204020204" charset="-122"/>
              </a:rPr>
              <a:t>条</a:t>
            </a:r>
            <a:endParaRPr lang="zh-CN" altLang="en-US" sz="1350">
              <a:solidFill>
                <a:srgbClr val="3A5652"/>
              </a:solidFill>
              <a:cs typeface="微软雅黑" panose="020B0503020204020204" charset="-122"/>
            </a:endParaRPr>
          </a:p>
        </p:txBody>
      </p:sp>
      <p:sp>
        <p:nvSpPr>
          <p:cNvPr id="54" name="任意多边形 53"/>
          <p:cNvSpPr/>
          <p:nvPr>
            <p:custDataLst>
              <p:tags r:id="rId72"/>
            </p:custDataLst>
          </p:nvPr>
        </p:nvSpPr>
        <p:spPr>
          <a:xfrm>
            <a:off x="6353175" y="437896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80 w 420"/>
              <a:gd name="p0y0" fmla="*/ 0 h 420"/>
              <a:gd name="p0x1" fmla="*/ 240 w 420"/>
              <a:gd name="p0y1" fmla="*/ 0 h 420"/>
              <a:gd name="p0x2" fmla="*/ 339 w 420"/>
              <a:gd name="p0y2" fmla="*/ 0 h 420"/>
              <a:gd name="p0x3" fmla="*/ 420 w 420"/>
              <a:gd name="p0y3" fmla="*/ 80 h 420"/>
              <a:gd name="p0x4" fmla="*/ 420 w 420"/>
              <a:gd name="p0y4" fmla="*/ 180 h 420"/>
              <a:gd name="p0x5" fmla="*/ 420 w 420"/>
              <a:gd name="p0y5" fmla="*/ 240 h 420"/>
              <a:gd name="p0x6" fmla="*/ 420 w 420"/>
              <a:gd name="p0y6" fmla="*/ 339 h 420"/>
              <a:gd name="p0x7" fmla="*/ 339 w 420"/>
              <a:gd name="p0y7" fmla="*/ 420 h 420"/>
              <a:gd name="p0x8" fmla="*/ 240 w 420"/>
              <a:gd name="p0y8" fmla="*/ 420 h 420"/>
              <a:gd name="p0x9" fmla="*/ 180 w 420"/>
              <a:gd name="p0y9" fmla="*/ 420 h 420"/>
              <a:gd name="p0x10" fmla="*/ 80 w 420"/>
              <a:gd name="p0y10" fmla="*/ 420 h 420"/>
              <a:gd name="p0x11" fmla="*/ 0 w 420"/>
              <a:gd name="p0y11" fmla="*/ 339 h 420"/>
              <a:gd name="p0x12" fmla="*/ 0 w 420"/>
              <a:gd name="p0y12" fmla="*/ 240 h 420"/>
              <a:gd name="p0x13" fmla="*/ 0 w 420"/>
              <a:gd name="p0y13" fmla="*/ 180 h 420"/>
              <a:gd name="p0x14" fmla="*/ 0 w 420"/>
              <a:gd name="p0y14" fmla="*/ 80 h 420"/>
              <a:gd name="p0x15" fmla="*/ 80 w 420"/>
              <a:gd name="p0y15" fmla="*/ 0 h 420"/>
              <a:gd name="p0x16" fmla="*/ 18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EE5D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5" name="图片 54"/>
          <p:cNvPicPr>
            <a:picLocks noChangeAspect="1"/>
          </p:cNvPicPr>
          <p:nvPr>
            <p:custDataLst>
              <p:tags r:id="rId73"/>
            </p:custDataLst>
          </p:nvPr>
        </p:nvPicPr>
        <p:blipFill>
          <a:blip r:embed="rId74">
            <a:extLst>
              <a:ext uri="{96DAC541-7B7A-43D3-8B79-37D633B846F1}">
                <asvg:svgBlip xmlns:asvg="http://schemas.microsoft.com/office/drawing/2016/SVG/main" r:embed="rId75"/>
              </a:ext>
            </a:extLst>
          </a:blip>
          <a:srcRect l="-2632" r="-2632"/>
          <a:stretch>
            <a:fillRect/>
          </a:stretch>
        </p:blipFill>
        <p:spPr>
          <a:xfrm>
            <a:off x="6391275" y="4436110"/>
            <a:ext cx="190500" cy="152400"/>
          </a:xfrm>
          <a:prstGeom prst="rect">
            <a:avLst/>
          </a:prstGeom>
        </p:spPr>
      </p:pic>
      <p:sp>
        <p:nvSpPr>
          <p:cNvPr id="56" name="文本框 55"/>
          <p:cNvSpPr txBox="1"/>
          <p:nvPr>
            <p:custDataLst>
              <p:tags r:id="rId76"/>
            </p:custDataLst>
          </p:nvPr>
        </p:nvSpPr>
        <p:spPr>
          <a:xfrm>
            <a:off x="6734175" y="4364755"/>
            <a:ext cx="46863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500" b="1">
                <a:solidFill>
                  <a:srgbClr val="112D28"/>
                </a:solidFill>
                <a:cs typeface="微软雅黑" panose="020B0503020204020204" charset="-122"/>
              </a:rPr>
              <a:t>坑</a:t>
            </a:r>
            <a:r>
              <a:rPr lang="en-US" altLang="zh-CN" sz="1500" b="1">
                <a:solidFill>
                  <a:srgbClr val="112D28"/>
                </a:solidFill>
                <a:cs typeface="微软雅黑" panose="020B0503020204020204" charset="-122"/>
              </a:rPr>
              <a:t>3</a:t>
            </a:r>
            <a:r>
              <a:rPr lang="zh-CN" altLang="en-US" sz="1500" b="1">
                <a:solidFill>
                  <a:srgbClr val="112D28"/>
                </a:solidFill>
                <a:cs typeface="微软雅黑" panose="020B0503020204020204" charset="-122"/>
              </a:rPr>
              <a:t>：不同公司披露口径存在差异</a:t>
            </a:r>
            <a:endParaRPr lang="zh-CN" altLang="en-US" sz="1500" b="1">
              <a:solidFill>
                <a:srgbClr val="112D28"/>
              </a:solidFill>
              <a:cs typeface="微软雅黑" panose="020B0503020204020204" charset="-122"/>
            </a:endParaRPr>
          </a:p>
        </p:txBody>
      </p:sp>
      <p:sp>
        <p:nvSpPr>
          <p:cNvPr id="57" name="文本框 56"/>
          <p:cNvSpPr txBox="1"/>
          <p:nvPr>
            <p:custDataLst>
              <p:tags r:id="rId77"/>
            </p:custDataLst>
          </p:nvPr>
        </p:nvSpPr>
        <p:spPr>
          <a:xfrm>
            <a:off x="6734175" y="4640028"/>
            <a:ext cx="4686300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652"/>
                </a:solidFill>
              </a:rPr>
              <a:t>三协电机定向发行未拆分各自认购额；黄山谷捷股权转让采用出资额转让表述</a:t>
            </a:r>
            <a:endParaRPr sz="1350">
              <a:solidFill>
                <a:srgbClr val="3A5652"/>
              </a:solidFill>
            </a:endParaRPr>
          </a:p>
        </p:txBody>
      </p:sp>
      <p:sp>
        <p:nvSpPr>
          <p:cNvPr id="58" name="任意多边形 57"/>
          <p:cNvSpPr/>
          <p:nvPr>
            <p:custDataLst>
              <p:tags r:id="rId78"/>
            </p:custDataLst>
          </p:nvPr>
        </p:nvSpPr>
        <p:spPr>
          <a:xfrm>
            <a:off x="575945" y="5360035"/>
            <a:ext cx="11039475" cy="1111885"/>
          </a:xfrm>
          <a:custGeom>
            <a:avLst/>
            <a:gdLst>
              <a:gd name="sw" fmla="*/ 1 w 17385"/>
              <a:gd name="sh" fmla="*/ 1 h 1751"/>
              <a:gd name="mins" fmla="min sw sh"/>
              <a:gd name="dsw" fmla="+- 0 sw mins"/>
              <a:gd name="dsh" fmla="+- 0 sh mins"/>
              <a:gd name="p0x0" fmla="*/ 90 w 17385"/>
              <a:gd name="p0y0" fmla="*/ 0 h 1751"/>
              <a:gd name="p0x1" fmla="*/ 17295 w 17385"/>
              <a:gd name="p0y1" fmla="*/ 0 h 1751"/>
              <a:gd name="p0x2" fmla="*/ 17344 w 17385"/>
              <a:gd name="p0y2" fmla="*/ 0 h 1751"/>
              <a:gd name="p0x3" fmla="*/ 17385 w 17385"/>
              <a:gd name="p0y3" fmla="*/ 40 h 1751"/>
              <a:gd name="p0x4" fmla="*/ 17385 w 17385"/>
              <a:gd name="p0y4" fmla="*/ 90 h 1751"/>
              <a:gd name="p0x5" fmla="*/ 17385 w 17385"/>
              <a:gd name="p0y5" fmla="*/ 1661 h 1751"/>
              <a:gd name="p0x6" fmla="*/ 17385 w 17385"/>
              <a:gd name="p0y6" fmla="*/ 1710 h 1751"/>
              <a:gd name="p0x7" fmla="*/ 17344 w 17385"/>
              <a:gd name="p0y7" fmla="*/ 1751 h 1751"/>
              <a:gd name="p0x8" fmla="*/ 17295 w 17385"/>
              <a:gd name="p0y8" fmla="*/ 1751 h 1751"/>
              <a:gd name="p0x9" fmla="*/ 90 w 17385"/>
              <a:gd name="p0y9" fmla="*/ 1751 h 1751"/>
              <a:gd name="p0x10" fmla="*/ 40 w 17385"/>
              <a:gd name="p0y10" fmla="*/ 1751 h 1751"/>
              <a:gd name="p0x11" fmla="*/ 0 w 17385"/>
              <a:gd name="p0y11" fmla="*/ 1710 h 1751"/>
              <a:gd name="p0x12" fmla="*/ 0 w 17385"/>
              <a:gd name="p0y12" fmla="*/ 1661 h 1751"/>
              <a:gd name="p0x13" fmla="*/ 0 w 17385"/>
              <a:gd name="p0y13" fmla="*/ 90 h 1751"/>
              <a:gd name="p0x14" fmla="*/ 0 w 17385"/>
              <a:gd name="p0y14" fmla="*/ 40 h 1751"/>
              <a:gd name="p0x15" fmla="*/ 40 w 17385"/>
              <a:gd name="p0y15" fmla="*/ 0 h 1751"/>
              <a:gd name="p0x16" fmla="*/ 90 w 17385"/>
              <a:gd name="p0y16" fmla="*/ 0 h 175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8F5"/>
          </a:solidFill>
          <a:ln w="9525" cmpd="sng">
            <a:solidFill>
              <a:srgbClr val="DBD4C9"/>
            </a:solidFill>
            <a:prstDash val="solid"/>
          </a:ln>
          <a:effectLst>
            <a:outerShdw blurRad="42863" dist="9525" dir="5399999" algn="ctr" rotWithShape="0">
              <a:srgbClr val="112D28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任意多边形 58"/>
          <p:cNvSpPr/>
          <p:nvPr>
            <p:custDataLst>
              <p:tags r:id="rId79"/>
            </p:custDataLst>
          </p:nvPr>
        </p:nvSpPr>
        <p:spPr>
          <a:xfrm>
            <a:off x="771525" y="55213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80 w 660"/>
              <a:gd name="p0y0" fmla="*/ 0 h 660"/>
              <a:gd name="p0x1" fmla="*/ 480 w 660"/>
              <a:gd name="p0y1" fmla="*/ 0 h 660"/>
              <a:gd name="p0x2" fmla="*/ 579 w 660"/>
              <a:gd name="p0y2" fmla="*/ 0 h 660"/>
              <a:gd name="p0x3" fmla="*/ 660 w 660"/>
              <a:gd name="p0y3" fmla="*/ 80 h 660"/>
              <a:gd name="p0x4" fmla="*/ 660 w 660"/>
              <a:gd name="p0y4" fmla="*/ 180 h 660"/>
              <a:gd name="p0x5" fmla="*/ 660 w 660"/>
              <a:gd name="p0y5" fmla="*/ 480 h 660"/>
              <a:gd name="p0x6" fmla="*/ 660 w 660"/>
              <a:gd name="p0y6" fmla="*/ 579 h 660"/>
              <a:gd name="p0x7" fmla="*/ 579 w 660"/>
              <a:gd name="p0y7" fmla="*/ 660 h 660"/>
              <a:gd name="p0x8" fmla="*/ 480 w 660"/>
              <a:gd name="p0y8" fmla="*/ 660 h 660"/>
              <a:gd name="p0x9" fmla="*/ 180 w 660"/>
              <a:gd name="p0y9" fmla="*/ 660 h 660"/>
              <a:gd name="p0x10" fmla="*/ 80 w 660"/>
              <a:gd name="p0y10" fmla="*/ 660 h 660"/>
              <a:gd name="p0x11" fmla="*/ 0 w 660"/>
              <a:gd name="p0y11" fmla="*/ 579 h 660"/>
              <a:gd name="p0x12" fmla="*/ 0 w 660"/>
              <a:gd name="p0y12" fmla="*/ 480 h 660"/>
              <a:gd name="p0x13" fmla="*/ 0 w 660"/>
              <a:gd name="p0y13" fmla="*/ 180 h 660"/>
              <a:gd name="p0x14" fmla="*/ 0 w 660"/>
              <a:gd name="p0y14" fmla="*/ 80 h 660"/>
              <a:gd name="p0x15" fmla="*/ 80 w 660"/>
              <a:gd name="p0y15" fmla="*/ 0 h 660"/>
              <a:gd name="p0x16" fmla="*/ 18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EE5D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0" name="图片 59"/>
          <p:cNvPicPr>
            <a:picLocks noChangeAspect="1"/>
          </p:cNvPicPr>
          <p:nvPr>
            <p:custDataLst>
              <p:tags r:id="rId80"/>
            </p:custDataLst>
          </p:nvPr>
        </p:nvPicPr>
        <p:blipFill>
          <a:blip r:embed="rId81"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rcRect l="-6522" t="-2933" r="-6522" b="-2933"/>
          <a:stretch>
            <a:fillRect/>
          </a:stretch>
        </p:blipFill>
        <p:spPr>
          <a:xfrm>
            <a:off x="857250" y="5602605"/>
            <a:ext cx="247650" cy="252095"/>
          </a:xfrm>
          <a:prstGeom prst="rect">
            <a:avLst/>
          </a:prstGeom>
        </p:spPr>
      </p:pic>
      <p:sp>
        <p:nvSpPr>
          <p:cNvPr id="61" name="文本框 60"/>
          <p:cNvSpPr txBox="1"/>
          <p:nvPr>
            <p:custDataLst>
              <p:tags r:id="rId83"/>
            </p:custDataLst>
          </p:nvPr>
        </p:nvSpPr>
        <p:spPr>
          <a:xfrm>
            <a:off x="1304925" y="5573182"/>
            <a:ext cx="27432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112D28"/>
                </a:solidFill>
              </a:rPr>
              <a:t>友升股份与教师示范比对</a:t>
            </a:r>
            <a:endParaRPr b="1">
              <a:solidFill>
                <a:srgbClr val="112D28"/>
              </a:solidFill>
            </a:endParaRPr>
          </a:p>
        </p:txBody>
      </p:sp>
      <p:sp>
        <p:nvSpPr>
          <p:cNvPr id="62" name="文本框 61"/>
          <p:cNvSpPr txBox="1"/>
          <p:nvPr>
            <p:custDataLst>
              <p:tags r:id="rId84"/>
            </p:custDataLst>
          </p:nvPr>
        </p:nvSpPr>
        <p:spPr>
          <a:xfrm>
            <a:off x="771525" y="6007074"/>
            <a:ext cx="2618261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3A5652"/>
                </a:solidFill>
                <a:cs typeface="微软雅黑" panose="020B0503020204020204" charset="-122"/>
              </a:rPr>
              <a:t>2020</a:t>
            </a:r>
            <a:r>
              <a:rPr lang="zh-CN" altLang="en-US" sz="1500">
                <a:solidFill>
                  <a:srgbClr val="3A5652"/>
                </a:solidFill>
                <a:cs typeface="微软雅黑" panose="020B0503020204020204" charset="-122"/>
              </a:rPr>
              <a:t>年</a:t>
            </a:r>
            <a:r>
              <a:rPr lang="en-US" altLang="zh-CN" sz="1500">
                <a:solidFill>
                  <a:srgbClr val="3A5652"/>
                </a:solidFill>
                <a:cs typeface="微软雅黑" panose="020B0503020204020204" charset="-122"/>
              </a:rPr>
              <a:t>9</a:t>
            </a:r>
            <a:r>
              <a:rPr lang="zh-CN" altLang="en-US" sz="1500">
                <a:solidFill>
                  <a:srgbClr val="3A5652"/>
                </a:solidFill>
                <a:cs typeface="微软雅黑" panose="020B0503020204020204" charset="-122"/>
              </a:rPr>
              <a:t>月</a:t>
            </a:r>
            <a:r>
              <a:rPr lang="en-US" altLang="zh-CN" sz="1500">
                <a:solidFill>
                  <a:srgbClr val="3A5652"/>
                </a:solidFill>
                <a:cs typeface="微软雅黑" panose="020B0503020204020204" charset="-122"/>
              </a:rPr>
              <a:t>3</a:t>
            </a:r>
            <a:r>
              <a:rPr lang="zh-CN" altLang="en-US" sz="1500">
                <a:solidFill>
                  <a:srgbClr val="3A5652"/>
                </a:solidFill>
                <a:cs typeface="微软雅黑" panose="020B0503020204020204" charset="-122"/>
              </a:rPr>
              <a:t>笔增资</a:t>
            </a:r>
            <a:r>
              <a:rPr sz="1500" b="1">
                <a:solidFill>
                  <a:srgbClr val="3A5652"/>
                </a:solidFill>
              </a:rPr>
              <a:t>完全一致</a:t>
            </a:r>
            <a:endParaRPr sz="1500" b="1">
              <a:solidFill>
                <a:srgbClr val="3A5652"/>
              </a:solidFill>
            </a:endParaRPr>
          </a:p>
        </p:txBody>
      </p:sp>
      <p:grpSp>
        <p:nvGrpSpPr>
          <p:cNvPr id="70" name="组合 69"/>
          <p:cNvGrpSpPr/>
          <p:nvPr/>
        </p:nvGrpSpPr>
        <p:grpSpPr>
          <a:xfrm>
            <a:off x="6090920" y="5554980"/>
            <a:ext cx="5328920" cy="721360"/>
            <a:chOff x="9592" y="8748"/>
            <a:chExt cx="8392" cy="1136"/>
          </a:xfrm>
        </p:grpSpPr>
        <p:sp>
          <p:nvSpPr>
            <p:cNvPr id="63" name="任意多边形 62"/>
            <p:cNvSpPr/>
            <p:nvPr>
              <p:custDataLst>
                <p:tags r:id="rId85"/>
              </p:custDataLst>
            </p:nvPr>
          </p:nvSpPr>
          <p:spPr>
            <a:xfrm>
              <a:off x="9592" y="8748"/>
              <a:ext cx="8393" cy="1137"/>
            </a:xfrm>
            <a:custGeom>
              <a:avLst/>
              <a:gdLst>
                <a:gd name="sw" fmla="*/ 1 w 8392"/>
                <a:gd name="sh" fmla="*/ 1 h 1136"/>
                <a:gd name="mins" fmla="min sw sh"/>
                <a:gd name="dsw" fmla="+- 0 sw mins"/>
                <a:gd name="dsh" fmla="+- 0 sh mins"/>
                <a:gd name="p0x0" fmla="*/ 0 w 8392"/>
                <a:gd name="p0y0" fmla="*/ 0 h 1136"/>
                <a:gd name="p0x1" fmla="*/ 8392 w 8392"/>
                <a:gd name="p0y1" fmla="*/ 0 h 1136"/>
                <a:gd name="p0x2" fmla="*/ 8392 w 8392"/>
                <a:gd name="p0y2" fmla="*/ 1136 h 1136"/>
                <a:gd name="p0x3" fmla="*/ 0 w 8392"/>
                <a:gd name="p0y3" fmla="*/ 1136 h 1136"/>
                <a:gd name="p0x4" fmla="*/ 0 w 8392"/>
                <a:gd name="p0y4" fmla="*/ 0 h 1136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4" name="任意多边形 63"/>
            <p:cNvSpPr/>
            <p:nvPr>
              <p:custDataLst>
                <p:tags r:id="rId86"/>
              </p:custDataLst>
            </p:nvPr>
          </p:nvSpPr>
          <p:spPr>
            <a:xfrm>
              <a:off x="9592" y="8748"/>
              <a:ext cx="15" cy="1137"/>
            </a:xfrm>
            <a:custGeom>
              <a:avLst/>
              <a:gdLst>
                <a:gd name="sw" fmla="*/ 1 w 15"/>
                <a:gd name="sh" fmla="*/ 1 h 1136"/>
                <a:gd name="mins" fmla="min sw sh"/>
                <a:gd name="dsw" fmla="+- 0 sw mins"/>
                <a:gd name="dsh" fmla="+- 0 sh mins"/>
                <a:gd name="p0x0" fmla="*/ 0 w 15"/>
                <a:gd name="p0y0" fmla="*/ 1136 h 1136"/>
                <a:gd name="p0x1" fmla="*/ 0 w 15"/>
                <a:gd name="p0y1" fmla="*/ 0 h 1136"/>
                <a:gd name="p0x2" fmla="*/ 15 w 15"/>
                <a:gd name="p0y2" fmla="*/ 0 h 1136"/>
                <a:gd name="p0x3" fmla="*/ 15 w 15"/>
                <a:gd name="p0y3" fmla="*/ 1136 h 1136"/>
                <a:gd name="p0x4" fmla="*/ 0 w 15"/>
                <a:gd name="p0y4" fmla="*/ 1136 h 1136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3DDD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66" name="任意多边形 65"/>
          <p:cNvSpPr/>
          <p:nvPr>
            <p:custDataLst>
              <p:tags r:id="rId87"/>
            </p:custDataLst>
          </p:nvPr>
        </p:nvSpPr>
        <p:spPr>
          <a:xfrm>
            <a:off x="6290945" y="55213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80 w 660"/>
              <a:gd name="p0y0" fmla="*/ 0 h 660"/>
              <a:gd name="p0x1" fmla="*/ 480 w 660"/>
              <a:gd name="p0y1" fmla="*/ 0 h 660"/>
              <a:gd name="p0x2" fmla="*/ 579 w 660"/>
              <a:gd name="p0y2" fmla="*/ 0 h 660"/>
              <a:gd name="p0x3" fmla="*/ 660 w 660"/>
              <a:gd name="p0y3" fmla="*/ 80 h 660"/>
              <a:gd name="p0x4" fmla="*/ 660 w 660"/>
              <a:gd name="p0y4" fmla="*/ 180 h 660"/>
              <a:gd name="p0x5" fmla="*/ 660 w 660"/>
              <a:gd name="p0y5" fmla="*/ 480 h 660"/>
              <a:gd name="p0x6" fmla="*/ 660 w 660"/>
              <a:gd name="p0y6" fmla="*/ 579 h 660"/>
              <a:gd name="p0x7" fmla="*/ 579 w 660"/>
              <a:gd name="p0y7" fmla="*/ 660 h 660"/>
              <a:gd name="p0x8" fmla="*/ 480 w 660"/>
              <a:gd name="p0y8" fmla="*/ 660 h 660"/>
              <a:gd name="p0x9" fmla="*/ 180 w 660"/>
              <a:gd name="p0y9" fmla="*/ 660 h 660"/>
              <a:gd name="p0x10" fmla="*/ 80 w 660"/>
              <a:gd name="p0y10" fmla="*/ 660 h 660"/>
              <a:gd name="p0x11" fmla="*/ 0 w 660"/>
              <a:gd name="p0y11" fmla="*/ 579 h 660"/>
              <a:gd name="p0x12" fmla="*/ 0 w 660"/>
              <a:gd name="p0y12" fmla="*/ 480 h 660"/>
              <a:gd name="p0x13" fmla="*/ 0 w 660"/>
              <a:gd name="p0y13" fmla="*/ 180 h 660"/>
              <a:gd name="p0x14" fmla="*/ 0 w 660"/>
              <a:gd name="p0y14" fmla="*/ 80 h 660"/>
              <a:gd name="p0x15" fmla="*/ 80 w 660"/>
              <a:gd name="p0y15" fmla="*/ 0 h 660"/>
              <a:gd name="p0x16" fmla="*/ 18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EE5D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7" name="图片 66"/>
          <p:cNvPicPr>
            <a:picLocks noChangeAspect="1"/>
          </p:cNvPicPr>
          <p:nvPr>
            <p:custDataLst>
              <p:tags r:id="rId88"/>
            </p:custDataLst>
          </p:nvPr>
        </p:nvPicPr>
        <p:blipFill>
          <a:blip r:embed="rId89">
            <a:extLst>
              <a:ext uri="{96DAC541-7B7A-43D3-8B79-37D633B846F1}">
                <asvg:svgBlip xmlns:asvg="http://schemas.microsoft.com/office/drawing/2016/SVG/main" r:embed="rId90"/>
              </a:ext>
            </a:extLst>
          </a:blip>
          <a:srcRect l="-6667" t="-16167" r="-6667" b="-16167"/>
          <a:stretch>
            <a:fillRect/>
          </a:stretch>
        </p:blipFill>
        <p:spPr>
          <a:xfrm>
            <a:off x="6360160" y="5602605"/>
            <a:ext cx="280670" cy="252095"/>
          </a:xfrm>
          <a:prstGeom prst="rect">
            <a:avLst/>
          </a:prstGeom>
        </p:spPr>
      </p:pic>
      <p:sp>
        <p:nvSpPr>
          <p:cNvPr id="68" name="文本框 67"/>
          <p:cNvSpPr txBox="1"/>
          <p:nvPr>
            <p:custDataLst>
              <p:tags r:id="rId91"/>
            </p:custDataLst>
          </p:nvPr>
        </p:nvSpPr>
        <p:spPr>
          <a:xfrm>
            <a:off x="6824663" y="5573182"/>
            <a:ext cx="2028158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b="1">
                <a:solidFill>
                  <a:srgbClr val="112D28"/>
                </a:solidFill>
                <a:cs typeface="微软雅黑" panose="020B0503020204020204" charset="-122"/>
              </a:rPr>
              <a:t>454</a:t>
            </a:r>
            <a:r>
              <a:rPr lang="zh-CN" b="1">
                <a:solidFill>
                  <a:srgbClr val="112D28"/>
                </a:solidFill>
                <a:cs typeface="微软雅黑" panose="020B0503020204020204" charset="-122"/>
              </a:rPr>
              <a:t>条记录已标注</a:t>
            </a:r>
            <a:endParaRPr lang="zh-CN" b="1">
              <a:solidFill>
                <a:srgbClr val="112D28"/>
              </a:solidFill>
              <a:cs typeface="微软雅黑" panose="020B0503020204020204" charset="-122"/>
            </a:endParaRPr>
          </a:p>
        </p:txBody>
      </p:sp>
      <p:sp>
        <p:nvSpPr>
          <p:cNvPr id="69" name="文本框 68"/>
          <p:cNvSpPr txBox="1"/>
          <p:nvPr>
            <p:custDataLst>
              <p:tags r:id="rId92"/>
            </p:custDataLst>
          </p:nvPr>
        </p:nvSpPr>
        <p:spPr>
          <a:xfrm>
            <a:off x="6291263" y="6007074"/>
            <a:ext cx="5129213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3A5652"/>
                </a:solidFill>
                <a:cs typeface="微软雅黑" panose="020B0503020204020204" charset="-122"/>
              </a:rPr>
              <a:t>source</a:t>
            </a:r>
            <a:r>
              <a:rPr lang="zh-CN" altLang="en-US" sz="1500">
                <a:solidFill>
                  <a:srgbClr val="3A5652"/>
                </a:solidFill>
                <a:cs typeface="微软雅黑" panose="020B0503020204020204" charset="-122"/>
              </a:rPr>
              <a:t>和</a:t>
            </a:r>
            <a:r>
              <a:rPr lang="en-US" altLang="zh-CN" sz="1500">
                <a:solidFill>
                  <a:srgbClr val="3A5652"/>
                </a:solidFill>
                <a:cs typeface="微软雅黑" panose="020B0503020204020204" charset="-122"/>
              </a:rPr>
              <a:t>review_status</a:t>
            </a:r>
            <a:r>
              <a:rPr lang="zh-CN" altLang="en-US" sz="1500">
                <a:solidFill>
                  <a:srgbClr val="3A5652"/>
                </a:solidFill>
                <a:cs typeface="微软雅黑" panose="020B0503020204020204" charset="-122"/>
              </a:rPr>
              <a:t>字段已完成标注</a:t>
            </a:r>
            <a:endParaRPr lang="zh-CN" altLang="en-US" sz="1500">
              <a:solidFill>
                <a:srgbClr val="3A5652"/>
              </a:solidFill>
              <a:cs typeface="微软雅黑" panose="020B0503020204020204" charset="-122"/>
            </a:endParaRPr>
          </a:p>
        </p:txBody>
      </p:sp>
    </p:spTree>
    <p:custDataLst>
      <p:tags r:id="rId9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2D28"/>
                </a:solidFill>
              </a:rPr>
              <a:t>目录</a:t>
            </a:r>
            <a:endParaRPr sz="3000" b="1">
              <a:solidFill>
                <a:srgbClr val="112D28"/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3987774" y="3588544"/>
            <a:ext cx="609600" cy="4048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2400">
                <a:solidFill>
                  <a:srgbClr val="9A7F5E"/>
                </a:solidFill>
              </a:rPr>
              <a:t>→</a:t>
            </a:r>
            <a:endParaRPr sz="2400">
              <a:solidFill>
                <a:srgbClr val="9A7F5E"/>
              </a:solidFill>
            </a:endParaRPr>
          </a:p>
        </p:txBody>
      </p:sp>
      <p:sp>
        <p:nvSpPr>
          <p:cNvPr id="15" name="文本框 14"/>
          <p:cNvSpPr txBox="1"/>
          <p:nvPr>
            <p:custDataLst>
              <p:tags r:id="rId3"/>
            </p:custDataLst>
          </p:nvPr>
        </p:nvSpPr>
        <p:spPr>
          <a:xfrm>
            <a:off x="7899349" y="3588544"/>
            <a:ext cx="609600" cy="4048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2400">
                <a:solidFill>
                  <a:srgbClr val="9A7F5E"/>
                </a:solidFill>
              </a:rPr>
              <a:t>→</a:t>
            </a:r>
            <a:endParaRPr sz="2400">
              <a:solidFill>
                <a:srgbClr val="9A7F5E"/>
              </a:solidFill>
            </a:endParaRPr>
          </a:p>
        </p:txBody>
      </p:sp>
      <p:sp>
        <p:nvSpPr>
          <p:cNvPr id="4" name="任意多边形 3"/>
          <p:cNvSpPr/>
          <p:nvPr>
            <p:custDataLst>
              <p:tags r:id="rId4"/>
            </p:custDataLst>
          </p:nvPr>
        </p:nvSpPr>
        <p:spPr>
          <a:xfrm>
            <a:off x="575945" y="1109345"/>
            <a:ext cx="3216275" cy="5362575"/>
          </a:xfrm>
          <a:custGeom>
            <a:avLst/>
            <a:gdLst>
              <a:gd name="sw" fmla="*/ 1 w 5064"/>
              <a:gd name="sh" fmla="*/ 1 h 8445"/>
              <a:gd name="mins" fmla="min sw sh"/>
              <a:gd name="dsw" fmla="+- 0 sw mins"/>
              <a:gd name="dsh" fmla="+- 0 sh mins"/>
              <a:gd name="p0x0" fmla="*/ 90 w 5064"/>
              <a:gd name="p0y0" fmla="*/ 0 h 8445"/>
              <a:gd name="p0x1" fmla="*/ 4974 w 5064"/>
              <a:gd name="p0y1" fmla="*/ 0 h 8445"/>
              <a:gd name="p0x2" fmla="*/ 5024 w 5064"/>
              <a:gd name="p0y2" fmla="*/ 0 h 8445"/>
              <a:gd name="p0x3" fmla="*/ 5064 w 5064"/>
              <a:gd name="p0y3" fmla="*/ 40 h 8445"/>
              <a:gd name="p0x4" fmla="*/ 5064 w 5064"/>
              <a:gd name="p0y4" fmla="*/ 90 h 8445"/>
              <a:gd name="p0x5" fmla="*/ 5064 w 5064"/>
              <a:gd name="p0y5" fmla="*/ 8355 h 8445"/>
              <a:gd name="p0x6" fmla="*/ 5064 w 5064"/>
              <a:gd name="p0y6" fmla="*/ 8404 h 8445"/>
              <a:gd name="p0x7" fmla="*/ 5024 w 5064"/>
              <a:gd name="p0y7" fmla="*/ 8445 h 8445"/>
              <a:gd name="p0x8" fmla="*/ 4974 w 5064"/>
              <a:gd name="p0y8" fmla="*/ 8445 h 8445"/>
              <a:gd name="p0x9" fmla="*/ 90 w 5064"/>
              <a:gd name="p0y9" fmla="*/ 8445 h 8445"/>
              <a:gd name="p0x10" fmla="*/ 40 w 5064"/>
              <a:gd name="p0y10" fmla="*/ 8445 h 8445"/>
              <a:gd name="p0x11" fmla="*/ 0 w 5064"/>
              <a:gd name="p0y11" fmla="*/ 8404 h 8445"/>
              <a:gd name="p0x12" fmla="*/ 0 w 5064"/>
              <a:gd name="p0y12" fmla="*/ 8355 h 8445"/>
              <a:gd name="p0x13" fmla="*/ 0 w 5064"/>
              <a:gd name="p0y13" fmla="*/ 90 h 8445"/>
              <a:gd name="p0x14" fmla="*/ 0 w 5064"/>
              <a:gd name="p0y14" fmla="*/ 40 h 8445"/>
              <a:gd name="p0x15" fmla="*/ 40 w 5064"/>
              <a:gd name="p0y15" fmla="*/ 0 h 8445"/>
              <a:gd name="p0x16" fmla="*/ 90 w 5064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8F5"/>
          </a:solidFill>
          <a:ln w="9525" cmpd="sng">
            <a:solidFill>
              <a:srgbClr val="DBD4C9"/>
            </a:solidFill>
            <a:prstDash val="solid"/>
          </a:ln>
          <a:effectLst>
            <a:outerShdw blurRad="42863" dist="9525" dir="5399999" algn="ctr" rotWithShape="0">
              <a:srgbClr val="112D28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5"/>
            </p:custDataLst>
          </p:nvPr>
        </p:nvSpPr>
        <p:spPr>
          <a:xfrm>
            <a:off x="1917065" y="2981325"/>
            <a:ext cx="533400" cy="533400"/>
          </a:xfrm>
          <a:custGeom>
            <a:avLst/>
            <a:gdLst>
              <a:gd name="sw" fmla="*/ 1 w 840"/>
              <a:gd name="sh" fmla="*/ 1 h 840"/>
              <a:gd name="mins" fmla="min sw sh"/>
              <a:gd name="dsw" fmla="+- 0 sw mins"/>
              <a:gd name="dsh" fmla="+- 0 sh mins"/>
              <a:gd name="p0x0" fmla="*/ 420 w 840"/>
              <a:gd name="p0y0" fmla="*/ 0 h 840"/>
              <a:gd name="p0x1" fmla="*/ 651 w 840"/>
              <a:gd name="p0y1" fmla="*/ 0 h 840"/>
              <a:gd name="p0x2" fmla="*/ 840 w 840"/>
              <a:gd name="p0y2" fmla="*/ 188 h 840"/>
              <a:gd name="p0x3" fmla="*/ 840 w 840"/>
              <a:gd name="p0y3" fmla="*/ 420 h 840"/>
              <a:gd name="p0x4" fmla="*/ 840 w 840"/>
              <a:gd name="p0y4" fmla="*/ 651 h 840"/>
              <a:gd name="p0x5" fmla="*/ 651 w 840"/>
              <a:gd name="p0y5" fmla="*/ 840 h 840"/>
              <a:gd name="p0x6" fmla="*/ 420 w 840"/>
              <a:gd name="p0y6" fmla="*/ 840 h 840"/>
              <a:gd name="p0x7" fmla="*/ 188 w 840"/>
              <a:gd name="p0y7" fmla="*/ 840 h 840"/>
              <a:gd name="p0x8" fmla="*/ 0 w 840"/>
              <a:gd name="p0y8" fmla="*/ 651 h 840"/>
              <a:gd name="p0x9" fmla="*/ 0 w 840"/>
              <a:gd name="p0y9" fmla="*/ 420 h 840"/>
              <a:gd name="p0x10" fmla="*/ 0 w 840"/>
              <a:gd name="p0y10" fmla="*/ 188 h 840"/>
              <a:gd name="p0x11" fmla="*/ 188 w 840"/>
              <a:gd name="p0y11" fmla="*/ 0 h 840"/>
              <a:gd name="p0x12" fmla="*/ 420 w 840"/>
              <a:gd name="p0y12" fmla="*/ 0 h 8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9A7F5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1967732" y="3071813"/>
            <a:ext cx="433168" cy="3524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sz="2100" b="1">
                <a:solidFill>
                  <a:srgbClr val="FFFFFF"/>
                </a:solidFill>
              </a:rPr>
              <a:t>1</a:t>
            </a:r>
            <a:endParaRPr sz="2100" b="1">
              <a:solidFill>
                <a:srgbClr val="FFFFFF"/>
              </a:solidFill>
            </a:endParaRPr>
          </a:p>
        </p:txBody>
      </p:sp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269949" y="3651885"/>
            <a:ext cx="18288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b="1">
                <a:solidFill>
                  <a:srgbClr val="112D28"/>
                </a:solidFill>
              </a:rPr>
              <a:t>股本变化时间线</a:t>
            </a:r>
            <a:endParaRPr b="1">
              <a:solidFill>
                <a:srgbClr val="112D28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850849" y="3976688"/>
            <a:ext cx="26670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500">
                <a:solidFill>
                  <a:srgbClr val="3A5652"/>
                </a:solidFill>
              </a:rPr>
              <a:t>星图测控从成立至今的股本演变历程与关键节点</a:t>
            </a:r>
            <a:endParaRPr sz="1500">
              <a:solidFill>
                <a:srgbClr val="3A5652"/>
              </a:solidFill>
            </a:endParaRPr>
          </a:p>
        </p:txBody>
      </p:sp>
      <p:sp>
        <p:nvSpPr>
          <p:cNvPr id="10" name="任意多边形 9"/>
          <p:cNvSpPr/>
          <p:nvPr>
            <p:custDataLst>
              <p:tags r:id="rId9"/>
            </p:custDataLst>
          </p:nvPr>
        </p:nvSpPr>
        <p:spPr>
          <a:xfrm>
            <a:off x="4487545" y="1109345"/>
            <a:ext cx="3216275" cy="5362575"/>
          </a:xfrm>
          <a:custGeom>
            <a:avLst/>
            <a:gdLst>
              <a:gd name="sw" fmla="*/ 1 w 5064"/>
              <a:gd name="sh" fmla="*/ 1 h 8445"/>
              <a:gd name="mins" fmla="min sw sh"/>
              <a:gd name="dsw" fmla="+- 0 sw mins"/>
              <a:gd name="dsh" fmla="+- 0 sh mins"/>
              <a:gd name="p0x0" fmla="*/ 90 w 5064"/>
              <a:gd name="p0y0" fmla="*/ 0 h 8445"/>
              <a:gd name="p0x1" fmla="*/ 4974 w 5064"/>
              <a:gd name="p0y1" fmla="*/ 0 h 8445"/>
              <a:gd name="p0x2" fmla="*/ 5024 w 5064"/>
              <a:gd name="p0y2" fmla="*/ 0 h 8445"/>
              <a:gd name="p0x3" fmla="*/ 5064 w 5064"/>
              <a:gd name="p0y3" fmla="*/ 40 h 8445"/>
              <a:gd name="p0x4" fmla="*/ 5064 w 5064"/>
              <a:gd name="p0y4" fmla="*/ 90 h 8445"/>
              <a:gd name="p0x5" fmla="*/ 5064 w 5064"/>
              <a:gd name="p0y5" fmla="*/ 8355 h 8445"/>
              <a:gd name="p0x6" fmla="*/ 5064 w 5064"/>
              <a:gd name="p0y6" fmla="*/ 8404 h 8445"/>
              <a:gd name="p0x7" fmla="*/ 5024 w 5064"/>
              <a:gd name="p0y7" fmla="*/ 8445 h 8445"/>
              <a:gd name="p0x8" fmla="*/ 4974 w 5064"/>
              <a:gd name="p0y8" fmla="*/ 8445 h 8445"/>
              <a:gd name="p0x9" fmla="*/ 90 w 5064"/>
              <a:gd name="p0y9" fmla="*/ 8445 h 8445"/>
              <a:gd name="p0x10" fmla="*/ 40 w 5064"/>
              <a:gd name="p0y10" fmla="*/ 8445 h 8445"/>
              <a:gd name="p0x11" fmla="*/ 0 w 5064"/>
              <a:gd name="p0y11" fmla="*/ 8404 h 8445"/>
              <a:gd name="p0x12" fmla="*/ 0 w 5064"/>
              <a:gd name="p0y12" fmla="*/ 8355 h 8445"/>
              <a:gd name="p0x13" fmla="*/ 0 w 5064"/>
              <a:gd name="p0y13" fmla="*/ 90 h 8445"/>
              <a:gd name="p0x14" fmla="*/ 0 w 5064"/>
              <a:gd name="p0y14" fmla="*/ 40 h 8445"/>
              <a:gd name="p0x15" fmla="*/ 40 w 5064"/>
              <a:gd name="p0y15" fmla="*/ 0 h 8445"/>
              <a:gd name="p0x16" fmla="*/ 90 w 5064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8F5"/>
          </a:solidFill>
          <a:ln w="9525" cmpd="sng">
            <a:solidFill>
              <a:srgbClr val="DBD4C9"/>
            </a:solidFill>
            <a:prstDash val="solid"/>
          </a:ln>
          <a:effectLst>
            <a:outerShdw blurRad="42863" dist="9525" dir="5399999" algn="ctr" rotWithShape="0">
              <a:srgbClr val="112D28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>
            <p:custDataLst>
              <p:tags r:id="rId10"/>
            </p:custDataLst>
          </p:nvPr>
        </p:nvSpPr>
        <p:spPr>
          <a:xfrm>
            <a:off x="5828665" y="2981325"/>
            <a:ext cx="533400" cy="533400"/>
          </a:xfrm>
          <a:custGeom>
            <a:avLst/>
            <a:gdLst>
              <a:gd name="sw" fmla="*/ 1 w 840"/>
              <a:gd name="sh" fmla="*/ 1 h 840"/>
              <a:gd name="mins" fmla="min sw sh"/>
              <a:gd name="dsw" fmla="+- 0 sw mins"/>
              <a:gd name="dsh" fmla="+- 0 sh mins"/>
              <a:gd name="p0x0" fmla="*/ 420 w 840"/>
              <a:gd name="p0y0" fmla="*/ 0 h 840"/>
              <a:gd name="p0x1" fmla="*/ 651 w 840"/>
              <a:gd name="p0y1" fmla="*/ 0 h 840"/>
              <a:gd name="p0x2" fmla="*/ 840 w 840"/>
              <a:gd name="p0y2" fmla="*/ 188 h 840"/>
              <a:gd name="p0x3" fmla="*/ 840 w 840"/>
              <a:gd name="p0y3" fmla="*/ 420 h 840"/>
              <a:gd name="p0x4" fmla="*/ 840 w 840"/>
              <a:gd name="p0y4" fmla="*/ 651 h 840"/>
              <a:gd name="p0x5" fmla="*/ 651 w 840"/>
              <a:gd name="p0y5" fmla="*/ 840 h 840"/>
              <a:gd name="p0x6" fmla="*/ 420 w 840"/>
              <a:gd name="p0y6" fmla="*/ 840 h 840"/>
              <a:gd name="p0x7" fmla="*/ 188 w 840"/>
              <a:gd name="p0y7" fmla="*/ 840 h 840"/>
              <a:gd name="p0x8" fmla="*/ 0 w 840"/>
              <a:gd name="p0y8" fmla="*/ 651 h 840"/>
              <a:gd name="p0x9" fmla="*/ 0 w 840"/>
              <a:gd name="p0y9" fmla="*/ 420 h 840"/>
              <a:gd name="p0x10" fmla="*/ 0 w 840"/>
              <a:gd name="p0y10" fmla="*/ 188 h 840"/>
              <a:gd name="p0x11" fmla="*/ 188 w 840"/>
              <a:gd name="p0y11" fmla="*/ 0 h 840"/>
              <a:gd name="p0x12" fmla="*/ 420 w 840"/>
              <a:gd name="p0y12" fmla="*/ 0 h 8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9A7F5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5879306" y="3071813"/>
            <a:ext cx="433168" cy="3524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sz="2100" b="1">
                <a:solidFill>
                  <a:srgbClr val="FFFFFF"/>
                </a:solidFill>
              </a:rPr>
              <a:t>2</a:t>
            </a:r>
            <a:endParaRPr sz="2100" b="1">
              <a:solidFill>
                <a:srgbClr val="FFFFFF"/>
              </a:solidFill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5181524" y="3651885"/>
            <a:ext cx="18288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b="1">
                <a:solidFill>
                  <a:srgbClr val="112D28"/>
                </a:solidFill>
              </a:rPr>
              <a:t>发行前股东结构</a:t>
            </a:r>
            <a:endParaRPr b="1">
              <a:solidFill>
                <a:srgbClr val="112D28"/>
              </a:solidFill>
            </a:endParaRPr>
          </a:p>
        </p:txBody>
      </p:sp>
      <p:sp>
        <p:nvSpPr>
          <p:cNvPr id="14" name="文本框 13"/>
          <p:cNvSpPr txBox="1"/>
          <p:nvPr>
            <p:custDataLst>
              <p:tags r:id="rId13"/>
            </p:custDataLst>
          </p:nvPr>
        </p:nvSpPr>
        <p:spPr>
          <a:xfrm>
            <a:off x="4762424" y="3976688"/>
            <a:ext cx="26670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500">
                <a:solidFill>
                  <a:srgbClr val="3A5652"/>
                </a:solidFill>
              </a:rPr>
              <a:t>股东构成与流量存量的交叉验证分析</a:t>
            </a:r>
            <a:endParaRPr sz="1500">
              <a:solidFill>
                <a:srgbClr val="3A5652"/>
              </a:solidFill>
            </a:endParaRPr>
          </a:p>
        </p:txBody>
      </p:sp>
      <p:sp>
        <p:nvSpPr>
          <p:cNvPr id="16" name="任意多边形 15"/>
          <p:cNvSpPr/>
          <p:nvPr>
            <p:custDataLst>
              <p:tags r:id="rId14"/>
            </p:custDataLst>
          </p:nvPr>
        </p:nvSpPr>
        <p:spPr>
          <a:xfrm>
            <a:off x="8399145" y="1109345"/>
            <a:ext cx="3216275" cy="5362575"/>
          </a:xfrm>
          <a:custGeom>
            <a:avLst/>
            <a:gdLst>
              <a:gd name="sw" fmla="*/ 1 w 5064"/>
              <a:gd name="sh" fmla="*/ 1 h 8445"/>
              <a:gd name="mins" fmla="min sw sh"/>
              <a:gd name="dsw" fmla="+- 0 sw mins"/>
              <a:gd name="dsh" fmla="+- 0 sh mins"/>
              <a:gd name="p0x0" fmla="*/ 90 w 5064"/>
              <a:gd name="p0y0" fmla="*/ 0 h 8445"/>
              <a:gd name="p0x1" fmla="*/ 4974 w 5064"/>
              <a:gd name="p0y1" fmla="*/ 0 h 8445"/>
              <a:gd name="p0x2" fmla="*/ 5024 w 5064"/>
              <a:gd name="p0y2" fmla="*/ 0 h 8445"/>
              <a:gd name="p0x3" fmla="*/ 5064 w 5064"/>
              <a:gd name="p0y3" fmla="*/ 40 h 8445"/>
              <a:gd name="p0x4" fmla="*/ 5064 w 5064"/>
              <a:gd name="p0y4" fmla="*/ 90 h 8445"/>
              <a:gd name="p0x5" fmla="*/ 5064 w 5064"/>
              <a:gd name="p0y5" fmla="*/ 8355 h 8445"/>
              <a:gd name="p0x6" fmla="*/ 5064 w 5064"/>
              <a:gd name="p0y6" fmla="*/ 8404 h 8445"/>
              <a:gd name="p0x7" fmla="*/ 5024 w 5064"/>
              <a:gd name="p0y7" fmla="*/ 8445 h 8445"/>
              <a:gd name="p0x8" fmla="*/ 4974 w 5064"/>
              <a:gd name="p0y8" fmla="*/ 8445 h 8445"/>
              <a:gd name="p0x9" fmla="*/ 90 w 5064"/>
              <a:gd name="p0y9" fmla="*/ 8445 h 8445"/>
              <a:gd name="p0x10" fmla="*/ 40 w 5064"/>
              <a:gd name="p0y10" fmla="*/ 8445 h 8445"/>
              <a:gd name="p0x11" fmla="*/ 0 w 5064"/>
              <a:gd name="p0y11" fmla="*/ 8404 h 8445"/>
              <a:gd name="p0x12" fmla="*/ 0 w 5064"/>
              <a:gd name="p0y12" fmla="*/ 8355 h 8445"/>
              <a:gd name="p0x13" fmla="*/ 0 w 5064"/>
              <a:gd name="p0y13" fmla="*/ 90 h 8445"/>
              <a:gd name="p0x14" fmla="*/ 0 w 5064"/>
              <a:gd name="p0y14" fmla="*/ 40 h 8445"/>
              <a:gd name="p0x15" fmla="*/ 40 w 5064"/>
              <a:gd name="p0y15" fmla="*/ 0 h 8445"/>
              <a:gd name="p0x16" fmla="*/ 90 w 5064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8F5"/>
          </a:solidFill>
          <a:ln w="9525" cmpd="sng">
            <a:solidFill>
              <a:srgbClr val="DBD4C9"/>
            </a:solidFill>
            <a:prstDash val="solid"/>
          </a:ln>
          <a:effectLst>
            <a:outerShdw blurRad="42863" dist="9525" dir="5399999" algn="ctr" rotWithShape="0">
              <a:srgbClr val="112D28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15"/>
            </p:custDataLst>
          </p:nvPr>
        </p:nvSpPr>
        <p:spPr>
          <a:xfrm>
            <a:off x="9740265" y="2981325"/>
            <a:ext cx="533400" cy="533400"/>
          </a:xfrm>
          <a:custGeom>
            <a:avLst/>
            <a:gdLst>
              <a:gd name="sw" fmla="*/ 1 w 840"/>
              <a:gd name="sh" fmla="*/ 1 h 840"/>
              <a:gd name="mins" fmla="min sw sh"/>
              <a:gd name="dsw" fmla="+- 0 sw mins"/>
              <a:gd name="dsh" fmla="+- 0 sh mins"/>
              <a:gd name="p0x0" fmla="*/ 420 w 840"/>
              <a:gd name="p0y0" fmla="*/ 0 h 840"/>
              <a:gd name="p0x1" fmla="*/ 651 w 840"/>
              <a:gd name="p0y1" fmla="*/ 0 h 840"/>
              <a:gd name="p0x2" fmla="*/ 840 w 840"/>
              <a:gd name="p0y2" fmla="*/ 188 h 840"/>
              <a:gd name="p0x3" fmla="*/ 840 w 840"/>
              <a:gd name="p0y3" fmla="*/ 420 h 840"/>
              <a:gd name="p0x4" fmla="*/ 840 w 840"/>
              <a:gd name="p0y4" fmla="*/ 651 h 840"/>
              <a:gd name="p0x5" fmla="*/ 651 w 840"/>
              <a:gd name="p0y5" fmla="*/ 840 h 840"/>
              <a:gd name="p0x6" fmla="*/ 420 w 840"/>
              <a:gd name="p0y6" fmla="*/ 840 h 840"/>
              <a:gd name="p0x7" fmla="*/ 188 w 840"/>
              <a:gd name="p0y7" fmla="*/ 840 h 840"/>
              <a:gd name="p0x8" fmla="*/ 0 w 840"/>
              <a:gd name="p0y8" fmla="*/ 651 h 840"/>
              <a:gd name="p0x9" fmla="*/ 0 w 840"/>
              <a:gd name="p0y9" fmla="*/ 420 h 840"/>
              <a:gd name="p0x10" fmla="*/ 0 w 840"/>
              <a:gd name="p0y10" fmla="*/ 188 h 840"/>
              <a:gd name="p0x11" fmla="*/ 188 w 840"/>
              <a:gd name="p0y11" fmla="*/ 0 h 840"/>
              <a:gd name="p0x12" fmla="*/ 420 w 840"/>
              <a:gd name="p0y12" fmla="*/ 0 h 8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9A7F5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6"/>
            </p:custDataLst>
          </p:nvPr>
        </p:nvSpPr>
        <p:spPr>
          <a:xfrm>
            <a:off x="9790881" y="3071813"/>
            <a:ext cx="433168" cy="3524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sz="2100" b="1">
                <a:solidFill>
                  <a:srgbClr val="FFFFFF"/>
                </a:solidFill>
              </a:rPr>
              <a:t>3</a:t>
            </a:r>
            <a:endParaRPr sz="2100" b="1">
              <a:solidFill>
                <a:srgbClr val="FFFFFF"/>
              </a:solidFill>
            </a:endParaRPr>
          </a:p>
        </p:txBody>
      </p:sp>
      <p:sp>
        <p:nvSpPr>
          <p:cNvPr id="19" name="文本框 18"/>
          <p:cNvSpPr txBox="1"/>
          <p:nvPr>
            <p:custDataLst>
              <p:tags r:id="rId17"/>
            </p:custDataLst>
          </p:nvPr>
        </p:nvSpPr>
        <p:spPr>
          <a:xfrm>
            <a:off x="9207398" y="3651885"/>
            <a:ext cx="16002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b="1">
                <a:solidFill>
                  <a:srgbClr val="112D28"/>
                </a:solidFill>
              </a:rPr>
              <a:t>定向发行难点</a:t>
            </a:r>
            <a:endParaRPr b="1">
              <a:solidFill>
                <a:srgbClr val="112D28"/>
              </a:solidFill>
            </a:endParaRPr>
          </a:p>
        </p:txBody>
      </p:sp>
      <p:sp>
        <p:nvSpPr>
          <p:cNvPr id="20" name="文本框 19"/>
          <p:cNvSpPr txBox="1"/>
          <p:nvPr>
            <p:custDataLst>
              <p:tags r:id="rId18"/>
            </p:custDataLst>
          </p:nvPr>
        </p:nvSpPr>
        <p:spPr>
          <a:xfrm>
            <a:off x="8673998" y="3976688"/>
            <a:ext cx="26670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500">
                <a:solidFill>
                  <a:srgbClr val="3A5652"/>
                </a:solidFill>
              </a:rPr>
              <a:t>定向发行面临的三个核心难点与挑战</a:t>
            </a:r>
            <a:endParaRPr sz="1500">
              <a:solidFill>
                <a:srgbClr val="3A5652"/>
              </a:solidFill>
            </a:endParaRPr>
          </a:p>
        </p:txBody>
      </p:sp>
    </p:spTree>
    <p:custDataLst>
      <p:tags r:id="rId19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7826049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+mj-lt"/>
              </a:rPr>
              <a:t>星图测控的股本变化时间线</a:t>
            </a:r>
            <a:endParaRPr lang="zh-CN" altLang="en-US">
              <a:latin typeface="+mj-lt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782656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latin typeface="+mn-lt"/>
              </a:rPr>
              <a:t>01</a:t>
            </a:r>
            <a:endParaRPr lang="en-US" altLang="en-US">
              <a:latin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2D28"/>
                </a:solidFill>
              </a:rPr>
              <a:t>星图测控的股本变化时间线</a:t>
            </a:r>
            <a:endParaRPr sz="3000" b="1">
              <a:solidFill>
                <a:srgbClr val="112D28"/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838030" y="1556366"/>
            <a:ext cx="942308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350">
                <a:solidFill>
                  <a:srgbClr val="6D8581"/>
                </a:solidFill>
                <a:cs typeface="微软雅黑" panose="020B0503020204020204" charset="-122"/>
              </a:rPr>
              <a:t>2021</a:t>
            </a:r>
            <a:r>
              <a:rPr lang="zh-CN" sz="1350">
                <a:solidFill>
                  <a:srgbClr val="6D8581"/>
                </a:solidFill>
                <a:cs typeface="微软雅黑" panose="020B0503020204020204" charset="-122"/>
              </a:rPr>
              <a:t>年初</a:t>
            </a:r>
            <a:endParaRPr lang="zh-CN" sz="1350">
              <a:solidFill>
                <a:srgbClr val="6D8581"/>
              </a:solidFill>
              <a:cs typeface="微软雅黑" panose="020B0503020204020204" charset="-122"/>
            </a:endParaRPr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1195070" y="186055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80 w 540"/>
              <a:gd name="p0y0" fmla="*/ 0 h 540"/>
              <a:gd name="p0x1" fmla="*/ 360 w 540"/>
              <a:gd name="p0y1" fmla="*/ 0 h 540"/>
              <a:gd name="p0x2" fmla="*/ 459 w 540"/>
              <a:gd name="p0y2" fmla="*/ 0 h 540"/>
              <a:gd name="p0x3" fmla="*/ 540 w 540"/>
              <a:gd name="p0y3" fmla="*/ 80 h 540"/>
              <a:gd name="p0x4" fmla="*/ 540 w 540"/>
              <a:gd name="p0y4" fmla="*/ 180 h 540"/>
              <a:gd name="p0x5" fmla="*/ 540 w 540"/>
              <a:gd name="p0y5" fmla="*/ 360 h 540"/>
              <a:gd name="p0x6" fmla="*/ 540 w 540"/>
              <a:gd name="p0y6" fmla="*/ 459 h 540"/>
              <a:gd name="p0x7" fmla="*/ 459 w 540"/>
              <a:gd name="p0y7" fmla="*/ 540 h 540"/>
              <a:gd name="p0x8" fmla="*/ 360 w 540"/>
              <a:gd name="p0y8" fmla="*/ 540 h 540"/>
              <a:gd name="p0x9" fmla="*/ 180 w 540"/>
              <a:gd name="p0y9" fmla="*/ 540 h 540"/>
              <a:gd name="p0x10" fmla="*/ 80 w 540"/>
              <a:gd name="p0y10" fmla="*/ 540 h 540"/>
              <a:gd name="p0x11" fmla="*/ 0 w 540"/>
              <a:gd name="p0y11" fmla="*/ 459 h 540"/>
              <a:gd name="p0x12" fmla="*/ 0 w 540"/>
              <a:gd name="p0y12" fmla="*/ 360 h 540"/>
              <a:gd name="p0x13" fmla="*/ 0 w 540"/>
              <a:gd name="p0y13" fmla="*/ 180 h 540"/>
              <a:gd name="p0x14" fmla="*/ 0 w 540"/>
              <a:gd name="p0y14" fmla="*/ 80 h 540"/>
              <a:gd name="p0x15" fmla="*/ 80 w 540"/>
              <a:gd name="p0y15" fmla="*/ 0 h 540"/>
              <a:gd name="p0x16" fmla="*/ 18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EE5D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1667" t="-3492" r="-1667" b="-3492"/>
          <a:stretch>
            <a:fillRect/>
          </a:stretch>
        </p:blipFill>
        <p:spPr>
          <a:xfrm>
            <a:off x="1287780" y="1922780"/>
            <a:ext cx="157480" cy="213995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576540" y="1906410"/>
            <a:ext cx="1865414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 b="1">
                <a:solidFill>
                  <a:srgbClr val="112D28"/>
                </a:solidFill>
                <a:cs typeface="微软雅黑" panose="020B0503020204020204" charset="-122"/>
              </a:rPr>
              <a:t>中科星图</a:t>
            </a:r>
            <a:r>
              <a:rPr lang="en-US" altLang="zh-CN" sz="1500" b="1">
                <a:solidFill>
                  <a:srgbClr val="112D28"/>
                </a:solidFill>
                <a:cs typeface="微软雅黑" panose="020B0503020204020204" charset="-122"/>
              </a:rPr>
              <a:t>100%</a:t>
            </a:r>
            <a:r>
              <a:rPr lang="zh-CN" altLang="en-US" sz="1500" b="1">
                <a:solidFill>
                  <a:srgbClr val="112D28"/>
                </a:solidFill>
                <a:cs typeface="微软雅黑" panose="020B0503020204020204" charset="-122"/>
              </a:rPr>
              <a:t>控股</a:t>
            </a:r>
            <a:endParaRPr lang="zh-CN" altLang="en-US" sz="1500" b="1">
              <a:solidFill>
                <a:srgbClr val="112D28"/>
              </a:solidFill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1690021" y="2280266"/>
            <a:ext cx="12192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3A5652"/>
                </a:solidFill>
              </a:rPr>
              <a:t>科创板上市公司</a:t>
            </a:r>
            <a:endParaRPr sz="1200">
              <a:solidFill>
                <a:srgbClr val="3A5652"/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3799284" y="1842116"/>
            <a:ext cx="533400" cy="3524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2100">
                <a:solidFill>
                  <a:srgbClr val="9A7F5E"/>
                </a:solidFill>
              </a:rPr>
              <a:t>→</a:t>
            </a:r>
            <a:endParaRPr sz="2100">
              <a:solidFill>
                <a:srgbClr val="9A7F5E"/>
              </a:solidFill>
            </a:endParaRPr>
          </a:p>
        </p:txBody>
      </p:sp>
      <p:sp>
        <p:nvSpPr>
          <p:cNvPr id="18" name="文本框 17"/>
          <p:cNvSpPr txBox="1"/>
          <p:nvPr>
            <p:custDataLst>
              <p:tags r:id="rId10"/>
            </p:custDataLst>
          </p:nvPr>
        </p:nvSpPr>
        <p:spPr>
          <a:xfrm>
            <a:off x="8126016" y="1842116"/>
            <a:ext cx="533400" cy="3524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2100">
                <a:solidFill>
                  <a:srgbClr val="9A7F5E"/>
                </a:solidFill>
              </a:rPr>
              <a:t>→</a:t>
            </a:r>
            <a:endParaRPr sz="2100">
              <a:solidFill>
                <a:srgbClr val="9A7F5E"/>
              </a:solidFill>
            </a:endParaRPr>
          </a:p>
        </p:txBody>
      </p:sp>
      <p:sp>
        <p:nvSpPr>
          <p:cNvPr id="19" name="文本框 18"/>
          <p:cNvSpPr txBox="1"/>
          <p:nvPr>
            <p:custDataLst>
              <p:tags r:id="rId11"/>
            </p:custDataLst>
          </p:nvPr>
        </p:nvSpPr>
        <p:spPr>
          <a:xfrm>
            <a:off x="9390307" y="1556366"/>
            <a:ext cx="132776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en-US" sz="1350">
                <a:solidFill>
                  <a:srgbClr val="6D8581"/>
                </a:solidFill>
                <a:cs typeface="微软雅黑" panose="020B0503020204020204" charset="-122"/>
              </a:rPr>
              <a:t>2025</a:t>
            </a:r>
            <a:r>
              <a:rPr lang="zh-CN" altLang="en-US" sz="1350">
                <a:solidFill>
                  <a:srgbClr val="6D8581"/>
                </a:solidFill>
                <a:cs typeface="微软雅黑" panose="020B0503020204020204" charset="-122"/>
              </a:rPr>
              <a:t>年</a:t>
            </a:r>
            <a:r>
              <a:rPr lang="en-US" altLang="zh-CN" sz="1350">
                <a:solidFill>
                  <a:srgbClr val="6D8581"/>
                </a:solidFill>
                <a:cs typeface="微软雅黑" panose="020B0503020204020204" charset="-122"/>
              </a:rPr>
              <a:t>1</a:t>
            </a:r>
            <a:r>
              <a:rPr lang="zh-CN" altLang="en-US" sz="1350">
                <a:solidFill>
                  <a:srgbClr val="6D8581"/>
                </a:solidFill>
                <a:cs typeface="微软雅黑" panose="020B0503020204020204" charset="-122"/>
              </a:rPr>
              <a:t>月</a:t>
            </a:r>
            <a:r>
              <a:rPr lang="en-US" altLang="zh-CN" sz="1350">
                <a:solidFill>
                  <a:srgbClr val="6D8581"/>
                </a:solidFill>
                <a:cs typeface="微软雅黑" panose="020B0503020204020204" charset="-122"/>
              </a:rPr>
              <a:t>2</a:t>
            </a:r>
            <a:r>
              <a:rPr lang="zh-CN" altLang="en-US" sz="1350">
                <a:solidFill>
                  <a:srgbClr val="6D8581"/>
                </a:solidFill>
                <a:cs typeface="微软雅黑" panose="020B0503020204020204" charset="-122"/>
              </a:rPr>
              <a:t>日</a:t>
            </a:r>
            <a:endParaRPr lang="zh-CN" altLang="en-US" sz="1350">
              <a:solidFill>
                <a:srgbClr val="6D8581"/>
              </a:solidFill>
              <a:cs typeface="微软雅黑" panose="020B050302020402020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12"/>
            </p:custDataLst>
          </p:nvPr>
        </p:nvSpPr>
        <p:spPr>
          <a:xfrm>
            <a:off x="9140190" y="186055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80 w 540"/>
              <a:gd name="p0y0" fmla="*/ 0 h 540"/>
              <a:gd name="p0x1" fmla="*/ 360 w 540"/>
              <a:gd name="p0y1" fmla="*/ 0 h 540"/>
              <a:gd name="p0x2" fmla="*/ 459 w 540"/>
              <a:gd name="p0y2" fmla="*/ 0 h 540"/>
              <a:gd name="p0x3" fmla="*/ 540 w 540"/>
              <a:gd name="p0y3" fmla="*/ 80 h 540"/>
              <a:gd name="p0x4" fmla="*/ 540 w 540"/>
              <a:gd name="p0y4" fmla="*/ 180 h 540"/>
              <a:gd name="p0x5" fmla="*/ 540 w 540"/>
              <a:gd name="p0y5" fmla="*/ 360 h 540"/>
              <a:gd name="p0x6" fmla="*/ 540 w 540"/>
              <a:gd name="p0y6" fmla="*/ 459 h 540"/>
              <a:gd name="p0x7" fmla="*/ 459 w 540"/>
              <a:gd name="p0y7" fmla="*/ 540 h 540"/>
              <a:gd name="p0x8" fmla="*/ 360 w 540"/>
              <a:gd name="p0y8" fmla="*/ 540 h 540"/>
              <a:gd name="p0x9" fmla="*/ 180 w 540"/>
              <a:gd name="p0y9" fmla="*/ 540 h 540"/>
              <a:gd name="p0x10" fmla="*/ 80 w 540"/>
              <a:gd name="p0y10" fmla="*/ 540 h 540"/>
              <a:gd name="p0x11" fmla="*/ 0 w 540"/>
              <a:gd name="p0y11" fmla="*/ 459 h 540"/>
              <a:gd name="p0x12" fmla="*/ 0 w 540"/>
              <a:gd name="p0y12" fmla="*/ 360 h 540"/>
              <a:gd name="p0x13" fmla="*/ 0 w 540"/>
              <a:gd name="p0y13" fmla="*/ 180 h 540"/>
              <a:gd name="p0x14" fmla="*/ 0 w 540"/>
              <a:gd name="p0y14" fmla="*/ 80 h 540"/>
              <a:gd name="p0x15" fmla="*/ 80 w 540"/>
              <a:gd name="p0y15" fmla="*/ 0 h 540"/>
              <a:gd name="p0x16" fmla="*/ 18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EE5D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-2381" t="-12407" r="-2381" b="-12407"/>
          <a:stretch>
            <a:fillRect/>
          </a:stretch>
        </p:blipFill>
        <p:spPr>
          <a:xfrm>
            <a:off x="9206865" y="1922780"/>
            <a:ext cx="209550" cy="213995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16"/>
            </p:custDataLst>
          </p:nvPr>
        </p:nvSpPr>
        <p:spPr>
          <a:xfrm>
            <a:off x="9521428" y="1906410"/>
            <a:ext cx="1465583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 b="1">
                <a:solidFill>
                  <a:srgbClr val="112D28"/>
                </a:solidFill>
                <a:cs typeface="微软雅黑" panose="020B0503020204020204" charset="-122"/>
              </a:rPr>
              <a:t>北交所</a:t>
            </a:r>
            <a:r>
              <a:rPr lang="en-US" altLang="zh-CN" sz="1500" b="1">
                <a:solidFill>
                  <a:srgbClr val="112D28"/>
                </a:solidFill>
                <a:cs typeface="微软雅黑" panose="020B0503020204020204" charset="-122"/>
              </a:rPr>
              <a:t>IPO</a:t>
            </a:r>
            <a:r>
              <a:rPr lang="zh-CN" altLang="en-US" sz="1500" b="1">
                <a:solidFill>
                  <a:srgbClr val="112D28"/>
                </a:solidFill>
                <a:cs typeface="微软雅黑" panose="020B0503020204020204" charset="-122"/>
              </a:rPr>
              <a:t>上市</a:t>
            </a:r>
            <a:endParaRPr lang="zh-CN" altLang="en-US" sz="1500" b="1">
              <a:solidFill>
                <a:srgbClr val="112D28"/>
              </a:solidFill>
              <a:cs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17"/>
            </p:custDataLst>
          </p:nvPr>
        </p:nvSpPr>
        <p:spPr>
          <a:xfrm>
            <a:off x="9294390" y="2280266"/>
            <a:ext cx="1348159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rgbClr val="3A5652"/>
                </a:solidFill>
                <a:cs typeface="微软雅黑" panose="020B0503020204020204" charset="-122"/>
              </a:rPr>
              <a:t>公开发行</a:t>
            </a:r>
            <a:r>
              <a:rPr lang="en-US" altLang="zh-CN" sz="1200">
                <a:solidFill>
                  <a:srgbClr val="3A5652"/>
                </a:solidFill>
                <a:cs typeface="微软雅黑" panose="020B0503020204020204" charset="-122"/>
              </a:rPr>
              <a:t> 6.92</a:t>
            </a:r>
            <a:r>
              <a:rPr lang="zh-CN" altLang="en-US" sz="1200">
                <a:solidFill>
                  <a:srgbClr val="3A5652"/>
                </a:solidFill>
                <a:cs typeface="微软雅黑" panose="020B0503020204020204" charset="-122"/>
              </a:rPr>
              <a:t>元</a:t>
            </a:r>
            <a:r>
              <a:rPr lang="en-US" altLang="zh-CN" sz="1200">
                <a:solidFill>
                  <a:srgbClr val="3A5652"/>
                </a:solidFill>
                <a:cs typeface="微软雅黑" panose="020B0503020204020204" charset="-122"/>
              </a:rPr>
              <a:t>/</a:t>
            </a:r>
            <a:r>
              <a:rPr lang="zh-CN" altLang="en-US" sz="1200">
                <a:solidFill>
                  <a:srgbClr val="3A5652"/>
                </a:solidFill>
                <a:cs typeface="微软雅黑" panose="020B0503020204020204" charset="-122"/>
              </a:rPr>
              <a:t>股</a:t>
            </a:r>
            <a:endParaRPr lang="zh-CN" altLang="en-US" sz="1200">
              <a:solidFill>
                <a:srgbClr val="3A5652"/>
              </a:solidFill>
              <a:cs typeface="微软雅黑" panose="020B0503020204020204" charset="-122"/>
            </a:endParaRPr>
          </a:p>
        </p:txBody>
      </p:sp>
      <p:graphicFrame>
        <p:nvGraphicFramePr>
          <p:cNvPr id="24" name="表格 23"/>
          <p:cNvGraphicFramePr/>
          <p:nvPr>
            <p:custDataLst>
              <p:tags r:id="rId18"/>
            </p:custDataLst>
          </p:nvPr>
        </p:nvGraphicFramePr>
        <p:xfrm>
          <a:off x="571500" y="3159760"/>
          <a:ext cx="5951179" cy="331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9239"/>
                <a:gridCol w="1547288"/>
                <a:gridCol w="1309239"/>
                <a:gridCol w="1785413"/>
              </a:tblGrid>
              <a:tr h="426690"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</a:rPr>
                        <a:t>认购方</a:t>
                      </a:r>
                      <a:endParaRPr sz="1350" b="1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A7F5E"/>
                    </a:solidFill>
                  </a:tcPr>
                </a:tc>
                <a:tc>
                  <a:txBody>
                    <a:bodyPr wrap="square"/>
                    <a:p>
                      <a:pPr algn="r"/>
                      <a:r>
                        <a:rPr sz="1350" b="1">
                          <a:solidFill>
                            <a:srgbClr val="FFFFFF"/>
                          </a:solidFill>
                        </a:rPr>
                        <a:t>认购数量</a:t>
                      </a:r>
                      <a:endParaRPr sz="1350" b="1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A7F5E"/>
                    </a:solidFill>
                  </a:tcPr>
                </a:tc>
                <a:tc>
                  <a:txBody>
                    <a:bodyPr wrap="square"/>
                    <a:p>
                      <a:pPr algn="r"/>
                      <a:r>
                        <a:rPr sz="1350" b="1">
                          <a:solidFill>
                            <a:srgbClr val="FFFFFF"/>
                          </a:solidFill>
                        </a:rPr>
                        <a:t>持股比例</a:t>
                      </a:r>
                      <a:endParaRPr sz="1350" b="1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A7F5E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</a:rPr>
                        <a:t>身份</a:t>
                      </a:r>
                      <a:endParaRPr sz="1350" b="1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A7F5E"/>
                    </a:solidFill>
                  </a:tcPr>
                </a:tc>
              </a:tr>
              <a:tr h="963291"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112D28"/>
                          </a:solidFill>
                        </a:rPr>
                        <a:t>策星银河</a:t>
                      </a:r>
                      <a:endParaRPr sz="1350" b="1">
                        <a:solidFill>
                          <a:srgbClr val="112D28"/>
                        </a:solidFill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p>
                      <a:pPr algn="r"/>
                      <a:r>
                        <a:rPr lang="en-US" sz="1350" b="1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279</a:t>
                      </a:r>
                      <a:r>
                        <a:rPr lang="zh-CN" sz="1350" b="1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万股</a:t>
                      </a:r>
                      <a:endParaRPr lang="zh-CN" sz="1350" b="1">
                        <a:solidFill>
                          <a:srgbClr val="112D28"/>
                        </a:solidFill>
                        <a:cs typeface="微软雅黑" panose="020B0503020204020204" charset="-122"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p>
                      <a:pPr algn="r"/>
                      <a:r>
                        <a:rPr sz="1350" b="0">
                          <a:solidFill>
                            <a:srgbClr val="112D28"/>
                          </a:solidFill>
                        </a:rPr>
                        <a:t>3.38%</a:t>
                      </a:r>
                      <a:endParaRPr sz="1350" b="0">
                        <a:solidFill>
                          <a:srgbClr val="112D28"/>
                        </a:solidFill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600">
                          <a:highlight>
                            <a:srgbClr val="9A7F5E"/>
                          </a:highlight>
                        </a:rPr>
                        <a:t> </a:t>
                      </a:r>
                      <a:r>
                        <a:rPr sz="1200" b="0">
                          <a:solidFill>
                            <a:srgbClr val="FFFFFF"/>
                          </a:solidFill>
                          <a:highlight>
                            <a:srgbClr val="9A7F5E"/>
                          </a:highlight>
                        </a:rPr>
                        <a:t>员工持股平台</a:t>
                      </a:r>
                      <a:r>
                        <a:rPr sz="600">
                          <a:highlight>
                            <a:srgbClr val="9A7F5E"/>
                          </a:highlight>
                        </a:rPr>
                        <a:t> </a:t>
                      </a:r>
                      <a:endParaRPr sz="600">
                        <a:highlight>
                          <a:srgbClr val="9A7F5E"/>
                        </a:highlight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5"/>
                    </a:solidFill>
                  </a:tcPr>
                </a:tc>
              </a:tr>
              <a:tr h="963291"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112D28"/>
                          </a:solidFill>
                        </a:rPr>
                        <a:t>策星逐日</a:t>
                      </a:r>
                      <a:endParaRPr sz="1350" b="1">
                        <a:solidFill>
                          <a:srgbClr val="112D28"/>
                        </a:solidFill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r"/>
                      <a:r>
                        <a:rPr lang="en-US" sz="1350" b="1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171</a:t>
                      </a:r>
                      <a:r>
                        <a:rPr lang="zh-CN" sz="1350" b="1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万股</a:t>
                      </a:r>
                      <a:endParaRPr lang="zh-CN" sz="1350" b="1">
                        <a:solidFill>
                          <a:srgbClr val="112D28"/>
                        </a:solidFill>
                        <a:cs typeface="微软雅黑" panose="020B0503020204020204" charset="-122"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r"/>
                      <a:r>
                        <a:rPr sz="1350" b="0">
                          <a:solidFill>
                            <a:srgbClr val="112D28"/>
                          </a:solidFill>
                        </a:rPr>
                        <a:t>2.07%</a:t>
                      </a:r>
                      <a:endParaRPr sz="1350" b="0">
                        <a:solidFill>
                          <a:srgbClr val="112D28"/>
                        </a:solidFill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600">
                          <a:highlight>
                            <a:srgbClr val="9A7F5E"/>
                          </a:highlight>
                        </a:rPr>
                        <a:t> </a:t>
                      </a:r>
                      <a:r>
                        <a:rPr sz="1200" b="0">
                          <a:solidFill>
                            <a:srgbClr val="FFFFFF"/>
                          </a:solidFill>
                          <a:highlight>
                            <a:srgbClr val="9A7F5E"/>
                          </a:highlight>
                        </a:rPr>
                        <a:t>员工持股平台</a:t>
                      </a:r>
                      <a:r>
                        <a:rPr sz="600">
                          <a:highlight>
                            <a:srgbClr val="9A7F5E"/>
                          </a:highlight>
                        </a:rPr>
                        <a:t> </a:t>
                      </a:r>
                      <a:endParaRPr sz="600">
                        <a:highlight>
                          <a:srgbClr val="9A7F5E"/>
                        </a:highlight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963368"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112D28"/>
                          </a:solidFill>
                        </a:rPr>
                        <a:t>幸福二期</a:t>
                      </a:r>
                      <a:endParaRPr sz="1350" b="1">
                        <a:solidFill>
                          <a:srgbClr val="112D28"/>
                        </a:solidFill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p>
                      <a:pPr algn="r"/>
                      <a:r>
                        <a:rPr lang="en-US" sz="1350" b="1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300</a:t>
                      </a:r>
                      <a:r>
                        <a:rPr lang="zh-CN" sz="1350" b="1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万股</a:t>
                      </a:r>
                      <a:endParaRPr lang="zh-CN" sz="1350" b="1">
                        <a:solidFill>
                          <a:srgbClr val="112D28"/>
                        </a:solidFill>
                        <a:cs typeface="微软雅黑" panose="020B0503020204020204" charset="-122"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p>
                      <a:pPr algn="r"/>
                      <a:r>
                        <a:rPr sz="1350" b="0">
                          <a:solidFill>
                            <a:srgbClr val="112D28"/>
                          </a:solidFill>
                        </a:rPr>
                        <a:t>3.64%</a:t>
                      </a:r>
                      <a:endParaRPr sz="1350" b="0">
                        <a:solidFill>
                          <a:srgbClr val="112D28"/>
                        </a:solidFill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600">
                          <a:highlight>
                            <a:srgbClr val="FFFFFF"/>
                          </a:highlight>
                        </a:rPr>
                        <a:t> </a:t>
                      </a:r>
                      <a:r>
                        <a:rPr sz="1200" b="0">
                          <a:solidFill>
                            <a:srgbClr val="3A5652"/>
                          </a:solidFill>
                          <a:highlight>
                            <a:srgbClr val="FFFFFF"/>
                          </a:highlight>
                        </a:rPr>
                        <a:t>外部投资机构</a:t>
                      </a:r>
                      <a:r>
                        <a:rPr sz="600">
                          <a:highlight>
                            <a:srgbClr val="FFFFFF"/>
                          </a:highlight>
                        </a:rPr>
                        <a:t> </a:t>
                      </a:r>
                      <a:endParaRPr sz="600">
                        <a:highlight>
                          <a:srgbClr val="FFFFFF"/>
                        </a:highlight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8F5"/>
                    </a:solidFill>
                  </a:tcPr>
                </a:tc>
              </a:tr>
            </a:tbl>
          </a:graphicData>
        </a:graphic>
      </p:graphicFrame>
      <p:sp>
        <p:nvSpPr>
          <p:cNvPr id="25" name="任意多边形 24"/>
          <p:cNvSpPr/>
          <p:nvPr>
            <p:custDataLst>
              <p:tags r:id="rId19"/>
            </p:custDataLst>
          </p:nvPr>
        </p:nvSpPr>
        <p:spPr>
          <a:xfrm>
            <a:off x="6750685" y="315976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80 w 540"/>
              <a:gd name="p0y0" fmla="*/ 0 h 540"/>
              <a:gd name="p0x1" fmla="*/ 360 w 540"/>
              <a:gd name="p0y1" fmla="*/ 0 h 540"/>
              <a:gd name="p0x2" fmla="*/ 459 w 540"/>
              <a:gd name="p0y2" fmla="*/ 0 h 540"/>
              <a:gd name="p0x3" fmla="*/ 540 w 540"/>
              <a:gd name="p0y3" fmla="*/ 80 h 540"/>
              <a:gd name="p0x4" fmla="*/ 540 w 540"/>
              <a:gd name="p0y4" fmla="*/ 180 h 540"/>
              <a:gd name="p0x5" fmla="*/ 540 w 540"/>
              <a:gd name="p0y5" fmla="*/ 360 h 540"/>
              <a:gd name="p0x6" fmla="*/ 540 w 540"/>
              <a:gd name="p0y6" fmla="*/ 459 h 540"/>
              <a:gd name="p0x7" fmla="*/ 459 w 540"/>
              <a:gd name="p0y7" fmla="*/ 540 h 540"/>
              <a:gd name="p0x8" fmla="*/ 360 w 540"/>
              <a:gd name="p0y8" fmla="*/ 540 h 540"/>
              <a:gd name="p0x9" fmla="*/ 180 w 540"/>
              <a:gd name="p0y9" fmla="*/ 540 h 540"/>
              <a:gd name="p0x10" fmla="*/ 80 w 540"/>
              <a:gd name="p0y10" fmla="*/ 540 h 540"/>
              <a:gd name="p0x11" fmla="*/ 0 w 540"/>
              <a:gd name="p0y11" fmla="*/ 459 h 540"/>
              <a:gd name="p0x12" fmla="*/ 0 w 540"/>
              <a:gd name="p0y12" fmla="*/ 360 h 540"/>
              <a:gd name="p0x13" fmla="*/ 0 w 540"/>
              <a:gd name="p0y13" fmla="*/ 180 h 540"/>
              <a:gd name="p0x14" fmla="*/ 0 w 540"/>
              <a:gd name="p0y14" fmla="*/ 80 h 540"/>
              <a:gd name="p0x15" fmla="*/ 80 w 540"/>
              <a:gd name="p0y15" fmla="*/ 0 h 540"/>
              <a:gd name="p0x16" fmla="*/ 18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EE5D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-2949" t="-3492" r="-2949" b="-3492"/>
          <a:stretch>
            <a:fillRect/>
          </a:stretch>
        </p:blipFill>
        <p:spPr>
          <a:xfrm>
            <a:off x="6791325" y="3221990"/>
            <a:ext cx="262255" cy="213995"/>
          </a:xfrm>
          <a:prstGeom prst="rect">
            <a:avLst/>
          </a:prstGeom>
        </p:spPr>
      </p:pic>
      <p:sp>
        <p:nvSpPr>
          <p:cNvPr id="27" name="文本框 26"/>
          <p:cNvSpPr txBox="1"/>
          <p:nvPr>
            <p:custDataLst>
              <p:tags r:id="rId23"/>
            </p:custDataLst>
          </p:nvPr>
        </p:nvSpPr>
        <p:spPr>
          <a:xfrm>
            <a:off x="7208492" y="3146079"/>
            <a:ext cx="4412009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112D28"/>
                </a:solidFill>
              </a:rPr>
              <a:t>价格对比</a:t>
            </a:r>
            <a:endParaRPr sz="1500" b="1">
              <a:solidFill>
                <a:srgbClr val="112D28"/>
              </a:solidFill>
            </a:endParaRPr>
          </a:p>
        </p:txBody>
      </p:sp>
      <p:sp>
        <p:nvSpPr>
          <p:cNvPr id="28" name="文本框 27"/>
          <p:cNvSpPr txBox="1"/>
          <p:nvPr>
            <p:custDataLst>
              <p:tags r:id="rId24"/>
            </p:custDataLst>
          </p:nvPr>
        </p:nvSpPr>
        <p:spPr>
          <a:xfrm>
            <a:off x="7208492" y="3421351"/>
            <a:ext cx="4279706" cy="5714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sz="1350">
                <a:solidFill>
                  <a:srgbClr val="3A5652"/>
                </a:solidFill>
              </a:rPr>
              <a:t>策星银河和策星逐日入股价格</a:t>
            </a:r>
            <a:r>
              <a:rPr lang="en-US" sz="1350" b="1">
                <a:solidFill>
                  <a:srgbClr val="9A7F5E"/>
                </a:solidFill>
                <a:cs typeface="微软雅黑" panose="020B0503020204020204" charset="-122"/>
              </a:rPr>
              <a:t>6.30</a:t>
            </a:r>
            <a:r>
              <a:rPr lang="zh-CN" altLang="en-US" sz="1350" b="1">
                <a:solidFill>
                  <a:srgbClr val="9A7F5E"/>
                </a:solidFill>
                <a:cs typeface="微软雅黑" panose="020B0503020204020204" charset="-122"/>
              </a:rPr>
              <a:t>元</a:t>
            </a:r>
            <a:r>
              <a:rPr lang="zh-CN" altLang="en-US" sz="1350">
                <a:solidFill>
                  <a:srgbClr val="3A5652"/>
                </a:solidFill>
                <a:cs typeface="微软雅黑" panose="020B0503020204020204" charset="-122"/>
              </a:rPr>
              <a:t>，低于</a:t>
            </a:r>
            <a:r>
              <a:rPr lang="en-US" altLang="zh-CN" sz="1350">
                <a:solidFill>
                  <a:srgbClr val="3A5652"/>
                </a:solidFill>
                <a:cs typeface="微软雅黑" panose="020B0503020204020204" charset="-122"/>
              </a:rPr>
              <a:t>IPO</a:t>
            </a:r>
            <a:r>
              <a:rPr lang="zh-CN" altLang="en-US" sz="1350">
                <a:solidFill>
                  <a:srgbClr val="3A5652"/>
                </a:solidFill>
                <a:cs typeface="微软雅黑" panose="020B0503020204020204" charset="-122"/>
              </a:rPr>
              <a:t>价格</a:t>
            </a:r>
            <a:r>
              <a:rPr lang="en-US" sz="1350" b="1">
                <a:solidFill>
                  <a:srgbClr val="9A7F5E"/>
                </a:solidFill>
                <a:cs typeface="微软雅黑" panose="020B0503020204020204" charset="-122"/>
              </a:rPr>
              <a:t>6.92</a:t>
            </a:r>
            <a:r>
              <a:rPr lang="zh-CN" sz="1350" b="1">
                <a:solidFill>
                  <a:srgbClr val="9A7F5E"/>
                </a:solidFill>
                <a:cs typeface="微软雅黑" panose="020B0503020204020204" charset="-122"/>
              </a:rPr>
              <a:t>元</a:t>
            </a:r>
            <a:endParaRPr lang="zh-CN" sz="1350" b="1">
              <a:solidFill>
                <a:srgbClr val="9A7F5E"/>
              </a:solidFill>
              <a:cs typeface="微软雅黑" panose="020B0503020204020204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25"/>
            </p:custDataLst>
          </p:nvPr>
        </p:nvSpPr>
        <p:spPr>
          <a:xfrm>
            <a:off x="6750685" y="408495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80 w 540"/>
              <a:gd name="p0y0" fmla="*/ 0 h 540"/>
              <a:gd name="p0x1" fmla="*/ 360 w 540"/>
              <a:gd name="p0y1" fmla="*/ 0 h 540"/>
              <a:gd name="p0x2" fmla="*/ 459 w 540"/>
              <a:gd name="p0y2" fmla="*/ 0 h 540"/>
              <a:gd name="p0x3" fmla="*/ 540 w 540"/>
              <a:gd name="p0y3" fmla="*/ 80 h 540"/>
              <a:gd name="p0x4" fmla="*/ 540 w 540"/>
              <a:gd name="p0y4" fmla="*/ 180 h 540"/>
              <a:gd name="p0x5" fmla="*/ 540 w 540"/>
              <a:gd name="p0y5" fmla="*/ 360 h 540"/>
              <a:gd name="p0x6" fmla="*/ 540 w 540"/>
              <a:gd name="p0y6" fmla="*/ 459 h 540"/>
              <a:gd name="p0x7" fmla="*/ 459 w 540"/>
              <a:gd name="p0y7" fmla="*/ 540 h 540"/>
              <a:gd name="p0x8" fmla="*/ 360 w 540"/>
              <a:gd name="p0y8" fmla="*/ 540 h 540"/>
              <a:gd name="p0x9" fmla="*/ 180 w 540"/>
              <a:gd name="p0y9" fmla="*/ 540 h 540"/>
              <a:gd name="p0x10" fmla="*/ 80 w 540"/>
              <a:gd name="p0y10" fmla="*/ 540 h 540"/>
              <a:gd name="p0x11" fmla="*/ 0 w 540"/>
              <a:gd name="p0y11" fmla="*/ 459 h 540"/>
              <a:gd name="p0x12" fmla="*/ 0 w 540"/>
              <a:gd name="p0y12" fmla="*/ 360 h 540"/>
              <a:gd name="p0x13" fmla="*/ 0 w 540"/>
              <a:gd name="p0y13" fmla="*/ 180 h 540"/>
              <a:gd name="p0x14" fmla="*/ 0 w 540"/>
              <a:gd name="p0y14" fmla="*/ 80 h 540"/>
              <a:gd name="p0x15" fmla="*/ 80 w 540"/>
              <a:gd name="p0y15" fmla="*/ 0 h 540"/>
              <a:gd name="p0x16" fmla="*/ 18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EE5D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-2083" t="-12407" r="-2083" b="-12407"/>
          <a:stretch>
            <a:fillRect/>
          </a:stretch>
        </p:blipFill>
        <p:spPr>
          <a:xfrm>
            <a:off x="6803390" y="4147185"/>
            <a:ext cx="238125" cy="213995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29"/>
            </p:custDataLst>
          </p:nvPr>
        </p:nvSpPr>
        <p:spPr>
          <a:xfrm>
            <a:off x="7208492" y="4071195"/>
            <a:ext cx="4412009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112D28"/>
                </a:solidFill>
              </a:rPr>
              <a:t>身份区分关键</a:t>
            </a:r>
            <a:endParaRPr sz="1500" b="1">
              <a:solidFill>
                <a:srgbClr val="112D28"/>
              </a:solidFill>
            </a:endParaRPr>
          </a:p>
        </p:txBody>
      </p:sp>
      <p:sp>
        <p:nvSpPr>
          <p:cNvPr id="32" name="文本框 31"/>
          <p:cNvSpPr txBox="1"/>
          <p:nvPr>
            <p:custDataLst>
              <p:tags r:id="rId30"/>
            </p:custDataLst>
          </p:nvPr>
        </p:nvSpPr>
        <p:spPr>
          <a:xfrm>
            <a:off x="7208492" y="4346467"/>
            <a:ext cx="4412009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3A5652"/>
                </a:solidFill>
                <a:cs typeface="微软雅黑" panose="020B0503020204020204" charset="-122"/>
              </a:rPr>
              <a:t>如果不区分身份，会误判为</a:t>
            </a:r>
            <a:r>
              <a:rPr lang="en-US" altLang="zh-CN" sz="1350">
                <a:solidFill>
                  <a:srgbClr val="3A5652"/>
                </a:solidFill>
                <a:cs typeface="微软雅黑" panose="020B0503020204020204" charset="-122"/>
              </a:rPr>
              <a:t>"</a:t>
            </a:r>
            <a:r>
              <a:rPr lang="zh-CN" altLang="en-US" sz="1350">
                <a:solidFill>
                  <a:srgbClr val="3A5652"/>
                </a:solidFill>
                <a:cs typeface="微软雅黑" panose="020B0503020204020204" charset="-122"/>
              </a:rPr>
              <a:t>折价入股的</a:t>
            </a:r>
            <a:r>
              <a:rPr lang="en-US" altLang="zh-CN" sz="1350">
                <a:solidFill>
                  <a:srgbClr val="3A5652"/>
                </a:solidFill>
                <a:cs typeface="微软雅黑" panose="020B0503020204020204" charset="-122"/>
              </a:rPr>
              <a:t>PE/VC"</a:t>
            </a:r>
            <a:endParaRPr lang="en-US" altLang="zh-CN" sz="1350">
              <a:solidFill>
                <a:srgbClr val="3A5652"/>
              </a:solidFill>
              <a:cs typeface="微软雅黑" panose="020B0503020204020204" charset="-122"/>
            </a:endParaRPr>
          </a:p>
        </p:txBody>
      </p:sp>
      <p:sp>
        <p:nvSpPr>
          <p:cNvPr id="33" name="任意多边形 32"/>
          <p:cNvSpPr/>
          <p:nvPr>
            <p:custDataLst>
              <p:tags r:id="rId31"/>
            </p:custDataLst>
          </p:nvPr>
        </p:nvSpPr>
        <p:spPr>
          <a:xfrm>
            <a:off x="6750685" y="474091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80 w 540"/>
              <a:gd name="p0y0" fmla="*/ 0 h 540"/>
              <a:gd name="p0x1" fmla="*/ 360 w 540"/>
              <a:gd name="p0y1" fmla="*/ 0 h 540"/>
              <a:gd name="p0x2" fmla="*/ 459 w 540"/>
              <a:gd name="p0y2" fmla="*/ 0 h 540"/>
              <a:gd name="p0x3" fmla="*/ 540 w 540"/>
              <a:gd name="p0y3" fmla="*/ 80 h 540"/>
              <a:gd name="p0x4" fmla="*/ 540 w 540"/>
              <a:gd name="p0y4" fmla="*/ 180 h 540"/>
              <a:gd name="p0x5" fmla="*/ 540 w 540"/>
              <a:gd name="p0y5" fmla="*/ 360 h 540"/>
              <a:gd name="p0x6" fmla="*/ 540 w 540"/>
              <a:gd name="p0y6" fmla="*/ 459 h 540"/>
              <a:gd name="p0x7" fmla="*/ 459 w 540"/>
              <a:gd name="p0y7" fmla="*/ 540 h 540"/>
              <a:gd name="p0x8" fmla="*/ 360 w 540"/>
              <a:gd name="p0y8" fmla="*/ 540 h 540"/>
              <a:gd name="p0x9" fmla="*/ 180 w 540"/>
              <a:gd name="p0y9" fmla="*/ 540 h 540"/>
              <a:gd name="p0x10" fmla="*/ 80 w 540"/>
              <a:gd name="p0y10" fmla="*/ 540 h 540"/>
              <a:gd name="p0x11" fmla="*/ 0 w 540"/>
              <a:gd name="p0y11" fmla="*/ 459 h 540"/>
              <a:gd name="p0x12" fmla="*/ 0 w 540"/>
              <a:gd name="p0y12" fmla="*/ 360 h 540"/>
              <a:gd name="p0x13" fmla="*/ 0 w 540"/>
              <a:gd name="p0y13" fmla="*/ 180 h 540"/>
              <a:gd name="p0x14" fmla="*/ 0 w 540"/>
              <a:gd name="p0y14" fmla="*/ 80 h 540"/>
              <a:gd name="p0x15" fmla="*/ 80 w 540"/>
              <a:gd name="p0y15" fmla="*/ 0 h 540"/>
              <a:gd name="p0x16" fmla="*/ 18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EE5D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4" name="图片 33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 l="-2381" t="-9298" r="-2381" b="-9298"/>
          <a:stretch>
            <a:fillRect/>
          </a:stretch>
        </p:blipFill>
        <p:spPr>
          <a:xfrm>
            <a:off x="6817360" y="4802505"/>
            <a:ext cx="209550" cy="214630"/>
          </a:xfrm>
          <a:prstGeom prst="rect">
            <a:avLst/>
          </a:prstGeom>
        </p:spPr>
      </p:pic>
      <p:sp>
        <p:nvSpPr>
          <p:cNvPr id="35" name="文本框 34"/>
          <p:cNvSpPr txBox="1"/>
          <p:nvPr>
            <p:custDataLst>
              <p:tags r:id="rId35"/>
            </p:custDataLst>
          </p:nvPr>
        </p:nvSpPr>
        <p:spPr>
          <a:xfrm>
            <a:off x="7208492" y="4726705"/>
            <a:ext cx="4412009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112D28"/>
                </a:solidFill>
              </a:rPr>
              <a:t>激励安排本质</a:t>
            </a:r>
            <a:endParaRPr sz="1500" b="1">
              <a:solidFill>
                <a:srgbClr val="112D28"/>
              </a:solidFill>
            </a:endParaRPr>
          </a:p>
        </p:txBody>
      </p:sp>
      <p:sp>
        <p:nvSpPr>
          <p:cNvPr id="36" name="文本框 35"/>
          <p:cNvSpPr txBox="1"/>
          <p:nvPr>
            <p:custDataLst>
              <p:tags r:id="rId36"/>
            </p:custDataLst>
          </p:nvPr>
        </p:nvSpPr>
        <p:spPr>
          <a:xfrm>
            <a:off x="7208492" y="5001978"/>
            <a:ext cx="4412009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3A5652"/>
                </a:solidFill>
                <a:cs typeface="微软雅黑" panose="020B0503020204020204" charset="-122"/>
              </a:rPr>
              <a:t>实际上这是员工股权激励</a:t>
            </a:r>
            <a:r>
              <a:rPr lang="en-US" altLang="zh-CN" sz="1350">
                <a:solidFill>
                  <a:srgbClr val="3A5652"/>
                </a:solidFill>
                <a:cs typeface="微软雅黑" panose="020B0503020204020204" charset="-122"/>
              </a:rPr>
              <a:t>——</a:t>
            </a:r>
            <a:r>
              <a:rPr lang="zh-CN" altLang="en-US" sz="1350">
                <a:solidFill>
                  <a:srgbClr val="3A5652"/>
                </a:solidFill>
                <a:cs typeface="微软雅黑" panose="020B0503020204020204" charset="-122"/>
              </a:rPr>
              <a:t>入股价格低于市场价是正常的激励安排</a:t>
            </a:r>
            <a:endParaRPr lang="zh-CN" altLang="en-US" sz="1350">
              <a:solidFill>
                <a:srgbClr val="3A5652"/>
              </a:solidFill>
              <a:cs typeface="微软雅黑" panose="020B0503020204020204" charset="-122"/>
            </a:endParaRPr>
          </a:p>
        </p:txBody>
      </p:sp>
      <p:sp>
        <p:nvSpPr>
          <p:cNvPr id="37" name="任意多边形 36"/>
          <p:cNvSpPr/>
          <p:nvPr>
            <p:custDataLst>
              <p:tags r:id="rId37"/>
            </p:custDataLst>
          </p:nvPr>
        </p:nvSpPr>
        <p:spPr>
          <a:xfrm>
            <a:off x="6750685" y="566610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80 w 540"/>
              <a:gd name="p0y0" fmla="*/ 0 h 540"/>
              <a:gd name="p0x1" fmla="*/ 360 w 540"/>
              <a:gd name="p0y1" fmla="*/ 0 h 540"/>
              <a:gd name="p0x2" fmla="*/ 459 w 540"/>
              <a:gd name="p0y2" fmla="*/ 0 h 540"/>
              <a:gd name="p0x3" fmla="*/ 540 w 540"/>
              <a:gd name="p0y3" fmla="*/ 80 h 540"/>
              <a:gd name="p0x4" fmla="*/ 540 w 540"/>
              <a:gd name="p0y4" fmla="*/ 180 h 540"/>
              <a:gd name="p0x5" fmla="*/ 540 w 540"/>
              <a:gd name="p0y5" fmla="*/ 360 h 540"/>
              <a:gd name="p0x6" fmla="*/ 540 w 540"/>
              <a:gd name="p0y6" fmla="*/ 459 h 540"/>
              <a:gd name="p0x7" fmla="*/ 459 w 540"/>
              <a:gd name="p0y7" fmla="*/ 540 h 540"/>
              <a:gd name="p0x8" fmla="*/ 360 w 540"/>
              <a:gd name="p0y8" fmla="*/ 540 h 540"/>
              <a:gd name="p0x9" fmla="*/ 180 w 540"/>
              <a:gd name="p0y9" fmla="*/ 540 h 540"/>
              <a:gd name="p0x10" fmla="*/ 80 w 540"/>
              <a:gd name="p0y10" fmla="*/ 540 h 540"/>
              <a:gd name="p0x11" fmla="*/ 0 w 540"/>
              <a:gd name="p0y11" fmla="*/ 459 h 540"/>
              <a:gd name="p0x12" fmla="*/ 0 w 540"/>
              <a:gd name="p0y12" fmla="*/ 360 h 540"/>
              <a:gd name="p0x13" fmla="*/ 0 w 540"/>
              <a:gd name="p0y13" fmla="*/ 180 h 540"/>
              <a:gd name="p0x14" fmla="*/ 0 w 540"/>
              <a:gd name="p0y14" fmla="*/ 80 h 540"/>
              <a:gd name="p0x15" fmla="*/ 80 w 540"/>
              <a:gd name="p0y15" fmla="*/ 0 h 540"/>
              <a:gd name="p0x16" fmla="*/ 18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EE5D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8" name="图片 37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 l="-7895" t="-9298" r="-7895" b="-9298"/>
          <a:stretch>
            <a:fillRect/>
          </a:stretch>
        </p:blipFill>
        <p:spPr>
          <a:xfrm>
            <a:off x="6817360" y="5727700"/>
            <a:ext cx="209550" cy="214630"/>
          </a:xfrm>
          <a:prstGeom prst="rect">
            <a:avLst/>
          </a:prstGeom>
        </p:spPr>
      </p:pic>
      <p:sp>
        <p:nvSpPr>
          <p:cNvPr id="39" name="文本框 38"/>
          <p:cNvSpPr txBox="1"/>
          <p:nvPr>
            <p:custDataLst>
              <p:tags r:id="rId41"/>
            </p:custDataLst>
          </p:nvPr>
        </p:nvSpPr>
        <p:spPr>
          <a:xfrm>
            <a:off x="7208492" y="5651821"/>
            <a:ext cx="4412009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112D28"/>
                </a:solidFill>
              </a:rPr>
              <a:t>数据标注要求</a:t>
            </a:r>
            <a:endParaRPr sz="1500" b="1">
              <a:solidFill>
                <a:srgbClr val="112D28"/>
              </a:solidFill>
            </a:endParaRPr>
          </a:p>
        </p:txBody>
      </p:sp>
      <p:sp>
        <p:nvSpPr>
          <p:cNvPr id="40" name="文本框 39"/>
          <p:cNvSpPr txBox="1"/>
          <p:nvPr>
            <p:custDataLst>
              <p:tags r:id="rId42"/>
            </p:custDataLst>
          </p:nvPr>
        </p:nvSpPr>
        <p:spPr>
          <a:xfrm>
            <a:off x="7208492" y="5927093"/>
            <a:ext cx="4412008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652"/>
                </a:solidFill>
              </a:rPr>
              <a:t>在认缴流量表中，所有认购方数据格式一样，但分析时必须标注</a:t>
            </a:r>
            <a:r>
              <a:rPr sz="600">
                <a:highlight>
                  <a:srgbClr val="EEE5DA"/>
                </a:highlight>
              </a:rPr>
              <a:t> </a:t>
            </a:r>
            <a:r>
              <a:rPr sz="1200">
                <a:solidFill>
                  <a:srgbClr val="4A3B2C"/>
                </a:solidFill>
                <a:highlight>
                  <a:srgbClr val="EEE5DA"/>
                </a:highlight>
              </a:rPr>
              <a:t>investor_type</a:t>
            </a:r>
            <a:r>
              <a:rPr sz="600">
                <a:highlight>
                  <a:srgbClr val="EEE5DA"/>
                </a:highlight>
              </a:rPr>
              <a:t> </a:t>
            </a:r>
            <a:r>
              <a:rPr sz="1350">
                <a:solidFill>
                  <a:srgbClr val="3A5652"/>
                </a:solidFill>
              </a:rPr>
              <a:t>加以区分</a:t>
            </a:r>
            <a:endParaRPr sz="1350">
              <a:solidFill>
                <a:srgbClr val="3A5652"/>
              </a:solidFill>
            </a:endParaRPr>
          </a:p>
        </p:txBody>
      </p:sp>
      <p:sp>
        <p:nvSpPr>
          <p:cNvPr id="10" name="任意多边形 9"/>
          <p:cNvSpPr/>
          <p:nvPr>
            <p:custDataLst>
              <p:tags r:id="rId43"/>
            </p:custDataLst>
          </p:nvPr>
        </p:nvSpPr>
        <p:spPr>
          <a:xfrm>
            <a:off x="4184650" y="1296670"/>
            <a:ext cx="3822065" cy="1442720"/>
          </a:xfrm>
          <a:custGeom>
            <a:avLst/>
            <a:gdLst>
              <a:gd name="sw" fmla="*/ 1 w 6018"/>
              <a:gd name="sh" fmla="*/ 1 h 2272"/>
              <a:gd name="mins" fmla="min sw sh"/>
              <a:gd name="dsw" fmla="+- 0 sw mins"/>
              <a:gd name="dsh" fmla="+- 0 sh mins"/>
              <a:gd name="p0x0" fmla="*/ 90 w 6018"/>
              <a:gd name="p0y0" fmla="*/ 0 h 2272"/>
              <a:gd name="p0x1" fmla="*/ 5928 w 6018"/>
              <a:gd name="p0y1" fmla="*/ 0 h 2272"/>
              <a:gd name="p0x2" fmla="*/ 5978 w 6018"/>
              <a:gd name="p0y2" fmla="*/ 0 h 2272"/>
              <a:gd name="p0x3" fmla="*/ 6018 w 6018"/>
              <a:gd name="p0y3" fmla="*/ 40 h 2272"/>
              <a:gd name="p0x4" fmla="*/ 6018 w 6018"/>
              <a:gd name="p0y4" fmla="*/ 90 h 2272"/>
              <a:gd name="p0x5" fmla="*/ 6018 w 6018"/>
              <a:gd name="p0y5" fmla="*/ 2182 h 2272"/>
              <a:gd name="p0x6" fmla="*/ 6018 w 6018"/>
              <a:gd name="p0y6" fmla="*/ 2232 h 2272"/>
              <a:gd name="p0x7" fmla="*/ 5978 w 6018"/>
              <a:gd name="p0y7" fmla="*/ 2272 h 2272"/>
              <a:gd name="p0x8" fmla="*/ 5928 w 6018"/>
              <a:gd name="p0y8" fmla="*/ 2272 h 2272"/>
              <a:gd name="p0x9" fmla="*/ 90 w 6018"/>
              <a:gd name="p0y9" fmla="*/ 2272 h 2272"/>
              <a:gd name="p0x10" fmla="*/ 40 w 6018"/>
              <a:gd name="p0y10" fmla="*/ 2272 h 2272"/>
              <a:gd name="p0x11" fmla="*/ 0 w 6018"/>
              <a:gd name="p0y11" fmla="*/ 2232 h 2272"/>
              <a:gd name="p0x12" fmla="*/ 0 w 6018"/>
              <a:gd name="p0y12" fmla="*/ 2182 h 2272"/>
              <a:gd name="p0x13" fmla="*/ 0 w 6018"/>
              <a:gd name="p0y13" fmla="*/ 90 h 2272"/>
              <a:gd name="p0x14" fmla="*/ 0 w 6018"/>
              <a:gd name="p0y14" fmla="*/ 40 h 2272"/>
              <a:gd name="p0x15" fmla="*/ 40 w 6018"/>
              <a:gd name="p0y15" fmla="*/ 0 h 2272"/>
              <a:gd name="p0x16" fmla="*/ 90 w 6018"/>
              <a:gd name="p0y16" fmla="*/ 0 h 227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9A7F5E"/>
          </a:solidFill>
          <a:ln w="9525" cmpd="sng">
            <a:solidFill>
              <a:srgbClr val="DBD4C9"/>
            </a:solidFill>
            <a:prstDash val="solid"/>
          </a:ln>
          <a:effectLst>
            <a:outerShdw blurRad="42863" dist="9525" dir="5399999" algn="ctr" rotWithShape="0">
              <a:srgbClr val="112D28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44"/>
            </p:custDataLst>
          </p:nvPr>
        </p:nvSpPr>
        <p:spPr>
          <a:xfrm>
            <a:off x="5464378" y="1415872"/>
            <a:ext cx="1434703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en-US" sz="1350">
                <a:solidFill>
                  <a:srgbClr val="FFFFFF"/>
                </a:solidFill>
                <a:cs typeface="微软雅黑" panose="020B0503020204020204" charset="-122"/>
              </a:rPr>
              <a:t>2023</a:t>
            </a:r>
            <a:r>
              <a:rPr lang="zh-CN" altLang="en-US" sz="1350">
                <a:solidFill>
                  <a:srgbClr val="FFFFFF"/>
                </a:solidFill>
                <a:cs typeface="微软雅黑" panose="020B0503020204020204" charset="-122"/>
              </a:rPr>
              <a:t>年</a:t>
            </a:r>
            <a:r>
              <a:rPr lang="en-US" altLang="zh-CN" sz="1350">
                <a:solidFill>
                  <a:srgbClr val="FFFFFF"/>
                </a:solidFill>
                <a:cs typeface="微软雅黑" panose="020B0503020204020204" charset="-122"/>
              </a:rPr>
              <a:t>5</a:t>
            </a:r>
            <a:r>
              <a:rPr lang="zh-CN" altLang="en-US" sz="1350">
                <a:solidFill>
                  <a:srgbClr val="FFFFFF"/>
                </a:solidFill>
                <a:cs typeface="微软雅黑" panose="020B0503020204020204" charset="-122"/>
              </a:rPr>
              <a:t>月</a:t>
            </a:r>
            <a:r>
              <a:rPr lang="en-US" altLang="zh-CN" sz="1350">
                <a:solidFill>
                  <a:srgbClr val="FFFFFF"/>
                </a:solidFill>
                <a:cs typeface="微软雅黑" panose="020B0503020204020204" charset="-122"/>
              </a:rPr>
              <a:t>19</a:t>
            </a:r>
            <a:r>
              <a:rPr lang="zh-CN" altLang="en-US" sz="1350">
                <a:solidFill>
                  <a:srgbClr val="FFFFFF"/>
                </a:solidFill>
                <a:cs typeface="微软雅黑" panose="020B0503020204020204" charset="-122"/>
              </a:rPr>
              <a:t>日</a:t>
            </a:r>
            <a:endParaRPr lang="zh-CN" altLang="en-US" sz="1350">
              <a:solidFill>
                <a:srgbClr val="FFFFFF"/>
              </a:solidFill>
              <a:cs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45"/>
            </p:custDataLst>
          </p:nvPr>
        </p:nvSpPr>
        <p:spPr>
          <a:xfrm>
            <a:off x="5334000" y="172021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80 w 660"/>
              <a:gd name="p0y0" fmla="*/ 0 h 660"/>
              <a:gd name="p0x1" fmla="*/ 480 w 660"/>
              <a:gd name="p0y1" fmla="*/ 0 h 660"/>
              <a:gd name="p0x2" fmla="*/ 579 w 660"/>
              <a:gd name="p0y2" fmla="*/ 0 h 660"/>
              <a:gd name="p0x3" fmla="*/ 660 w 660"/>
              <a:gd name="p0y3" fmla="*/ 80 h 660"/>
              <a:gd name="p0x4" fmla="*/ 660 w 660"/>
              <a:gd name="p0y4" fmla="*/ 180 h 660"/>
              <a:gd name="p0x5" fmla="*/ 660 w 660"/>
              <a:gd name="p0y5" fmla="*/ 480 h 660"/>
              <a:gd name="p0x6" fmla="*/ 660 w 660"/>
              <a:gd name="p0y6" fmla="*/ 579 h 660"/>
              <a:gd name="p0x7" fmla="*/ 579 w 660"/>
              <a:gd name="p0y7" fmla="*/ 660 h 660"/>
              <a:gd name="p0x8" fmla="*/ 480 w 660"/>
              <a:gd name="p0y8" fmla="*/ 660 h 660"/>
              <a:gd name="p0x9" fmla="*/ 180 w 660"/>
              <a:gd name="p0y9" fmla="*/ 660 h 660"/>
              <a:gd name="p0x10" fmla="*/ 80 w 660"/>
              <a:gd name="p0y10" fmla="*/ 660 h 660"/>
              <a:gd name="p0x11" fmla="*/ 0 w 660"/>
              <a:gd name="p0y11" fmla="*/ 579 h 660"/>
              <a:gd name="p0x12" fmla="*/ 0 w 660"/>
              <a:gd name="p0y12" fmla="*/ 480 h 660"/>
              <a:gd name="p0x13" fmla="*/ 0 w 660"/>
              <a:gd name="p0y13" fmla="*/ 180 h 660"/>
              <a:gd name="p0x14" fmla="*/ 0 w 660"/>
              <a:gd name="p0y14" fmla="*/ 80 h 660"/>
              <a:gd name="p0x15" fmla="*/ 80 w 660"/>
              <a:gd name="p0y15" fmla="*/ 0 h 660"/>
              <a:gd name="p0x16" fmla="*/ 18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EE5D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 l="-4167" t="-5139" r="-4167" b="-5139"/>
          <a:stretch>
            <a:fillRect/>
          </a:stretch>
        </p:blipFill>
        <p:spPr>
          <a:xfrm>
            <a:off x="5419725" y="1801495"/>
            <a:ext cx="247650" cy="252095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49"/>
            </p:custDataLst>
          </p:nvPr>
        </p:nvSpPr>
        <p:spPr>
          <a:xfrm>
            <a:off x="5791200" y="1754010"/>
            <a:ext cx="13335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FFFFFF"/>
                </a:solidFill>
              </a:rPr>
              <a:t>定向发行</a:t>
            </a:r>
            <a:endParaRPr sz="2100" b="1">
              <a:solidFill>
                <a:srgbClr val="FFFFFF"/>
              </a:solidFill>
            </a:endParaRPr>
          </a:p>
        </p:txBody>
      </p:sp>
      <p:sp>
        <p:nvSpPr>
          <p:cNvPr id="15" name="文本框 14"/>
          <p:cNvSpPr txBox="1"/>
          <p:nvPr>
            <p:custDataLst>
              <p:tags r:id="rId50"/>
            </p:custDataLst>
          </p:nvPr>
        </p:nvSpPr>
        <p:spPr>
          <a:xfrm>
            <a:off x="5080921" y="2215972"/>
            <a:ext cx="875405" cy="4048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400" b="1">
                <a:solidFill>
                  <a:srgbClr val="FFFFFF"/>
                </a:solidFill>
              </a:rPr>
              <a:t>750</a:t>
            </a:r>
            <a:endParaRPr sz="2400" b="1">
              <a:solidFill>
                <a:srgbClr val="FFFFFF"/>
              </a:solidFill>
            </a:endParaRPr>
          </a:p>
        </p:txBody>
      </p:sp>
      <p:sp>
        <p:nvSpPr>
          <p:cNvPr id="16" name="文本框 15"/>
          <p:cNvSpPr txBox="1"/>
          <p:nvPr>
            <p:custDataLst>
              <p:tags r:id="rId51"/>
            </p:custDataLst>
          </p:nvPr>
        </p:nvSpPr>
        <p:spPr>
          <a:xfrm>
            <a:off x="5689626" y="2330272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FFFFFF"/>
                </a:solidFill>
              </a:rPr>
              <a:t>万股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7" name="文本框 16"/>
          <p:cNvSpPr txBox="1"/>
          <p:nvPr>
            <p:custDataLst>
              <p:tags r:id="rId52"/>
            </p:custDataLst>
          </p:nvPr>
        </p:nvSpPr>
        <p:spPr>
          <a:xfrm>
            <a:off x="6108726" y="2344560"/>
            <a:ext cx="1173804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en-US" sz="1350">
                <a:solidFill>
                  <a:srgbClr val="FFFFFF"/>
                </a:solidFill>
                <a:cs typeface="微软雅黑" panose="020B0503020204020204" charset="-122"/>
              </a:rPr>
              <a:t>· 6.30</a:t>
            </a:r>
            <a:r>
              <a:rPr lang="zh-CN" altLang="en-US" sz="1350">
                <a:solidFill>
                  <a:srgbClr val="FFFFFF"/>
                </a:solidFill>
                <a:cs typeface="微软雅黑" panose="020B0503020204020204" charset="-122"/>
              </a:rPr>
              <a:t>元</a:t>
            </a:r>
            <a:r>
              <a:rPr lang="en-US" altLang="zh-CN" sz="1350">
                <a:solidFill>
                  <a:srgbClr val="FFFFFF"/>
                </a:solidFill>
                <a:cs typeface="微软雅黑" panose="020B0503020204020204" charset="-122"/>
              </a:rPr>
              <a:t>/</a:t>
            </a:r>
            <a:r>
              <a:rPr lang="zh-CN" altLang="en-US" sz="1350">
                <a:solidFill>
                  <a:srgbClr val="FFFFFF"/>
                </a:solidFill>
                <a:cs typeface="微软雅黑" panose="020B0503020204020204" charset="-122"/>
              </a:rPr>
              <a:t>股</a:t>
            </a:r>
            <a:endParaRPr lang="zh-CN" altLang="en-US" sz="1350">
              <a:solidFill>
                <a:srgbClr val="FFFFFF"/>
              </a:solidFill>
              <a:cs typeface="微软雅黑" panose="020B0503020204020204" charset="-122"/>
            </a:endParaRPr>
          </a:p>
        </p:txBody>
      </p:sp>
    </p:spTree>
    <p:custDataLst>
      <p:tags r:id="rId5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7826049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+mj-lt"/>
              </a:rPr>
              <a:t>发行前股东结构</a:t>
            </a:r>
            <a:r>
              <a:rPr lang="en-US" altLang="zh-CN">
                <a:latin typeface="+mj-lt"/>
              </a:rPr>
              <a:t> + </a:t>
            </a:r>
            <a:r>
              <a:rPr lang="zh-CN" altLang="en-US">
                <a:latin typeface="+mj-lt"/>
              </a:rPr>
              <a:t>流量存量</a:t>
            </a:r>
            <a:r>
              <a:rPr lang="en-US" altLang="zh-CN">
                <a:latin typeface="+mj-lt"/>
              </a:rPr>
              <a:t>cross-check</a:t>
            </a:r>
            <a:endParaRPr lang="en-US" altLang="zh-CN">
              <a:latin typeface="+mj-lt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782656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latin typeface="+mn-lt"/>
              </a:rPr>
              <a:t>02</a:t>
            </a:r>
            <a:endParaRPr lang="en-US" altLang="en-US">
              <a:latin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112D28"/>
                </a:solidFill>
                <a:cs typeface="微软雅黑" panose="020B0503020204020204" charset="-122"/>
              </a:rPr>
              <a:t>发行前股东结构</a:t>
            </a:r>
            <a:r>
              <a:rPr lang="en-US" altLang="zh-CN" sz="3000" b="1">
                <a:solidFill>
                  <a:srgbClr val="112D28"/>
                </a:solidFill>
                <a:cs typeface="微软雅黑" panose="020B0503020204020204" charset="-122"/>
              </a:rPr>
              <a:t> + </a:t>
            </a:r>
            <a:r>
              <a:rPr lang="zh-CN" altLang="en-US" sz="3000" b="1">
                <a:solidFill>
                  <a:srgbClr val="112D28"/>
                </a:solidFill>
                <a:cs typeface="微软雅黑" panose="020B0503020204020204" charset="-122"/>
              </a:rPr>
              <a:t>流量存量</a:t>
            </a:r>
            <a:r>
              <a:rPr lang="en-US" altLang="zh-CN" sz="3000" b="1">
                <a:solidFill>
                  <a:srgbClr val="112D28"/>
                </a:solidFill>
                <a:cs typeface="微软雅黑" panose="020B0503020204020204" charset="-122"/>
              </a:rPr>
              <a:t>cross-check</a:t>
            </a:r>
            <a:endParaRPr lang="en-US" altLang="zh-CN" sz="3000" b="1">
              <a:solidFill>
                <a:srgbClr val="112D28"/>
              </a:solidFill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71500" y="1094740"/>
            <a:ext cx="11049000" cy="2038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175" b="1">
                <a:solidFill>
                  <a:srgbClr val="112D28"/>
                </a:solidFill>
                <a:cs typeface="微软雅黑" panose="020B0503020204020204" charset="-122"/>
              </a:rPr>
              <a:t>发行前股权结构（</a:t>
            </a:r>
            <a:r>
              <a:rPr lang="en-US" altLang="zh-CN" sz="1175" b="1">
                <a:solidFill>
                  <a:srgbClr val="112D28"/>
                </a:solidFill>
                <a:cs typeface="微软雅黑" panose="020B0503020204020204" charset="-122"/>
              </a:rPr>
              <a:t>PDF</a:t>
            </a:r>
            <a:r>
              <a:rPr lang="zh-CN" altLang="en-US" sz="1175" b="1">
                <a:solidFill>
                  <a:srgbClr val="112D28"/>
                </a:solidFill>
                <a:cs typeface="微软雅黑" panose="020B0503020204020204" charset="-122"/>
              </a:rPr>
              <a:t>第</a:t>
            </a:r>
            <a:r>
              <a:rPr lang="en-US" altLang="zh-CN" sz="1175" b="1">
                <a:solidFill>
                  <a:srgbClr val="112D28"/>
                </a:solidFill>
                <a:cs typeface="微软雅黑" panose="020B0503020204020204" charset="-122"/>
              </a:rPr>
              <a:t>47</a:t>
            </a:r>
            <a:r>
              <a:rPr lang="zh-CN" altLang="en-US" sz="1175" b="1">
                <a:solidFill>
                  <a:srgbClr val="112D28"/>
                </a:solidFill>
                <a:cs typeface="微软雅黑" panose="020B0503020204020204" charset="-122"/>
              </a:rPr>
              <a:t>页）</a:t>
            </a:r>
            <a:endParaRPr lang="zh-CN" altLang="en-US" sz="1175" b="1">
              <a:solidFill>
                <a:srgbClr val="112D28"/>
              </a:solidFill>
              <a:cs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3"/>
            </p:custDataLst>
          </p:nvPr>
        </p:nvGraphicFramePr>
        <p:xfrm>
          <a:off x="577850" y="1299845"/>
          <a:ext cx="11042650" cy="1357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7550"/>
                <a:gridCol w="2429510"/>
                <a:gridCol w="2208530"/>
                <a:gridCol w="4417060"/>
              </a:tblGrid>
              <a:tr h="285115">
                <a:tc>
                  <a:txBody>
                    <a:bodyPr wrap="square"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</a:rPr>
                        <a:t>股东</a:t>
                      </a:r>
                      <a:endParaRPr sz="880" b="1">
                        <a:solidFill>
                          <a:srgbClr val="FFFFFF"/>
                        </a:solidFill>
                      </a:endParaRPr>
                    </a:p>
                  </a:txBody>
                  <a:tcPr marL="74930" marR="74930" marT="49530" marB="49530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9A7F5E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</a:rPr>
                        <a:t>持股数</a:t>
                      </a:r>
                      <a:endParaRPr sz="880" b="1">
                        <a:solidFill>
                          <a:srgbClr val="FFFFFF"/>
                        </a:solidFill>
                      </a:endParaRPr>
                    </a:p>
                  </a:txBody>
                  <a:tcPr marL="74930" marR="74930" marT="49530" marB="49530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9A7F5E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</a:rPr>
                        <a:t>持股比例</a:t>
                      </a:r>
                      <a:endParaRPr sz="880" b="1">
                        <a:solidFill>
                          <a:srgbClr val="FFFFFF"/>
                        </a:solidFill>
                      </a:endParaRPr>
                    </a:p>
                  </a:txBody>
                  <a:tcPr marL="74930" marR="74930" marT="49530" marB="49530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9A7F5E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</a:rPr>
                        <a:t>身份</a:t>
                      </a:r>
                      <a:endParaRPr sz="880" b="1">
                        <a:solidFill>
                          <a:srgbClr val="FFFFFF"/>
                        </a:solidFill>
                      </a:endParaRPr>
                    </a:p>
                  </a:txBody>
                  <a:tcPr marL="74930" marR="74930" marT="49530" marB="49530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9A7F5E"/>
                    </a:solidFill>
                  </a:tcPr>
                </a:tc>
              </a:tr>
              <a:tr h="267970">
                <a:tc>
                  <a:txBody>
                    <a:bodyPr wrap="square"/>
                    <a:p>
                      <a:pPr algn="l"/>
                      <a:r>
                        <a:rPr sz="780" b="0">
                          <a:solidFill>
                            <a:srgbClr val="112D28"/>
                          </a:solidFill>
                        </a:rPr>
                        <a:t>中科星图</a:t>
                      </a:r>
                      <a:endParaRPr sz="780" b="0">
                        <a:solidFill>
                          <a:srgbClr val="112D28"/>
                        </a:solidFill>
                      </a:endParaRPr>
                    </a:p>
                  </a:txBody>
                  <a:tcPr marL="74930" marR="74930" marT="49530" marB="49530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925" b="1" spc="-9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3825</a:t>
                      </a:r>
                      <a:r>
                        <a:rPr lang="zh-CN" sz="925" b="1" spc="-9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万股</a:t>
                      </a:r>
                      <a:endParaRPr lang="zh-CN" sz="925" b="1" spc="-9">
                        <a:solidFill>
                          <a:srgbClr val="112D28"/>
                        </a:solidFill>
                        <a:cs typeface="微软雅黑" panose="020B0503020204020204" charset="-122"/>
                      </a:endParaRPr>
                    </a:p>
                  </a:txBody>
                  <a:tcPr marL="74930" marR="74930" marT="31115" marB="31115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925" b="1" spc="-9">
                          <a:solidFill>
                            <a:srgbClr val="112D28"/>
                          </a:solidFill>
                        </a:rPr>
                        <a:t>46.36%</a:t>
                      </a:r>
                      <a:endParaRPr sz="925" b="1" spc="-9">
                        <a:solidFill>
                          <a:srgbClr val="112D28"/>
                        </a:solidFill>
                      </a:endParaRPr>
                    </a:p>
                  </a:txBody>
                  <a:tcPr marL="74930" marR="74930" marT="31115" marB="31115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780" b="0">
                          <a:solidFill>
                            <a:srgbClr val="112D28"/>
                          </a:solidFill>
                        </a:rPr>
                        <a:t>控股股东（央企）</a:t>
                      </a:r>
                      <a:endParaRPr sz="780" b="0">
                        <a:solidFill>
                          <a:srgbClr val="112D28"/>
                        </a:solidFill>
                      </a:endParaRPr>
                    </a:p>
                  </a:txBody>
                  <a:tcPr marL="74930" marR="74930" marT="49530" marB="49530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</a:tr>
              <a:tr h="267970">
                <a:tc>
                  <a:txBody>
                    <a:bodyPr wrap="square"/>
                    <a:p>
                      <a:pPr algn="l"/>
                      <a:r>
                        <a:rPr sz="780" b="0">
                          <a:solidFill>
                            <a:srgbClr val="112D28"/>
                          </a:solidFill>
                        </a:rPr>
                        <a:t>策星银河</a:t>
                      </a:r>
                      <a:endParaRPr sz="780" b="0">
                        <a:solidFill>
                          <a:srgbClr val="112D28"/>
                        </a:solidFill>
                      </a:endParaRPr>
                    </a:p>
                  </a:txBody>
                  <a:tcPr marL="74930" marR="74930" marT="49530" marB="49530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925" b="1" spc="-9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279</a:t>
                      </a:r>
                      <a:r>
                        <a:rPr lang="zh-CN" sz="925" b="1" spc="-9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万股</a:t>
                      </a:r>
                      <a:endParaRPr lang="zh-CN" sz="925" b="1" spc="-9">
                        <a:solidFill>
                          <a:srgbClr val="112D28"/>
                        </a:solidFill>
                        <a:cs typeface="微软雅黑" panose="020B0503020204020204" charset="-122"/>
                      </a:endParaRPr>
                    </a:p>
                  </a:txBody>
                  <a:tcPr marL="74930" marR="74930" marT="31115" marB="31115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925" b="1" spc="-9">
                          <a:solidFill>
                            <a:srgbClr val="112D28"/>
                          </a:solidFill>
                        </a:rPr>
                        <a:t>3.38%</a:t>
                      </a:r>
                      <a:endParaRPr sz="925" b="1" spc="-9">
                        <a:solidFill>
                          <a:srgbClr val="112D28"/>
                        </a:solidFill>
                      </a:endParaRPr>
                    </a:p>
                  </a:txBody>
                  <a:tcPr marL="74930" marR="74930" marT="31115" marB="31115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780" b="0">
                          <a:solidFill>
                            <a:srgbClr val="112D28"/>
                          </a:solidFill>
                        </a:rPr>
                        <a:t>员工持股平台</a:t>
                      </a:r>
                      <a:endParaRPr sz="780" b="0">
                        <a:solidFill>
                          <a:srgbClr val="112D28"/>
                        </a:solidFill>
                      </a:endParaRPr>
                    </a:p>
                  </a:txBody>
                  <a:tcPr marL="74930" marR="74930" marT="49530" marB="49530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</a:tr>
              <a:tr h="267970">
                <a:tc>
                  <a:txBody>
                    <a:bodyPr wrap="square"/>
                    <a:p>
                      <a:pPr algn="l"/>
                      <a:r>
                        <a:rPr sz="780" b="0">
                          <a:solidFill>
                            <a:srgbClr val="112D28"/>
                          </a:solidFill>
                        </a:rPr>
                        <a:t>策星逐日</a:t>
                      </a:r>
                      <a:endParaRPr sz="780" b="0">
                        <a:solidFill>
                          <a:srgbClr val="112D28"/>
                        </a:solidFill>
                      </a:endParaRPr>
                    </a:p>
                  </a:txBody>
                  <a:tcPr marL="74930" marR="74930" marT="49530" marB="49530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925" b="1" spc="-9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171</a:t>
                      </a:r>
                      <a:r>
                        <a:rPr lang="zh-CN" sz="925" b="1" spc="-9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万股</a:t>
                      </a:r>
                      <a:endParaRPr lang="zh-CN" sz="925" b="1" spc="-9">
                        <a:solidFill>
                          <a:srgbClr val="112D28"/>
                        </a:solidFill>
                        <a:cs typeface="微软雅黑" panose="020B0503020204020204" charset="-122"/>
                      </a:endParaRPr>
                    </a:p>
                  </a:txBody>
                  <a:tcPr marL="74930" marR="74930" marT="31115" marB="31115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925" b="1" spc="-9">
                          <a:solidFill>
                            <a:srgbClr val="112D28"/>
                          </a:solidFill>
                        </a:rPr>
                        <a:t>2.07%</a:t>
                      </a:r>
                      <a:endParaRPr sz="925" b="1" spc="-9">
                        <a:solidFill>
                          <a:srgbClr val="112D28"/>
                        </a:solidFill>
                      </a:endParaRPr>
                    </a:p>
                  </a:txBody>
                  <a:tcPr marL="74930" marR="74930" marT="31115" marB="31115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780" b="0">
                          <a:solidFill>
                            <a:srgbClr val="112D28"/>
                          </a:solidFill>
                        </a:rPr>
                        <a:t>员工持股平台</a:t>
                      </a:r>
                      <a:endParaRPr sz="780" b="0">
                        <a:solidFill>
                          <a:srgbClr val="112D28"/>
                        </a:solidFill>
                      </a:endParaRPr>
                    </a:p>
                  </a:txBody>
                  <a:tcPr marL="74930" marR="74930" marT="49530" marB="49530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</a:tr>
              <a:tr h="268605">
                <a:tc>
                  <a:txBody>
                    <a:bodyPr wrap="square"/>
                    <a:p>
                      <a:pPr algn="l"/>
                      <a:r>
                        <a:rPr sz="780" b="0">
                          <a:solidFill>
                            <a:srgbClr val="112D28"/>
                          </a:solidFill>
                        </a:rPr>
                        <a:t>幸福二期</a:t>
                      </a:r>
                      <a:endParaRPr sz="780" b="0">
                        <a:solidFill>
                          <a:srgbClr val="112D28"/>
                        </a:solidFill>
                      </a:endParaRPr>
                    </a:p>
                  </a:txBody>
                  <a:tcPr marL="74930" marR="74930" marT="49530" marB="49530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925" b="1" spc="-9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300</a:t>
                      </a:r>
                      <a:r>
                        <a:rPr lang="zh-CN" sz="925" b="1" spc="-9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万股</a:t>
                      </a:r>
                      <a:endParaRPr lang="zh-CN" sz="925" b="1" spc="-9">
                        <a:solidFill>
                          <a:srgbClr val="112D28"/>
                        </a:solidFill>
                        <a:cs typeface="微软雅黑" panose="020B0503020204020204" charset="-122"/>
                      </a:endParaRPr>
                    </a:p>
                  </a:txBody>
                  <a:tcPr marL="74930" marR="74930" marT="31115" marB="31115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925" b="1" spc="-9">
                          <a:solidFill>
                            <a:srgbClr val="112D28"/>
                          </a:solidFill>
                        </a:rPr>
                        <a:t>3.64%</a:t>
                      </a:r>
                      <a:endParaRPr sz="925" b="1" spc="-9">
                        <a:solidFill>
                          <a:srgbClr val="112D28"/>
                        </a:solidFill>
                      </a:endParaRPr>
                    </a:p>
                  </a:txBody>
                  <a:tcPr marL="74930" marR="74930" marT="31115" marB="31115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780" b="0">
                          <a:solidFill>
                            <a:srgbClr val="112D28"/>
                          </a:solidFill>
                        </a:rPr>
                        <a:t>外部投资机构</a:t>
                      </a:r>
                      <a:endParaRPr sz="780" b="0">
                        <a:solidFill>
                          <a:srgbClr val="112D28"/>
                        </a:solidFill>
                      </a:endParaRPr>
                    </a:p>
                  </a:txBody>
                  <a:tcPr marL="74930" marR="74930" marT="49530" marB="49530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571500" y="2660015"/>
            <a:ext cx="11049000" cy="2038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175" b="1">
                <a:solidFill>
                  <a:srgbClr val="112D28"/>
                </a:solidFill>
                <a:cs typeface="微软雅黑" panose="020B0503020204020204" charset="-122"/>
              </a:rPr>
              <a:t>流量存量</a:t>
            </a:r>
            <a:r>
              <a:rPr lang="en-US" altLang="zh-CN" sz="1175" b="1">
                <a:solidFill>
                  <a:srgbClr val="112D28"/>
                </a:solidFill>
                <a:cs typeface="微软雅黑" panose="020B0503020204020204" charset="-122"/>
              </a:rPr>
              <a:t>cross-check</a:t>
            </a:r>
            <a:endParaRPr lang="en-US" altLang="zh-CN" sz="1175" b="1">
              <a:solidFill>
                <a:srgbClr val="112D28"/>
              </a:solidFill>
              <a:cs typeface="微软雅黑" panose="020B0503020204020204" charset="-122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5"/>
            </p:custDataLst>
          </p:nvPr>
        </p:nvGraphicFramePr>
        <p:xfrm>
          <a:off x="577850" y="2865120"/>
          <a:ext cx="11042650" cy="1357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0345"/>
                <a:gridCol w="3865245"/>
                <a:gridCol w="4417060"/>
              </a:tblGrid>
              <a:tr h="285115">
                <a:tc>
                  <a:txBody>
                    <a:bodyPr wrap="square"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</a:rPr>
                        <a:t>校验项</a:t>
                      </a:r>
                      <a:endParaRPr sz="880" b="1">
                        <a:solidFill>
                          <a:srgbClr val="FFFFFF"/>
                        </a:solidFill>
                      </a:endParaRPr>
                    </a:p>
                  </a:txBody>
                  <a:tcPr marL="74930" marR="74930" marT="49530" marB="49530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9A7F5E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</a:rPr>
                        <a:t>数字</a:t>
                      </a:r>
                      <a:endParaRPr sz="880" b="1">
                        <a:solidFill>
                          <a:srgbClr val="FFFFFF"/>
                        </a:solidFill>
                      </a:endParaRPr>
                    </a:p>
                  </a:txBody>
                  <a:tcPr marL="74930" marR="74930" marT="49530" marB="49530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9A7F5E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</a:rPr>
                        <a:t>来源</a:t>
                      </a:r>
                      <a:endParaRPr sz="880" b="1">
                        <a:solidFill>
                          <a:srgbClr val="FFFFFF"/>
                        </a:solidFill>
                      </a:endParaRPr>
                    </a:p>
                  </a:txBody>
                  <a:tcPr marL="74930" marR="74930" marT="49530" marB="49530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9A7F5E"/>
                    </a:solidFill>
                  </a:tcPr>
                </a:tc>
              </a:tr>
              <a:tr h="267970">
                <a:tc>
                  <a:txBody>
                    <a:bodyPr wrap="square"/>
                    <a:p>
                      <a:pPr algn="l"/>
                      <a:r>
                        <a:rPr sz="780" b="0">
                          <a:solidFill>
                            <a:srgbClr val="112D28"/>
                          </a:solidFill>
                        </a:rPr>
                        <a:t>发行前总股本</a:t>
                      </a:r>
                      <a:endParaRPr sz="780" b="0">
                        <a:solidFill>
                          <a:srgbClr val="112D28"/>
                        </a:solidFill>
                      </a:endParaRPr>
                    </a:p>
                  </a:txBody>
                  <a:tcPr marL="74930" marR="74930" marT="49530" marB="49530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925" b="1" spc="-9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7500</a:t>
                      </a:r>
                      <a:r>
                        <a:rPr lang="zh-CN" sz="925" b="1" spc="-9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万股</a:t>
                      </a:r>
                      <a:endParaRPr lang="zh-CN" sz="925" b="1" spc="-9">
                        <a:solidFill>
                          <a:srgbClr val="112D28"/>
                        </a:solidFill>
                        <a:cs typeface="微软雅黑" panose="020B0503020204020204" charset="-122"/>
                      </a:endParaRPr>
                    </a:p>
                  </a:txBody>
                  <a:tcPr marL="74930" marR="74930" marT="31115" marB="31115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780" b="0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推算：</a:t>
                      </a:r>
                      <a:r>
                        <a:rPr lang="en-US" altLang="zh-CN" sz="780" b="0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8250</a:t>
                      </a:r>
                      <a:r>
                        <a:rPr lang="zh-CN" altLang="en-US" sz="780" b="0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万</a:t>
                      </a:r>
                      <a:r>
                        <a:rPr lang="en-US" altLang="zh-CN" sz="780" b="0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-750</a:t>
                      </a:r>
                      <a:r>
                        <a:rPr lang="zh-CN" altLang="en-US" sz="780" b="0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万</a:t>
                      </a:r>
                      <a:endParaRPr lang="zh-CN" altLang="en-US" sz="780" b="0">
                        <a:solidFill>
                          <a:srgbClr val="112D28"/>
                        </a:solidFill>
                        <a:cs typeface="微软雅黑" panose="020B0503020204020204" charset="-122"/>
                      </a:endParaRPr>
                    </a:p>
                  </a:txBody>
                  <a:tcPr marL="74930" marR="74930" marT="49530" marB="49530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</a:tr>
              <a:tr h="267970">
                <a:tc>
                  <a:txBody>
                    <a:bodyPr wrap="square"/>
                    <a:p>
                      <a:pPr algn="l"/>
                      <a:r>
                        <a:rPr sz="780" b="0">
                          <a:solidFill>
                            <a:srgbClr val="112D28"/>
                          </a:solidFill>
                        </a:rPr>
                        <a:t>定向发行新增</a:t>
                      </a:r>
                      <a:endParaRPr sz="780" b="0">
                        <a:solidFill>
                          <a:srgbClr val="112D28"/>
                        </a:solidFill>
                      </a:endParaRPr>
                    </a:p>
                  </a:txBody>
                  <a:tcPr marL="74930" marR="74930" marT="49530" marB="49530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925" b="1" spc="-9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750</a:t>
                      </a:r>
                      <a:r>
                        <a:rPr lang="zh-CN" sz="925" b="1" spc="-9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万股</a:t>
                      </a:r>
                      <a:endParaRPr lang="zh-CN" sz="925" b="1" spc="-9">
                        <a:solidFill>
                          <a:srgbClr val="112D28"/>
                        </a:solidFill>
                        <a:cs typeface="微软雅黑" panose="020B0503020204020204" charset="-122"/>
                      </a:endParaRPr>
                    </a:p>
                  </a:txBody>
                  <a:tcPr marL="74930" marR="74930" marT="31115" marB="31115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altLang="en-US" sz="780" b="0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PDF</a:t>
                      </a:r>
                      <a:r>
                        <a:rPr lang="zh-CN" altLang="en-US" sz="780" b="0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第</a:t>
                      </a:r>
                      <a:r>
                        <a:rPr lang="en-US" altLang="zh-CN" sz="780" b="0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35</a:t>
                      </a:r>
                      <a:r>
                        <a:rPr lang="zh-CN" altLang="en-US" sz="780" b="0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页</a:t>
                      </a:r>
                      <a:endParaRPr lang="zh-CN" altLang="en-US" sz="780" b="0">
                        <a:solidFill>
                          <a:srgbClr val="112D28"/>
                        </a:solidFill>
                        <a:cs typeface="微软雅黑" panose="020B0503020204020204" charset="-122"/>
                      </a:endParaRPr>
                    </a:p>
                  </a:txBody>
                  <a:tcPr marL="74930" marR="74930" marT="49530" marB="49530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</a:tr>
              <a:tr h="267970">
                <a:tc>
                  <a:txBody>
                    <a:bodyPr wrap="square"/>
                    <a:p>
                      <a:pPr algn="l"/>
                      <a:r>
                        <a:rPr sz="780" b="0">
                          <a:solidFill>
                            <a:srgbClr val="112D28"/>
                          </a:solidFill>
                        </a:rPr>
                        <a:t>发行后总股本</a:t>
                      </a:r>
                      <a:endParaRPr sz="780" b="0">
                        <a:solidFill>
                          <a:srgbClr val="112D28"/>
                        </a:solidFill>
                      </a:endParaRPr>
                    </a:p>
                  </a:txBody>
                  <a:tcPr marL="74930" marR="74930" marT="49530" marB="49530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925" b="1" spc="-9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8250</a:t>
                      </a:r>
                      <a:r>
                        <a:rPr lang="zh-CN" sz="925" b="1" spc="-9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万股</a:t>
                      </a:r>
                      <a:endParaRPr lang="zh-CN" sz="925" b="1" spc="-9">
                        <a:solidFill>
                          <a:srgbClr val="112D28"/>
                        </a:solidFill>
                        <a:cs typeface="微软雅黑" panose="020B0503020204020204" charset="-122"/>
                      </a:endParaRPr>
                    </a:p>
                  </a:txBody>
                  <a:tcPr marL="74930" marR="74930" marT="31115" marB="31115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altLang="en-US" sz="780" b="0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PDF</a:t>
                      </a:r>
                      <a:r>
                        <a:rPr lang="zh-CN" altLang="en-US" sz="780" b="0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第</a:t>
                      </a:r>
                      <a:r>
                        <a:rPr lang="en-US" altLang="zh-CN" sz="780" b="0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47</a:t>
                      </a:r>
                      <a:r>
                        <a:rPr lang="zh-CN" altLang="en-US" sz="780" b="0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页</a:t>
                      </a:r>
                      <a:endParaRPr lang="zh-CN" altLang="en-US" sz="780" b="0">
                        <a:solidFill>
                          <a:srgbClr val="112D28"/>
                        </a:solidFill>
                        <a:cs typeface="微软雅黑" panose="020B0503020204020204" charset="-122"/>
                      </a:endParaRPr>
                    </a:p>
                  </a:txBody>
                  <a:tcPr marL="74930" marR="74930" marT="49530" marB="49530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</a:tr>
              <a:tr h="268605">
                <a:tc>
                  <a:txBody>
                    <a:bodyPr wrap="square"/>
                    <a:p>
                      <a:pPr algn="l"/>
                      <a:r>
                        <a:rPr sz="780" b="0">
                          <a:solidFill>
                            <a:srgbClr val="112D28"/>
                          </a:solidFill>
                        </a:rPr>
                        <a:t>验证</a:t>
                      </a:r>
                      <a:endParaRPr sz="780" b="0">
                        <a:solidFill>
                          <a:srgbClr val="112D28"/>
                        </a:solidFill>
                      </a:endParaRPr>
                    </a:p>
                  </a:txBody>
                  <a:tcPr marL="74930" marR="74930" marT="49530" marB="49530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  <a:tc gridSpan="2">
                  <a:txBody>
                    <a:bodyPr wrap="square"/>
                    <a:p>
                      <a:pPr algn="ctr"/>
                      <a:r>
                        <a:rPr lang="en-US" sz="880" b="1">
                          <a:solidFill>
                            <a:srgbClr val="52A884"/>
                          </a:solidFill>
                          <a:cs typeface="微软雅黑" panose="020B0503020204020204" charset="-122"/>
                        </a:rPr>
                        <a:t>7500 + 750 = 8250 </a:t>
                      </a:r>
                      <a:r>
                        <a:rPr lang="zh-CN" sz="880" b="1">
                          <a:solidFill>
                            <a:srgbClr val="52A884"/>
                          </a:solidFill>
                          <a:cs typeface="微软雅黑" panose="020B0503020204020204" charset="-122"/>
                        </a:rPr>
                        <a:t>✓</a:t>
                      </a:r>
                      <a:r>
                        <a:rPr lang="en-US" sz="880" b="0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cross-check</a:t>
                      </a:r>
                      <a:r>
                        <a:rPr lang="zh-CN" altLang="en-US" sz="880" b="0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通过</a:t>
                      </a:r>
                      <a:endParaRPr lang="zh-CN" altLang="en-US" sz="880" b="0">
                        <a:solidFill>
                          <a:srgbClr val="112D28"/>
                        </a:solidFill>
                        <a:cs typeface="微软雅黑" panose="020B0503020204020204" charset="-122"/>
                      </a:endParaRPr>
                    </a:p>
                  </a:txBody>
                  <a:tcPr marL="74930" marR="74930" marT="31115" marB="31115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  <a:tc hMerge="1">
                  <a:tcPr>
                    <a:lnL w="9525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571500" y="4225290"/>
            <a:ext cx="11049000" cy="2038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175" b="1">
                <a:solidFill>
                  <a:srgbClr val="112D28"/>
                </a:solidFill>
              </a:rPr>
              <a:t>逐股东验证</a:t>
            </a:r>
            <a:endParaRPr sz="1175" b="1">
              <a:solidFill>
                <a:srgbClr val="112D28"/>
              </a:solidFill>
            </a:endParaRPr>
          </a:p>
        </p:txBody>
      </p:sp>
      <p:graphicFrame>
        <p:nvGraphicFramePr>
          <p:cNvPr id="9" name="表格 8"/>
          <p:cNvGraphicFramePr/>
          <p:nvPr>
            <p:custDataLst>
              <p:tags r:id="rId7"/>
            </p:custDataLst>
          </p:nvPr>
        </p:nvGraphicFramePr>
        <p:xfrm>
          <a:off x="577850" y="4435475"/>
          <a:ext cx="11042650" cy="18180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5590"/>
                <a:gridCol w="2429510"/>
                <a:gridCol w="1988185"/>
                <a:gridCol w="2870835"/>
                <a:gridCol w="2208530"/>
              </a:tblGrid>
              <a:tr h="285115">
                <a:tc>
                  <a:txBody>
                    <a:bodyPr wrap="square"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</a:rPr>
                        <a:t>股东</a:t>
                      </a:r>
                      <a:endParaRPr sz="880" b="1">
                        <a:solidFill>
                          <a:srgbClr val="FFFFFF"/>
                        </a:solidFill>
                      </a:endParaRPr>
                    </a:p>
                  </a:txBody>
                  <a:tcPr marL="74930" marR="74930" marT="49530" marB="49530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9A7F5E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</a:rPr>
                        <a:t>发行前</a:t>
                      </a:r>
                      <a:endParaRPr sz="880" b="1">
                        <a:solidFill>
                          <a:srgbClr val="FFFFFF"/>
                        </a:solidFill>
                      </a:endParaRPr>
                    </a:p>
                  </a:txBody>
                  <a:tcPr marL="74930" marR="74930" marT="49530" marB="49530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9A7F5E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</a:rPr>
                        <a:t>本次认购</a:t>
                      </a:r>
                      <a:endParaRPr sz="880" b="1">
                        <a:solidFill>
                          <a:srgbClr val="FFFFFF"/>
                        </a:solidFill>
                      </a:endParaRPr>
                    </a:p>
                  </a:txBody>
                  <a:tcPr marL="74930" marR="74930" marT="49530" marB="49530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9A7F5E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</a:rPr>
                        <a:t>发行后</a:t>
                      </a:r>
                      <a:endParaRPr sz="880" b="1">
                        <a:solidFill>
                          <a:srgbClr val="FFFFFF"/>
                        </a:solidFill>
                      </a:endParaRPr>
                    </a:p>
                  </a:txBody>
                  <a:tcPr marL="74930" marR="74930" marT="49530" marB="49530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9A7F5E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</a:rPr>
                        <a:t>验证</a:t>
                      </a:r>
                      <a:endParaRPr sz="880" b="1">
                        <a:solidFill>
                          <a:srgbClr val="FFFFFF"/>
                        </a:solidFill>
                      </a:endParaRPr>
                    </a:p>
                  </a:txBody>
                  <a:tcPr marL="74930" marR="74930" marT="49530" marB="49530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9A7F5E"/>
                    </a:solidFill>
                  </a:tcPr>
                </a:tc>
              </a:tr>
              <a:tr h="308610">
                <a:tc>
                  <a:txBody>
                    <a:bodyPr wrap="square"/>
                    <a:p>
                      <a:pPr algn="l"/>
                      <a:r>
                        <a:rPr sz="780" b="0">
                          <a:solidFill>
                            <a:srgbClr val="112D28"/>
                          </a:solidFill>
                        </a:rPr>
                        <a:t>中科星图</a:t>
                      </a:r>
                      <a:endParaRPr sz="780" b="0">
                        <a:solidFill>
                          <a:srgbClr val="112D28"/>
                        </a:solidFill>
                      </a:endParaRPr>
                    </a:p>
                  </a:txBody>
                  <a:tcPr marL="74930" marR="74930" marT="49530" marB="49530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altLang="en-US" sz="780" b="0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7500</a:t>
                      </a:r>
                      <a:r>
                        <a:rPr lang="zh-CN" altLang="en-US" sz="780" b="0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万</a:t>
                      </a:r>
                      <a:r>
                        <a:rPr lang="en-US" altLang="zh-CN" sz="780" b="0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(100%)</a:t>
                      </a:r>
                      <a:endParaRPr lang="en-US" altLang="zh-CN" sz="780" b="0">
                        <a:solidFill>
                          <a:srgbClr val="112D28"/>
                        </a:solidFill>
                        <a:cs typeface="微软雅黑" panose="020B0503020204020204" charset="-122"/>
                      </a:endParaRPr>
                    </a:p>
                  </a:txBody>
                  <a:tcPr marL="74930" marR="74930" marT="49530" marB="49530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780" b="0">
                          <a:solidFill>
                            <a:srgbClr val="112D28"/>
                          </a:solidFill>
                        </a:rPr>
                        <a:t>0</a:t>
                      </a:r>
                      <a:endParaRPr sz="780" b="0">
                        <a:solidFill>
                          <a:srgbClr val="112D28"/>
                        </a:solidFill>
                      </a:endParaRPr>
                    </a:p>
                  </a:txBody>
                  <a:tcPr marL="74930" marR="74930" marT="49530" marB="49530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altLang="en-US" sz="780" b="0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3825</a:t>
                      </a:r>
                      <a:r>
                        <a:rPr lang="zh-CN" altLang="en-US" sz="780" b="0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万</a:t>
                      </a:r>
                      <a:r>
                        <a:rPr lang="en-US" altLang="zh-CN" sz="780" b="0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(46.36%)</a:t>
                      </a:r>
                      <a:endParaRPr lang="en-US" altLang="zh-CN" sz="780" b="0">
                        <a:solidFill>
                          <a:srgbClr val="112D28"/>
                        </a:solidFill>
                        <a:cs typeface="微软雅黑" panose="020B0503020204020204" charset="-122"/>
                      </a:endParaRPr>
                    </a:p>
                  </a:txBody>
                  <a:tcPr marL="74930" marR="74930" marT="49530" marB="49530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780" b="0">
                          <a:solidFill>
                            <a:srgbClr val="112D28"/>
                          </a:solidFill>
                        </a:rPr>
                        <a:t>未参与认购，比例被稀释</a:t>
                      </a:r>
                      <a:endParaRPr sz="780" b="0">
                        <a:solidFill>
                          <a:srgbClr val="112D28"/>
                        </a:solidFill>
                      </a:endParaRPr>
                    </a:p>
                  </a:txBody>
                  <a:tcPr marL="74930" marR="74930" marT="49530" marB="49530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</a:tr>
              <a:tr h="308610">
                <a:tc>
                  <a:txBody>
                    <a:bodyPr wrap="square"/>
                    <a:p>
                      <a:pPr algn="l"/>
                      <a:r>
                        <a:rPr sz="780" b="0">
                          <a:solidFill>
                            <a:srgbClr val="112D28"/>
                          </a:solidFill>
                        </a:rPr>
                        <a:t>策星银河</a:t>
                      </a:r>
                      <a:endParaRPr sz="780" b="0">
                        <a:solidFill>
                          <a:srgbClr val="112D28"/>
                        </a:solidFill>
                      </a:endParaRPr>
                    </a:p>
                  </a:txBody>
                  <a:tcPr marL="74930" marR="74930" marT="49530" marB="49530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780" b="0">
                          <a:solidFill>
                            <a:srgbClr val="112D28"/>
                          </a:solidFill>
                        </a:rPr>
                        <a:t>0</a:t>
                      </a:r>
                      <a:endParaRPr sz="780" b="0">
                        <a:solidFill>
                          <a:srgbClr val="112D28"/>
                        </a:solidFill>
                      </a:endParaRPr>
                    </a:p>
                  </a:txBody>
                  <a:tcPr marL="74930" marR="74930" marT="49530" marB="49530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780" b="0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279</a:t>
                      </a:r>
                      <a:r>
                        <a:rPr lang="zh-CN" sz="780" b="0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万</a:t>
                      </a:r>
                      <a:endParaRPr lang="zh-CN" sz="780" b="0">
                        <a:solidFill>
                          <a:srgbClr val="112D28"/>
                        </a:solidFill>
                        <a:cs typeface="微软雅黑" panose="020B0503020204020204" charset="-122"/>
                      </a:endParaRPr>
                    </a:p>
                  </a:txBody>
                  <a:tcPr marL="74930" marR="74930" marT="49530" marB="49530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altLang="en-US" sz="780" b="0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279</a:t>
                      </a:r>
                      <a:r>
                        <a:rPr lang="zh-CN" altLang="en-US" sz="780" b="0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万</a:t>
                      </a:r>
                      <a:r>
                        <a:rPr lang="en-US" altLang="zh-CN" sz="780" b="0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(3.38%)</a:t>
                      </a:r>
                      <a:endParaRPr lang="en-US" altLang="zh-CN" sz="780" b="0">
                        <a:solidFill>
                          <a:srgbClr val="112D28"/>
                        </a:solidFill>
                        <a:cs typeface="微软雅黑" panose="020B0503020204020204" charset="-122"/>
                      </a:endParaRPr>
                    </a:p>
                  </a:txBody>
                  <a:tcPr marL="74930" marR="74930" marT="49530" marB="49530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880" b="0">
                          <a:solidFill>
                            <a:srgbClr val="52A884"/>
                          </a:solidFill>
                          <a:cs typeface="微软雅黑" panose="020B0503020204020204" charset="-122"/>
                        </a:rPr>
                        <a:t>新增</a:t>
                      </a:r>
                      <a:r>
                        <a:rPr lang="en-US" altLang="zh-CN" sz="880" b="0">
                          <a:solidFill>
                            <a:srgbClr val="52A884"/>
                          </a:solidFill>
                          <a:cs typeface="微软雅黑" panose="020B0503020204020204" charset="-122"/>
                        </a:rPr>
                        <a:t>=</a:t>
                      </a:r>
                      <a:r>
                        <a:rPr lang="zh-CN" altLang="en-US" sz="880" b="0">
                          <a:solidFill>
                            <a:srgbClr val="52A884"/>
                          </a:solidFill>
                          <a:cs typeface="微软雅黑" panose="020B0503020204020204" charset="-122"/>
                        </a:rPr>
                        <a:t>持股</a:t>
                      </a:r>
                      <a:r>
                        <a:rPr lang="en-US" altLang="zh-CN" sz="880" b="0">
                          <a:solidFill>
                            <a:srgbClr val="52A884"/>
                          </a:solidFill>
                          <a:cs typeface="微软雅黑" panose="020B0503020204020204" charset="-122"/>
                        </a:rPr>
                        <a:t> </a:t>
                      </a:r>
                      <a:r>
                        <a:rPr lang="zh-CN" altLang="en-US" sz="880" b="0">
                          <a:solidFill>
                            <a:srgbClr val="52A884"/>
                          </a:solidFill>
                          <a:cs typeface="微软雅黑" panose="020B0503020204020204" charset="-122"/>
                        </a:rPr>
                        <a:t>✓</a:t>
                      </a:r>
                      <a:endParaRPr lang="zh-CN" altLang="en-US" sz="880" b="0">
                        <a:solidFill>
                          <a:srgbClr val="52A884"/>
                        </a:solidFill>
                        <a:cs typeface="微软雅黑" panose="020B0503020204020204" charset="-122"/>
                      </a:endParaRPr>
                    </a:p>
                  </a:txBody>
                  <a:tcPr marL="74930" marR="74930" marT="31115" marB="31115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</a:tr>
              <a:tr h="307975">
                <a:tc>
                  <a:txBody>
                    <a:bodyPr wrap="square"/>
                    <a:p>
                      <a:pPr algn="l"/>
                      <a:r>
                        <a:rPr sz="780" b="0">
                          <a:solidFill>
                            <a:srgbClr val="112D28"/>
                          </a:solidFill>
                        </a:rPr>
                        <a:t>策星逐日</a:t>
                      </a:r>
                      <a:endParaRPr sz="780" b="0">
                        <a:solidFill>
                          <a:srgbClr val="112D28"/>
                        </a:solidFill>
                      </a:endParaRPr>
                    </a:p>
                  </a:txBody>
                  <a:tcPr marL="74930" marR="74930" marT="49530" marB="49530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780" b="0">
                          <a:solidFill>
                            <a:srgbClr val="112D28"/>
                          </a:solidFill>
                        </a:rPr>
                        <a:t>0</a:t>
                      </a:r>
                      <a:endParaRPr sz="780" b="0">
                        <a:solidFill>
                          <a:srgbClr val="112D28"/>
                        </a:solidFill>
                      </a:endParaRPr>
                    </a:p>
                  </a:txBody>
                  <a:tcPr marL="74930" marR="74930" marT="49530" marB="49530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780" b="0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171</a:t>
                      </a:r>
                      <a:r>
                        <a:rPr lang="zh-CN" sz="780" b="0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万</a:t>
                      </a:r>
                      <a:endParaRPr lang="zh-CN" sz="780" b="0">
                        <a:solidFill>
                          <a:srgbClr val="112D28"/>
                        </a:solidFill>
                        <a:cs typeface="微软雅黑" panose="020B0503020204020204" charset="-122"/>
                      </a:endParaRPr>
                    </a:p>
                  </a:txBody>
                  <a:tcPr marL="74930" marR="74930" marT="49530" marB="49530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altLang="en-US" sz="780" b="0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171</a:t>
                      </a:r>
                      <a:r>
                        <a:rPr lang="zh-CN" altLang="en-US" sz="780" b="0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万</a:t>
                      </a:r>
                      <a:r>
                        <a:rPr lang="en-US" altLang="zh-CN" sz="780" b="0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(2.07%)</a:t>
                      </a:r>
                      <a:endParaRPr lang="en-US" altLang="zh-CN" sz="780" b="0">
                        <a:solidFill>
                          <a:srgbClr val="112D28"/>
                        </a:solidFill>
                        <a:cs typeface="微软雅黑" panose="020B0503020204020204" charset="-122"/>
                      </a:endParaRPr>
                    </a:p>
                  </a:txBody>
                  <a:tcPr marL="74930" marR="74930" marT="49530" marB="49530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880" b="0">
                          <a:solidFill>
                            <a:srgbClr val="52A884"/>
                          </a:solidFill>
                          <a:cs typeface="微软雅黑" panose="020B0503020204020204" charset="-122"/>
                        </a:rPr>
                        <a:t>新增</a:t>
                      </a:r>
                      <a:r>
                        <a:rPr lang="en-US" altLang="zh-CN" sz="880" b="0">
                          <a:solidFill>
                            <a:srgbClr val="52A884"/>
                          </a:solidFill>
                          <a:cs typeface="微软雅黑" panose="020B0503020204020204" charset="-122"/>
                        </a:rPr>
                        <a:t>=</a:t>
                      </a:r>
                      <a:r>
                        <a:rPr lang="zh-CN" altLang="en-US" sz="880" b="0">
                          <a:solidFill>
                            <a:srgbClr val="52A884"/>
                          </a:solidFill>
                          <a:cs typeface="微软雅黑" panose="020B0503020204020204" charset="-122"/>
                        </a:rPr>
                        <a:t>持股</a:t>
                      </a:r>
                      <a:r>
                        <a:rPr lang="en-US" altLang="zh-CN" sz="880" b="0">
                          <a:solidFill>
                            <a:srgbClr val="52A884"/>
                          </a:solidFill>
                          <a:cs typeface="微软雅黑" panose="020B0503020204020204" charset="-122"/>
                        </a:rPr>
                        <a:t> </a:t>
                      </a:r>
                      <a:r>
                        <a:rPr lang="zh-CN" altLang="en-US" sz="880" b="0">
                          <a:solidFill>
                            <a:srgbClr val="52A884"/>
                          </a:solidFill>
                          <a:cs typeface="微软雅黑" panose="020B0503020204020204" charset="-122"/>
                        </a:rPr>
                        <a:t>✓</a:t>
                      </a:r>
                      <a:endParaRPr lang="zh-CN" altLang="en-US" sz="880" b="0">
                        <a:solidFill>
                          <a:srgbClr val="52A884"/>
                        </a:solidFill>
                        <a:cs typeface="微软雅黑" panose="020B0503020204020204" charset="-122"/>
                      </a:endParaRPr>
                    </a:p>
                  </a:txBody>
                  <a:tcPr marL="74930" marR="74930" marT="31115" marB="31115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</a:tr>
              <a:tr h="308610">
                <a:tc>
                  <a:txBody>
                    <a:bodyPr wrap="square"/>
                    <a:p>
                      <a:pPr algn="l"/>
                      <a:r>
                        <a:rPr sz="780" b="0">
                          <a:solidFill>
                            <a:srgbClr val="112D28"/>
                          </a:solidFill>
                        </a:rPr>
                        <a:t>幸福二期</a:t>
                      </a:r>
                      <a:endParaRPr sz="780" b="0">
                        <a:solidFill>
                          <a:srgbClr val="112D28"/>
                        </a:solidFill>
                      </a:endParaRPr>
                    </a:p>
                  </a:txBody>
                  <a:tcPr marL="74930" marR="74930" marT="49530" marB="49530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780" b="0">
                          <a:solidFill>
                            <a:srgbClr val="112D28"/>
                          </a:solidFill>
                        </a:rPr>
                        <a:t>0</a:t>
                      </a:r>
                      <a:endParaRPr sz="780" b="0">
                        <a:solidFill>
                          <a:srgbClr val="112D28"/>
                        </a:solidFill>
                      </a:endParaRPr>
                    </a:p>
                  </a:txBody>
                  <a:tcPr marL="74930" marR="74930" marT="49530" marB="49530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780" b="0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300</a:t>
                      </a:r>
                      <a:r>
                        <a:rPr lang="zh-CN" sz="780" b="0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万</a:t>
                      </a:r>
                      <a:endParaRPr lang="zh-CN" sz="780" b="0">
                        <a:solidFill>
                          <a:srgbClr val="112D28"/>
                        </a:solidFill>
                        <a:cs typeface="微软雅黑" panose="020B0503020204020204" charset="-122"/>
                      </a:endParaRPr>
                    </a:p>
                  </a:txBody>
                  <a:tcPr marL="74930" marR="74930" marT="49530" marB="49530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altLang="en-US" sz="780" b="0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300</a:t>
                      </a:r>
                      <a:r>
                        <a:rPr lang="zh-CN" altLang="en-US" sz="780" b="0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万</a:t>
                      </a:r>
                      <a:r>
                        <a:rPr lang="en-US" altLang="zh-CN" sz="780" b="0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(3.64%)</a:t>
                      </a:r>
                      <a:endParaRPr lang="en-US" altLang="zh-CN" sz="780" b="0">
                        <a:solidFill>
                          <a:srgbClr val="112D28"/>
                        </a:solidFill>
                        <a:cs typeface="微软雅黑" panose="020B0503020204020204" charset="-122"/>
                      </a:endParaRPr>
                    </a:p>
                  </a:txBody>
                  <a:tcPr marL="74930" marR="74930" marT="49530" marB="49530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880" b="0">
                          <a:solidFill>
                            <a:srgbClr val="52A884"/>
                          </a:solidFill>
                          <a:cs typeface="微软雅黑" panose="020B0503020204020204" charset="-122"/>
                        </a:rPr>
                        <a:t>新增</a:t>
                      </a:r>
                      <a:r>
                        <a:rPr lang="en-US" altLang="zh-CN" sz="880" b="0">
                          <a:solidFill>
                            <a:srgbClr val="52A884"/>
                          </a:solidFill>
                          <a:cs typeface="微软雅黑" panose="020B0503020204020204" charset="-122"/>
                        </a:rPr>
                        <a:t>=</a:t>
                      </a:r>
                      <a:r>
                        <a:rPr lang="zh-CN" altLang="en-US" sz="880" b="0">
                          <a:solidFill>
                            <a:srgbClr val="52A884"/>
                          </a:solidFill>
                          <a:cs typeface="微软雅黑" panose="020B0503020204020204" charset="-122"/>
                        </a:rPr>
                        <a:t>持股</a:t>
                      </a:r>
                      <a:r>
                        <a:rPr lang="en-US" altLang="zh-CN" sz="880" b="0">
                          <a:solidFill>
                            <a:srgbClr val="52A884"/>
                          </a:solidFill>
                          <a:cs typeface="微软雅黑" panose="020B0503020204020204" charset="-122"/>
                        </a:rPr>
                        <a:t> </a:t>
                      </a:r>
                      <a:r>
                        <a:rPr lang="zh-CN" altLang="en-US" sz="880" b="0">
                          <a:solidFill>
                            <a:srgbClr val="52A884"/>
                          </a:solidFill>
                          <a:cs typeface="微软雅黑" panose="020B0503020204020204" charset="-122"/>
                        </a:rPr>
                        <a:t>✓</a:t>
                      </a:r>
                      <a:endParaRPr lang="zh-CN" altLang="en-US" sz="880" b="0">
                        <a:solidFill>
                          <a:srgbClr val="52A884"/>
                        </a:solidFill>
                        <a:cs typeface="微软雅黑" panose="020B0503020204020204" charset="-122"/>
                      </a:endParaRPr>
                    </a:p>
                  </a:txBody>
                  <a:tcPr marL="74930" marR="74930" marT="31115" marB="31115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</a:tr>
              <a:tr h="299085">
                <a:tc>
                  <a:txBody>
                    <a:bodyPr wrap="square"/>
                    <a:p>
                      <a:pPr algn="l"/>
                      <a:r>
                        <a:rPr sz="925" b="1" spc="-9">
                          <a:solidFill>
                            <a:srgbClr val="112D28"/>
                          </a:solidFill>
                        </a:rPr>
                        <a:t>合计</a:t>
                      </a:r>
                      <a:endParaRPr sz="925" b="1" spc="-9">
                        <a:solidFill>
                          <a:srgbClr val="112D28"/>
                        </a:solidFill>
                      </a:endParaRPr>
                    </a:p>
                  </a:txBody>
                  <a:tcPr marL="74930" marR="74930" marT="31115" marB="31115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925" b="1" spc="-9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7500</a:t>
                      </a:r>
                      <a:r>
                        <a:rPr lang="zh-CN" sz="925" b="1" spc="-9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万</a:t>
                      </a:r>
                      <a:endParaRPr lang="zh-CN" sz="925" b="1" spc="-9">
                        <a:solidFill>
                          <a:srgbClr val="112D28"/>
                        </a:solidFill>
                        <a:cs typeface="微软雅黑" panose="020B0503020204020204" charset="-122"/>
                      </a:endParaRPr>
                    </a:p>
                  </a:txBody>
                  <a:tcPr marL="74930" marR="74930" marT="31115" marB="31115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925" b="1" spc="-9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750</a:t>
                      </a:r>
                      <a:r>
                        <a:rPr lang="zh-CN" sz="925" b="1" spc="-9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万</a:t>
                      </a:r>
                      <a:endParaRPr lang="zh-CN" sz="925" b="1" spc="-9">
                        <a:solidFill>
                          <a:srgbClr val="112D28"/>
                        </a:solidFill>
                        <a:cs typeface="微软雅黑" panose="020B0503020204020204" charset="-122"/>
                      </a:endParaRPr>
                    </a:p>
                  </a:txBody>
                  <a:tcPr marL="74930" marR="74930" marT="31115" marB="31115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925" b="1" spc="-9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8250</a:t>
                      </a:r>
                      <a:r>
                        <a:rPr lang="zh-CN" sz="925" b="1" spc="-9">
                          <a:solidFill>
                            <a:srgbClr val="112D28"/>
                          </a:solidFill>
                          <a:cs typeface="微软雅黑" panose="020B0503020204020204" charset="-122"/>
                        </a:rPr>
                        <a:t>万</a:t>
                      </a:r>
                      <a:endParaRPr lang="zh-CN" sz="925" b="1" spc="-9">
                        <a:solidFill>
                          <a:srgbClr val="112D28"/>
                        </a:solidFill>
                        <a:cs typeface="微软雅黑" panose="020B0503020204020204" charset="-122"/>
                      </a:endParaRPr>
                    </a:p>
                  </a:txBody>
                  <a:tcPr marL="74930" marR="74930" marT="31115" marB="31115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880" b="1">
                          <a:solidFill>
                            <a:srgbClr val="4A3B2C"/>
                          </a:solidFill>
                          <a:cs typeface="微软雅黑" panose="020B0503020204020204" charset="-122"/>
                        </a:rPr>
                        <a:t>7500+750=8250 </a:t>
                      </a:r>
                      <a:r>
                        <a:rPr lang="zh-CN" sz="880" b="1">
                          <a:solidFill>
                            <a:srgbClr val="4A3B2C"/>
                          </a:solidFill>
                          <a:cs typeface="微软雅黑" panose="020B0503020204020204" charset="-122"/>
                        </a:rPr>
                        <a:t>✓</a:t>
                      </a:r>
                      <a:endParaRPr lang="zh-CN" sz="880" b="1">
                        <a:solidFill>
                          <a:srgbClr val="4A3B2C"/>
                        </a:solidFill>
                        <a:cs typeface="微软雅黑" panose="020B0503020204020204" charset="-122"/>
                      </a:endParaRPr>
                    </a:p>
                  </a:txBody>
                  <a:tcPr marL="74930" marR="74930" marT="31115" marB="31115" anchor="ctr">
                    <a:lnL w="6224">
                      <a:solidFill>
                        <a:srgbClr val="DBD4C9"/>
                      </a:solidFill>
                      <a:prstDash val="solid"/>
                    </a:lnL>
                    <a:lnR w="6224">
                      <a:solidFill>
                        <a:srgbClr val="DBD4C9"/>
                      </a:solidFill>
                      <a:prstDash val="solid"/>
                    </a:lnR>
                    <a:lnT w="6224">
                      <a:solidFill>
                        <a:srgbClr val="DBD4C9"/>
                      </a:solidFill>
                      <a:prstDash val="solid"/>
                    </a:lnT>
                    <a:lnB w="6224">
                      <a:solidFill>
                        <a:srgbClr val="DBD4C9"/>
                      </a:solidFill>
                      <a:prstDash val="solid"/>
                    </a:lnB>
                    <a:solidFill>
                      <a:srgbClr val="FAF8F5"/>
                    </a:solidFill>
                  </a:tcPr>
                </a:tc>
              </a:tr>
            </a:tbl>
          </a:graphicData>
        </a:graphic>
      </p:graphicFrame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571500" y="6287770"/>
            <a:ext cx="11049000" cy="1943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880" b="1">
                <a:solidFill>
                  <a:srgbClr val="9A7F5E"/>
                </a:solidFill>
              </a:rPr>
              <a:t>案例价值：</a:t>
            </a:r>
            <a:r>
              <a:rPr lang="zh-CN" sz="880">
                <a:solidFill>
                  <a:srgbClr val="3A5652"/>
                </a:solidFill>
                <a:cs typeface="微软雅黑" panose="020B0503020204020204" charset="-122"/>
              </a:rPr>
              <a:t>仅</a:t>
            </a:r>
            <a:r>
              <a:rPr lang="en-US" altLang="zh-CN" sz="880">
                <a:solidFill>
                  <a:srgbClr val="3A5652"/>
                </a:solidFill>
                <a:cs typeface="微软雅黑" panose="020B0503020204020204" charset="-122"/>
              </a:rPr>
              <a:t>1</a:t>
            </a:r>
            <a:r>
              <a:rPr lang="zh-CN" altLang="en-US" sz="880">
                <a:solidFill>
                  <a:srgbClr val="3A5652"/>
                </a:solidFill>
                <a:cs typeface="微软雅黑" panose="020B0503020204020204" charset="-122"/>
              </a:rPr>
              <a:t>次增资，流量存量对应关系一目了然；中科星图未参与认购，持股数从</a:t>
            </a:r>
            <a:r>
              <a:rPr lang="en-US" altLang="zh-CN" sz="880">
                <a:solidFill>
                  <a:srgbClr val="3A5652"/>
                </a:solidFill>
                <a:cs typeface="微软雅黑" panose="020B0503020204020204" charset="-122"/>
              </a:rPr>
              <a:t>7500</a:t>
            </a:r>
            <a:r>
              <a:rPr lang="zh-CN" altLang="en-US" sz="880">
                <a:solidFill>
                  <a:srgbClr val="3A5652"/>
                </a:solidFill>
                <a:cs typeface="微软雅黑" panose="020B0503020204020204" charset="-122"/>
              </a:rPr>
              <a:t>万变为</a:t>
            </a:r>
            <a:r>
              <a:rPr lang="en-US" altLang="zh-CN" sz="880">
                <a:solidFill>
                  <a:srgbClr val="3A5652"/>
                </a:solidFill>
                <a:cs typeface="微软雅黑" panose="020B0503020204020204" charset="-122"/>
              </a:rPr>
              <a:t>3825</a:t>
            </a:r>
            <a:r>
              <a:rPr lang="zh-CN" altLang="en-US" sz="880">
                <a:solidFill>
                  <a:srgbClr val="3A5652"/>
                </a:solidFill>
                <a:cs typeface="微软雅黑" panose="020B0503020204020204" charset="-122"/>
              </a:rPr>
              <a:t>万</a:t>
            </a:r>
            <a:r>
              <a:rPr lang="en-US" altLang="zh-CN" sz="880">
                <a:solidFill>
                  <a:srgbClr val="3A5652"/>
                </a:solidFill>
                <a:cs typeface="微软雅黑" panose="020B0503020204020204" charset="-122"/>
              </a:rPr>
              <a:t>——</a:t>
            </a:r>
            <a:r>
              <a:rPr lang="zh-CN" altLang="en-US" sz="880">
                <a:solidFill>
                  <a:srgbClr val="3A5652"/>
                </a:solidFill>
                <a:cs typeface="微软雅黑" panose="020B0503020204020204" charset="-122"/>
              </a:rPr>
              <a:t>非减持，系总股本扩张后比例稀释；新股东认购量</a:t>
            </a:r>
            <a:r>
              <a:rPr lang="en-US" altLang="zh-CN" sz="880">
                <a:solidFill>
                  <a:srgbClr val="3A5652"/>
                </a:solidFill>
                <a:cs typeface="微软雅黑" panose="020B0503020204020204" charset="-122"/>
              </a:rPr>
              <a:t>=</a:t>
            </a:r>
            <a:r>
              <a:rPr lang="zh-CN" altLang="en-US" sz="880">
                <a:solidFill>
                  <a:srgbClr val="3A5652"/>
                </a:solidFill>
                <a:cs typeface="微软雅黑" panose="020B0503020204020204" charset="-122"/>
              </a:rPr>
              <a:t>持股量，零误差验证</a:t>
            </a:r>
            <a:endParaRPr lang="zh-CN" altLang="en-US" sz="880">
              <a:solidFill>
                <a:srgbClr val="3A5652"/>
              </a:solidFill>
              <a:cs typeface="微软雅黑" panose="020B0503020204020204" charset="-122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7826049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+mj-lt"/>
              </a:rPr>
              <a:t>定向发行的三个核心难点</a:t>
            </a:r>
            <a:endParaRPr lang="zh-CN" altLang="en-US">
              <a:latin typeface="+mj-lt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782656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latin typeface="+mn-lt"/>
              </a:rPr>
              <a:t>03</a:t>
            </a:r>
            <a:endParaRPr lang="en-US" altLang="en-US">
              <a:latin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2D28"/>
                </a:solidFill>
              </a:rPr>
              <a:t>定向发行的三个核心难点</a:t>
            </a:r>
            <a:endParaRPr sz="3000" b="1">
              <a:solidFill>
                <a:srgbClr val="112D28"/>
              </a:solidFill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4675" y="1108075"/>
            <a:ext cx="3159125" cy="1876425"/>
          </a:xfrm>
          <a:custGeom>
            <a:avLst/>
            <a:gdLst>
              <a:gd name="sw" fmla="*/ 1 w 6845"/>
              <a:gd name="sh" fmla="*/ 1 h 4065"/>
              <a:gd name="mins" fmla="min sw sh"/>
              <a:gd name="dsw" fmla="+- 0 sw mins"/>
              <a:gd name="dsh" fmla="+- 0 sh mins"/>
              <a:gd name="p0x0" fmla="*/ 90 w 6845"/>
              <a:gd name="p0y0" fmla="*/ 0 h 4065"/>
              <a:gd name="p0x1" fmla="*/ 6755 w 6845"/>
              <a:gd name="p0y1" fmla="*/ 0 h 4065"/>
              <a:gd name="p0x2" fmla="*/ 6804 w 6845"/>
              <a:gd name="p0y2" fmla="*/ 0 h 4065"/>
              <a:gd name="p0x3" fmla="*/ 6845 w 6845"/>
              <a:gd name="p0y3" fmla="*/ 40 h 4065"/>
              <a:gd name="p0x4" fmla="*/ 6845 w 6845"/>
              <a:gd name="p0y4" fmla="*/ 90 h 4065"/>
              <a:gd name="p0x5" fmla="*/ 6845 w 6845"/>
              <a:gd name="p0y5" fmla="*/ 3975 h 4065"/>
              <a:gd name="p0x6" fmla="*/ 6845 w 6845"/>
              <a:gd name="p0y6" fmla="*/ 4024 h 4065"/>
              <a:gd name="p0x7" fmla="*/ 6804 w 6845"/>
              <a:gd name="p0y7" fmla="*/ 4065 h 4065"/>
              <a:gd name="p0x8" fmla="*/ 6755 w 6845"/>
              <a:gd name="p0y8" fmla="*/ 4065 h 4065"/>
              <a:gd name="p0x9" fmla="*/ 90 w 6845"/>
              <a:gd name="p0y9" fmla="*/ 4065 h 4065"/>
              <a:gd name="p0x10" fmla="*/ 40 w 6845"/>
              <a:gd name="p0y10" fmla="*/ 4065 h 4065"/>
              <a:gd name="p0x11" fmla="*/ 0 w 6845"/>
              <a:gd name="p0y11" fmla="*/ 4024 h 4065"/>
              <a:gd name="p0x12" fmla="*/ 0 w 6845"/>
              <a:gd name="p0y12" fmla="*/ 3975 h 4065"/>
              <a:gd name="p0x13" fmla="*/ 0 w 6845"/>
              <a:gd name="p0y13" fmla="*/ 90 h 4065"/>
              <a:gd name="p0x14" fmla="*/ 0 w 6845"/>
              <a:gd name="p0y14" fmla="*/ 40 h 4065"/>
              <a:gd name="p0x15" fmla="*/ 40 w 6845"/>
              <a:gd name="p0y15" fmla="*/ 0 h 4065"/>
              <a:gd name="p0x16" fmla="*/ 90 w 6845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8F5"/>
          </a:solidFill>
          <a:ln w="6923" cmpd="sng">
            <a:solidFill>
              <a:srgbClr val="DBD4C9"/>
            </a:solidFill>
            <a:prstDash val="solid"/>
          </a:ln>
          <a:effectLst>
            <a:outerShdw blurRad="42863" dist="9525" dir="5399999" algn="ctr" rotWithShape="0">
              <a:srgbClr val="112D28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1974215" y="1578610"/>
            <a:ext cx="360045" cy="360045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80 w 780"/>
              <a:gd name="p0y0" fmla="*/ 0 h 780"/>
              <a:gd name="p0x1" fmla="*/ 600 w 780"/>
              <a:gd name="p0y1" fmla="*/ 0 h 780"/>
              <a:gd name="p0x2" fmla="*/ 699 w 780"/>
              <a:gd name="p0y2" fmla="*/ 0 h 780"/>
              <a:gd name="p0x3" fmla="*/ 780 w 780"/>
              <a:gd name="p0y3" fmla="*/ 80 h 780"/>
              <a:gd name="p0x4" fmla="*/ 780 w 780"/>
              <a:gd name="p0y4" fmla="*/ 180 h 780"/>
              <a:gd name="p0x5" fmla="*/ 780 w 780"/>
              <a:gd name="p0y5" fmla="*/ 600 h 780"/>
              <a:gd name="p0x6" fmla="*/ 780 w 780"/>
              <a:gd name="p0y6" fmla="*/ 699 h 780"/>
              <a:gd name="p0x7" fmla="*/ 699 w 780"/>
              <a:gd name="p0y7" fmla="*/ 780 h 780"/>
              <a:gd name="p0x8" fmla="*/ 600 w 780"/>
              <a:gd name="p0y8" fmla="*/ 780 h 780"/>
              <a:gd name="p0x9" fmla="*/ 180 w 780"/>
              <a:gd name="p0y9" fmla="*/ 780 h 780"/>
              <a:gd name="p0x10" fmla="*/ 80 w 780"/>
              <a:gd name="p0y10" fmla="*/ 780 h 780"/>
              <a:gd name="p0x11" fmla="*/ 0 w 780"/>
              <a:gd name="p0y11" fmla="*/ 699 h 780"/>
              <a:gd name="p0x12" fmla="*/ 0 w 780"/>
              <a:gd name="p0y12" fmla="*/ 600 h 780"/>
              <a:gd name="p0x13" fmla="*/ 0 w 780"/>
              <a:gd name="p0y13" fmla="*/ 180 h 780"/>
              <a:gd name="p0x14" fmla="*/ 0 w 780"/>
              <a:gd name="p0y14" fmla="*/ 80 h 780"/>
              <a:gd name="p0x15" fmla="*/ 80 w 780"/>
              <a:gd name="p0y15" fmla="*/ 0 h 780"/>
              <a:gd name="p0x16" fmla="*/ 18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EE5D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905635" y="1632585"/>
            <a:ext cx="497840" cy="2495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83000"/>
              </a:lnSpc>
            </a:pPr>
            <a:r>
              <a:rPr sz="1740" b="1">
                <a:solidFill>
                  <a:srgbClr val="9A7F5E"/>
                </a:solidFill>
              </a:rPr>
              <a:t>01</a:t>
            </a:r>
            <a:endParaRPr sz="1740" b="1">
              <a:solidFill>
                <a:srgbClr val="9A7F5E"/>
              </a:solidFill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894715" y="2010410"/>
            <a:ext cx="2519680" cy="2660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525" b="1">
                <a:solidFill>
                  <a:srgbClr val="112D28"/>
                </a:solidFill>
              </a:rPr>
              <a:t>定向发行明细在段落文字中</a:t>
            </a:r>
            <a:endParaRPr sz="1525" b="1">
              <a:solidFill>
                <a:srgbClr val="112D28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1780540" y="2347595"/>
            <a:ext cx="748030" cy="1663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980">
                <a:solidFill>
                  <a:srgbClr val="3A5652"/>
                </a:solidFill>
              </a:rPr>
              <a:t>不在表格里</a:t>
            </a:r>
            <a:endParaRPr sz="980">
              <a:solidFill>
                <a:srgbClr val="3A5652"/>
              </a:solidFill>
            </a:endParaRPr>
          </a:p>
        </p:txBody>
      </p:sp>
      <p:sp>
        <p:nvSpPr>
          <p:cNvPr id="9" name="任意多边形 8"/>
          <p:cNvSpPr/>
          <p:nvPr>
            <p:custDataLst>
              <p:tags r:id="rId7"/>
            </p:custDataLst>
          </p:nvPr>
        </p:nvSpPr>
        <p:spPr>
          <a:xfrm>
            <a:off x="574675" y="3004820"/>
            <a:ext cx="3159125" cy="3468370"/>
          </a:xfrm>
          <a:custGeom>
            <a:avLst/>
            <a:gdLst>
              <a:gd name="sw" fmla="*/ 1 w 6845"/>
              <a:gd name="sh" fmla="*/ 1 h 7515"/>
              <a:gd name="mins" fmla="min sw sh"/>
              <a:gd name="dsw" fmla="+- 0 sw mins"/>
              <a:gd name="dsh" fmla="+- 0 sh mins"/>
              <a:gd name="p0x0" fmla="*/ 90 w 6845"/>
              <a:gd name="p0y0" fmla="*/ 0 h 7515"/>
              <a:gd name="p0x1" fmla="*/ 6755 w 6845"/>
              <a:gd name="p0y1" fmla="*/ 0 h 7515"/>
              <a:gd name="p0x2" fmla="*/ 6804 w 6845"/>
              <a:gd name="p0y2" fmla="*/ 0 h 7515"/>
              <a:gd name="p0x3" fmla="*/ 6845 w 6845"/>
              <a:gd name="p0y3" fmla="*/ 40 h 7515"/>
              <a:gd name="p0x4" fmla="*/ 6845 w 6845"/>
              <a:gd name="p0y4" fmla="*/ 90 h 7515"/>
              <a:gd name="p0x5" fmla="*/ 6845 w 6845"/>
              <a:gd name="p0y5" fmla="*/ 7425 h 7515"/>
              <a:gd name="p0x6" fmla="*/ 6845 w 6845"/>
              <a:gd name="p0y6" fmla="*/ 7474 h 7515"/>
              <a:gd name="p0x7" fmla="*/ 6804 w 6845"/>
              <a:gd name="p0y7" fmla="*/ 7515 h 7515"/>
              <a:gd name="p0x8" fmla="*/ 6755 w 6845"/>
              <a:gd name="p0y8" fmla="*/ 7515 h 7515"/>
              <a:gd name="p0x9" fmla="*/ 90 w 6845"/>
              <a:gd name="p0y9" fmla="*/ 7515 h 7515"/>
              <a:gd name="p0x10" fmla="*/ 40 w 6845"/>
              <a:gd name="p0y10" fmla="*/ 7515 h 7515"/>
              <a:gd name="p0x11" fmla="*/ 0 w 6845"/>
              <a:gd name="p0y11" fmla="*/ 7474 h 7515"/>
              <a:gd name="p0x12" fmla="*/ 0 w 6845"/>
              <a:gd name="p0y12" fmla="*/ 7425 h 7515"/>
              <a:gd name="p0x13" fmla="*/ 0 w 6845"/>
              <a:gd name="p0y13" fmla="*/ 90 h 7515"/>
              <a:gd name="p0x14" fmla="*/ 0 w 6845"/>
              <a:gd name="p0y14" fmla="*/ 40 h 7515"/>
              <a:gd name="p0x15" fmla="*/ 40 w 6845"/>
              <a:gd name="p0y15" fmla="*/ 0 h 7515"/>
              <a:gd name="p0x16" fmla="*/ 90 w 6845"/>
              <a:gd name="p0y16" fmla="*/ 0 h 75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8F5"/>
          </a:solidFill>
          <a:ln w="6923" cmpd="sng">
            <a:solidFill>
              <a:srgbClr val="DBD4C9"/>
            </a:solidFill>
            <a:prstDash val="solid"/>
          </a:ln>
          <a:effectLst>
            <a:outerShdw blurRad="42863" dist="9525" dir="5399999" algn="ctr" rotWithShape="0">
              <a:srgbClr val="112D28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8"/>
            </p:custDataLst>
          </p:nvPr>
        </p:nvSpPr>
        <p:spPr>
          <a:xfrm>
            <a:off x="716915" y="3479165"/>
            <a:ext cx="248920" cy="249555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80 w 540"/>
              <a:gd name="p0y0" fmla="*/ 0 h 540"/>
              <a:gd name="p0x1" fmla="*/ 360 w 540"/>
              <a:gd name="p0y1" fmla="*/ 0 h 540"/>
              <a:gd name="p0x2" fmla="*/ 459 w 540"/>
              <a:gd name="p0y2" fmla="*/ 0 h 540"/>
              <a:gd name="p0x3" fmla="*/ 540 w 540"/>
              <a:gd name="p0y3" fmla="*/ 80 h 540"/>
              <a:gd name="p0x4" fmla="*/ 540 w 540"/>
              <a:gd name="p0y4" fmla="*/ 180 h 540"/>
              <a:gd name="p0x5" fmla="*/ 540 w 540"/>
              <a:gd name="p0y5" fmla="*/ 360 h 540"/>
              <a:gd name="p0x6" fmla="*/ 540 w 540"/>
              <a:gd name="p0y6" fmla="*/ 459 h 540"/>
              <a:gd name="p0x7" fmla="*/ 459 w 540"/>
              <a:gd name="p0y7" fmla="*/ 540 h 540"/>
              <a:gd name="p0x8" fmla="*/ 360 w 540"/>
              <a:gd name="p0y8" fmla="*/ 540 h 540"/>
              <a:gd name="p0x9" fmla="*/ 180 w 540"/>
              <a:gd name="p0y9" fmla="*/ 540 h 540"/>
              <a:gd name="p0x10" fmla="*/ 80 w 540"/>
              <a:gd name="p0y10" fmla="*/ 540 h 540"/>
              <a:gd name="p0x11" fmla="*/ 0 w 540"/>
              <a:gd name="p0y11" fmla="*/ 459 h 540"/>
              <a:gd name="p0x12" fmla="*/ 0 w 540"/>
              <a:gd name="p0y12" fmla="*/ 360 h 540"/>
              <a:gd name="p0x13" fmla="*/ 0 w 540"/>
              <a:gd name="p0y13" fmla="*/ 180 h 540"/>
              <a:gd name="p0x14" fmla="*/ 0 w 540"/>
              <a:gd name="p0y14" fmla="*/ 80 h 540"/>
              <a:gd name="p0x15" fmla="*/ 80 w 540"/>
              <a:gd name="p0y15" fmla="*/ 0 h 540"/>
              <a:gd name="p0x16" fmla="*/ 18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EE5D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-4259" t="-12593" r="-4259" b="-12593"/>
          <a:stretch>
            <a:fillRect/>
          </a:stretch>
        </p:blipFill>
        <p:spPr>
          <a:xfrm>
            <a:off x="773430" y="3524250"/>
            <a:ext cx="135255" cy="15621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2"/>
            </p:custDataLst>
          </p:nvPr>
        </p:nvSpPr>
        <p:spPr>
          <a:xfrm>
            <a:off x="1049020" y="3371850"/>
            <a:ext cx="2543175" cy="4603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090">
                <a:solidFill>
                  <a:srgbClr val="112D28"/>
                </a:solidFill>
                <a:cs typeface="微软雅黑" panose="020B0503020204020204" charset="-122"/>
              </a:rPr>
              <a:t>不同于友升股份</a:t>
            </a:r>
            <a:r>
              <a:rPr lang="en-US" altLang="zh-CN" sz="1090">
                <a:solidFill>
                  <a:srgbClr val="112D28"/>
                </a:solidFill>
                <a:cs typeface="微软雅黑" panose="020B0503020204020204" charset="-122"/>
              </a:rPr>
              <a:t>"</a:t>
            </a:r>
            <a:r>
              <a:rPr lang="zh-CN" altLang="en-US" sz="1090">
                <a:solidFill>
                  <a:srgbClr val="112D28"/>
                </a:solidFill>
                <a:cs typeface="微软雅黑" panose="020B0503020204020204" charset="-122"/>
              </a:rPr>
              <a:t>认购人</a:t>
            </a:r>
            <a:r>
              <a:rPr lang="en-US" altLang="zh-CN" sz="1090">
                <a:solidFill>
                  <a:srgbClr val="112D28"/>
                </a:solidFill>
                <a:cs typeface="微软雅黑" panose="020B0503020204020204" charset="-122"/>
              </a:rPr>
              <a:t>/</a:t>
            </a:r>
            <a:r>
              <a:rPr lang="zh-CN" altLang="en-US" sz="1090">
                <a:solidFill>
                  <a:srgbClr val="112D28"/>
                </a:solidFill>
                <a:cs typeface="微软雅黑" panose="020B0503020204020204" charset="-122"/>
              </a:rPr>
              <a:t>认购数量</a:t>
            </a:r>
            <a:r>
              <a:rPr lang="en-US" altLang="zh-CN" sz="1090">
                <a:solidFill>
                  <a:srgbClr val="112D28"/>
                </a:solidFill>
                <a:cs typeface="微软雅黑" panose="020B0503020204020204" charset="-122"/>
              </a:rPr>
              <a:t>/</a:t>
            </a:r>
            <a:r>
              <a:rPr lang="zh-CN" altLang="en-US" sz="1090">
                <a:solidFill>
                  <a:srgbClr val="112D28"/>
                </a:solidFill>
                <a:cs typeface="微软雅黑" panose="020B0503020204020204" charset="-122"/>
              </a:rPr>
              <a:t>认购金额</a:t>
            </a:r>
            <a:r>
              <a:rPr lang="en-US" altLang="zh-CN" sz="1090">
                <a:solidFill>
                  <a:srgbClr val="112D28"/>
                </a:solidFill>
                <a:cs typeface="微软雅黑" panose="020B0503020204020204" charset="-122"/>
              </a:rPr>
              <a:t>"</a:t>
            </a:r>
            <a:r>
              <a:rPr lang="zh-CN" altLang="en-US" sz="1090">
                <a:solidFill>
                  <a:srgbClr val="112D28"/>
                </a:solidFill>
                <a:cs typeface="微软雅黑" panose="020B0503020204020204" charset="-122"/>
              </a:rPr>
              <a:t>三列表格</a:t>
            </a:r>
            <a:endParaRPr lang="zh-CN" altLang="en-US" sz="1090">
              <a:solidFill>
                <a:srgbClr val="112D28"/>
              </a:solidFill>
              <a:cs typeface="微软雅黑" panose="020B050302020402020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3"/>
            </p:custDataLst>
          </p:nvPr>
        </p:nvSpPr>
        <p:spPr>
          <a:xfrm>
            <a:off x="716915" y="4046855"/>
            <a:ext cx="248920" cy="249555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80 w 540"/>
              <a:gd name="p0y0" fmla="*/ 0 h 540"/>
              <a:gd name="p0x1" fmla="*/ 360 w 540"/>
              <a:gd name="p0y1" fmla="*/ 0 h 540"/>
              <a:gd name="p0x2" fmla="*/ 459 w 540"/>
              <a:gd name="p0y2" fmla="*/ 0 h 540"/>
              <a:gd name="p0x3" fmla="*/ 540 w 540"/>
              <a:gd name="p0y3" fmla="*/ 80 h 540"/>
              <a:gd name="p0x4" fmla="*/ 540 w 540"/>
              <a:gd name="p0y4" fmla="*/ 180 h 540"/>
              <a:gd name="p0x5" fmla="*/ 540 w 540"/>
              <a:gd name="p0y5" fmla="*/ 360 h 540"/>
              <a:gd name="p0x6" fmla="*/ 540 w 540"/>
              <a:gd name="p0y6" fmla="*/ 459 h 540"/>
              <a:gd name="p0x7" fmla="*/ 459 w 540"/>
              <a:gd name="p0y7" fmla="*/ 540 h 540"/>
              <a:gd name="p0x8" fmla="*/ 360 w 540"/>
              <a:gd name="p0y8" fmla="*/ 540 h 540"/>
              <a:gd name="p0x9" fmla="*/ 180 w 540"/>
              <a:gd name="p0y9" fmla="*/ 540 h 540"/>
              <a:gd name="p0x10" fmla="*/ 80 w 540"/>
              <a:gd name="p0y10" fmla="*/ 540 h 540"/>
              <a:gd name="p0x11" fmla="*/ 0 w 540"/>
              <a:gd name="p0y11" fmla="*/ 459 h 540"/>
              <a:gd name="p0x12" fmla="*/ 0 w 540"/>
              <a:gd name="p0y12" fmla="*/ 360 h 540"/>
              <a:gd name="p0x13" fmla="*/ 0 w 540"/>
              <a:gd name="p0y13" fmla="*/ 180 h 540"/>
              <a:gd name="p0x14" fmla="*/ 0 w 540"/>
              <a:gd name="p0y14" fmla="*/ 80 h 540"/>
              <a:gd name="p0x15" fmla="*/ 80 w 540"/>
              <a:gd name="p0y15" fmla="*/ 0 h 540"/>
              <a:gd name="p0x16" fmla="*/ 18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EE5D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-1458" t="-3651" r="-1458" b="-3651"/>
          <a:stretch>
            <a:fillRect/>
          </a:stretch>
        </p:blipFill>
        <p:spPr>
          <a:xfrm>
            <a:off x="784225" y="4091940"/>
            <a:ext cx="114300" cy="156210"/>
          </a:xfrm>
          <a:prstGeom prst="rect">
            <a:avLst/>
          </a:prstGeom>
        </p:spPr>
      </p:pic>
      <p:sp>
        <p:nvSpPr>
          <p:cNvPr id="15" name="文本框 14"/>
          <p:cNvSpPr txBox="1"/>
          <p:nvPr>
            <p:custDataLst>
              <p:tags r:id="rId17"/>
            </p:custDataLst>
          </p:nvPr>
        </p:nvSpPr>
        <p:spPr>
          <a:xfrm>
            <a:off x="1049020" y="3829050"/>
            <a:ext cx="2543175" cy="6819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090">
                <a:solidFill>
                  <a:srgbClr val="112D28"/>
                </a:solidFill>
                <a:cs typeface="微软雅黑" panose="020B0503020204020204" charset="-122"/>
              </a:rPr>
              <a:t>第</a:t>
            </a:r>
            <a:r>
              <a:rPr lang="en-US" altLang="zh-CN" sz="1090">
                <a:solidFill>
                  <a:srgbClr val="112D28"/>
                </a:solidFill>
                <a:cs typeface="微软雅黑" panose="020B0503020204020204" charset="-122"/>
              </a:rPr>
              <a:t>35</a:t>
            </a:r>
            <a:r>
              <a:rPr lang="zh-CN" altLang="en-US" sz="1090">
                <a:solidFill>
                  <a:srgbClr val="112D28"/>
                </a:solidFill>
                <a:cs typeface="微软雅黑" panose="020B0503020204020204" charset="-122"/>
              </a:rPr>
              <a:t>页发行信息写在连续段落：</a:t>
            </a:r>
            <a:r>
              <a:rPr lang="en-US" altLang="zh-CN" sz="1090">
                <a:solidFill>
                  <a:srgbClr val="112D28"/>
                </a:solidFill>
                <a:cs typeface="微软雅黑" panose="020B0503020204020204" charset="-122"/>
              </a:rPr>
              <a:t>"</a:t>
            </a:r>
            <a:r>
              <a:rPr lang="zh-CN" altLang="en-US" sz="1090">
                <a:solidFill>
                  <a:srgbClr val="112D28"/>
                </a:solidFill>
                <a:cs typeface="微软雅黑" panose="020B0503020204020204" charset="-122"/>
              </a:rPr>
              <a:t>本次股票发行股数为</a:t>
            </a:r>
            <a:r>
              <a:rPr lang="en-US" altLang="zh-CN" sz="1090">
                <a:solidFill>
                  <a:srgbClr val="112D28"/>
                </a:solidFill>
                <a:cs typeface="微软雅黑" panose="020B0503020204020204" charset="-122"/>
              </a:rPr>
              <a:t>7,500,000</a:t>
            </a:r>
            <a:r>
              <a:rPr lang="zh-CN" altLang="en-US" sz="1090">
                <a:solidFill>
                  <a:srgbClr val="112D28"/>
                </a:solidFill>
                <a:cs typeface="微软雅黑" panose="020B0503020204020204" charset="-122"/>
              </a:rPr>
              <a:t>股，每股价格为人民币</a:t>
            </a:r>
            <a:r>
              <a:rPr lang="en-US" altLang="zh-CN" sz="1090">
                <a:solidFill>
                  <a:srgbClr val="112D28"/>
                </a:solidFill>
                <a:cs typeface="微软雅黑" panose="020B0503020204020204" charset="-122"/>
              </a:rPr>
              <a:t>6.30</a:t>
            </a:r>
            <a:r>
              <a:rPr lang="zh-CN" altLang="en-US" sz="1090">
                <a:solidFill>
                  <a:srgbClr val="112D28"/>
                </a:solidFill>
                <a:cs typeface="微软雅黑" panose="020B0503020204020204" charset="-122"/>
              </a:rPr>
              <a:t>元</a:t>
            </a:r>
            <a:r>
              <a:rPr lang="en-US" altLang="zh-CN" sz="1090">
                <a:solidFill>
                  <a:srgbClr val="112D28"/>
                </a:solidFill>
                <a:cs typeface="微软雅黑" panose="020B0503020204020204" charset="-122"/>
              </a:rPr>
              <a:t>"</a:t>
            </a:r>
            <a:endParaRPr lang="en-US" altLang="zh-CN" sz="1090">
              <a:solidFill>
                <a:srgbClr val="112D28"/>
              </a:solidFill>
              <a:cs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8"/>
            </p:custDataLst>
          </p:nvPr>
        </p:nvSpPr>
        <p:spPr>
          <a:xfrm>
            <a:off x="716915" y="4614545"/>
            <a:ext cx="248920" cy="249555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80 w 540"/>
              <a:gd name="p0y0" fmla="*/ 0 h 540"/>
              <a:gd name="p0x1" fmla="*/ 360 w 540"/>
              <a:gd name="p0y1" fmla="*/ 0 h 540"/>
              <a:gd name="p0x2" fmla="*/ 459 w 540"/>
              <a:gd name="p0y2" fmla="*/ 0 h 540"/>
              <a:gd name="p0x3" fmla="*/ 540 w 540"/>
              <a:gd name="p0y3" fmla="*/ 80 h 540"/>
              <a:gd name="p0x4" fmla="*/ 540 w 540"/>
              <a:gd name="p0y4" fmla="*/ 180 h 540"/>
              <a:gd name="p0x5" fmla="*/ 540 w 540"/>
              <a:gd name="p0y5" fmla="*/ 360 h 540"/>
              <a:gd name="p0x6" fmla="*/ 540 w 540"/>
              <a:gd name="p0y6" fmla="*/ 459 h 540"/>
              <a:gd name="p0x7" fmla="*/ 459 w 540"/>
              <a:gd name="p0y7" fmla="*/ 540 h 540"/>
              <a:gd name="p0x8" fmla="*/ 360 w 540"/>
              <a:gd name="p0y8" fmla="*/ 540 h 540"/>
              <a:gd name="p0x9" fmla="*/ 180 w 540"/>
              <a:gd name="p0y9" fmla="*/ 540 h 540"/>
              <a:gd name="p0x10" fmla="*/ 80 w 540"/>
              <a:gd name="p0y10" fmla="*/ 540 h 540"/>
              <a:gd name="p0x11" fmla="*/ 0 w 540"/>
              <a:gd name="p0y11" fmla="*/ 459 h 540"/>
              <a:gd name="p0x12" fmla="*/ 0 w 540"/>
              <a:gd name="p0y12" fmla="*/ 360 h 540"/>
              <a:gd name="p0x13" fmla="*/ 0 w 540"/>
              <a:gd name="p0y13" fmla="*/ 180 h 540"/>
              <a:gd name="p0x14" fmla="*/ 0 w 540"/>
              <a:gd name="p0y14" fmla="*/ 80 h 540"/>
              <a:gd name="p0x15" fmla="*/ 80 w 540"/>
              <a:gd name="p0y15" fmla="*/ 0 h 540"/>
              <a:gd name="p0x16" fmla="*/ 18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EE5D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 l="-2949" t="-3651" r="-2949" b="-3651"/>
          <a:stretch>
            <a:fillRect/>
          </a:stretch>
        </p:blipFill>
        <p:spPr>
          <a:xfrm>
            <a:off x="746125" y="4659630"/>
            <a:ext cx="190500" cy="15621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22"/>
            </p:custDataLst>
          </p:nvPr>
        </p:nvSpPr>
        <p:spPr>
          <a:xfrm>
            <a:off x="1049020" y="4507230"/>
            <a:ext cx="2543175" cy="4603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090">
                <a:solidFill>
                  <a:srgbClr val="112D28"/>
                </a:solidFill>
                <a:cs typeface="微软雅黑" panose="020B0503020204020204" charset="-122"/>
              </a:rPr>
              <a:t>AI</a:t>
            </a:r>
            <a:r>
              <a:rPr lang="zh-CN" sz="1090">
                <a:solidFill>
                  <a:srgbClr val="112D28"/>
                </a:solidFill>
                <a:cs typeface="微软雅黑" panose="020B0503020204020204" charset="-122"/>
              </a:rPr>
              <a:t>需从一段话拆出三个独立数值字段（总量、价格、总金额）</a:t>
            </a:r>
            <a:endParaRPr lang="zh-CN" sz="1090">
              <a:solidFill>
                <a:srgbClr val="112D28"/>
              </a:solidFill>
              <a:cs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23"/>
            </p:custDataLst>
          </p:nvPr>
        </p:nvSpPr>
        <p:spPr>
          <a:xfrm>
            <a:off x="716915" y="5071745"/>
            <a:ext cx="248920" cy="24892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80 w 540"/>
              <a:gd name="p0y0" fmla="*/ 0 h 540"/>
              <a:gd name="p0x1" fmla="*/ 360 w 540"/>
              <a:gd name="p0y1" fmla="*/ 0 h 540"/>
              <a:gd name="p0x2" fmla="*/ 459 w 540"/>
              <a:gd name="p0y2" fmla="*/ 0 h 540"/>
              <a:gd name="p0x3" fmla="*/ 540 w 540"/>
              <a:gd name="p0y3" fmla="*/ 80 h 540"/>
              <a:gd name="p0x4" fmla="*/ 540 w 540"/>
              <a:gd name="p0y4" fmla="*/ 180 h 540"/>
              <a:gd name="p0x5" fmla="*/ 540 w 540"/>
              <a:gd name="p0y5" fmla="*/ 360 h 540"/>
              <a:gd name="p0x6" fmla="*/ 540 w 540"/>
              <a:gd name="p0y6" fmla="*/ 459 h 540"/>
              <a:gd name="p0x7" fmla="*/ 459 w 540"/>
              <a:gd name="p0y7" fmla="*/ 540 h 540"/>
              <a:gd name="p0x8" fmla="*/ 360 w 540"/>
              <a:gd name="p0y8" fmla="*/ 540 h 540"/>
              <a:gd name="p0x9" fmla="*/ 180 w 540"/>
              <a:gd name="p0y9" fmla="*/ 540 h 540"/>
              <a:gd name="p0x10" fmla="*/ 80 w 540"/>
              <a:gd name="p0y10" fmla="*/ 540 h 540"/>
              <a:gd name="p0x11" fmla="*/ 0 w 540"/>
              <a:gd name="p0y11" fmla="*/ 459 h 540"/>
              <a:gd name="p0x12" fmla="*/ 0 w 540"/>
              <a:gd name="p0y12" fmla="*/ 360 h 540"/>
              <a:gd name="p0x13" fmla="*/ 0 w 540"/>
              <a:gd name="p0y13" fmla="*/ 180 h 540"/>
              <a:gd name="p0x14" fmla="*/ 0 w 540"/>
              <a:gd name="p0y14" fmla="*/ 80 h 540"/>
              <a:gd name="p0x15" fmla="*/ 80 w 540"/>
              <a:gd name="p0y15" fmla="*/ 0 h 540"/>
              <a:gd name="p0x16" fmla="*/ 18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EE5D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-1458" t="-3651" r="-1458" b="-3651"/>
          <a:stretch>
            <a:fillRect/>
          </a:stretch>
        </p:blipFill>
        <p:spPr>
          <a:xfrm>
            <a:off x="784225" y="5116195"/>
            <a:ext cx="114300" cy="156210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27"/>
            </p:custDataLst>
          </p:nvPr>
        </p:nvSpPr>
        <p:spPr>
          <a:xfrm>
            <a:off x="1049020" y="4964430"/>
            <a:ext cx="2543175" cy="4603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090">
                <a:solidFill>
                  <a:srgbClr val="112D28"/>
                </a:solidFill>
                <a:cs typeface="微软雅黑" panose="020B0503020204020204" charset="-122"/>
              </a:rPr>
              <a:t>三家认购方数量需从第</a:t>
            </a:r>
            <a:r>
              <a:rPr lang="en-US" altLang="zh-CN" sz="1090">
                <a:solidFill>
                  <a:srgbClr val="112D28"/>
                </a:solidFill>
                <a:cs typeface="微软雅黑" panose="020B0503020204020204" charset="-122"/>
              </a:rPr>
              <a:t>47</a:t>
            </a:r>
            <a:r>
              <a:rPr lang="zh-CN" altLang="en-US" sz="1090">
                <a:solidFill>
                  <a:srgbClr val="112D28"/>
                </a:solidFill>
                <a:cs typeface="微软雅黑" panose="020B0503020204020204" charset="-122"/>
              </a:rPr>
              <a:t>页股权结构反推，属</a:t>
            </a:r>
            <a:r>
              <a:rPr lang="en-US" altLang="zh-CN" sz="1090">
                <a:solidFill>
                  <a:srgbClr val="112D28"/>
                </a:solidFill>
                <a:cs typeface="微软雅黑" panose="020B0503020204020204" charset="-122"/>
              </a:rPr>
              <a:t>calculated</a:t>
            </a:r>
            <a:r>
              <a:rPr lang="zh-CN" altLang="en-US" sz="1090">
                <a:solidFill>
                  <a:srgbClr val="112D28"/>
                </a:solidFill>
                <a:cs typeface="微软雅黑" panose="020B0503020204020204" charset="-122"/>
              </a:rPr>
              <a:t>值</a:t>
            </a:r>
            <a:endParaRPr lang="zh-CN" altLang="en-US" sz="1090">
              <a:solidFill>
                <a:srgbClr val="112D28"/>
              </a:solidFill>
              <a:cs typeface="微软雅黑" panose="020B050302020402020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28"/>
            </p:custDataLst>
          </p:nvPr>
        </p:nvSpPr>
        <p:spPr>
          <a:xfrm>
            <a:off x="716915" y="5639435"/>
            <a:ext cx="248920" cy="24892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80 w 540"/>
              <a:gd name="p0y0" fmla="*/ 0 h 540"/>
              <a:gd name="p0x1" fmla="*/ 360 w 540"/>
              <a:gd name="p0y1" fmla="*/ 0 h 540"/>
              <a:gd name="p0x2" fmla="*/ 459 w 540"/>
              <a:gd name="p0y2" fmla="*/ 0 h 540"/>
              <a:gd name="p0x3" fmla="*/ 540 w 540"/>
              <a:gd name="p0y3" fmla="*/ 80 h 540"/>
              <a:gd name="p0x4" fmla="*/ 540 w 540"/>
              <a:gd name="p0y4" fmla="*/ 180 h 540"/>
              <a:gd name="p0x5" fmla="*/ 540 w 540"/>
              <a:gd name="p0y5" fmla="*/ 360 h 540"/>
              <a:gd name="p0x6" fmla="*/ 540 w 540"/>
              <a:gd name="p0y6" fmla="*/ 459 h 540"/>
              <a:gd name="p0x7" fmla="*/ 459 w 540"/>
              <a:gd name="p0y7" fmla="*/ 540 h 540"/>
              <a:gd name="p0x8" fmla="*/ 360 w 540"/>
              <a:gd name="p0y8" fmla="*/ 540 h 540"/>
              <a:gd name="p0x9" fmla="*/ 180 w 540"/>
              <a:gd name="p0y9" fmla="*/ 540 h 540"/>
              <a:gd name="p0x10" fmla="*/ 80 w 540"/>
              <a:gd name="p0y10" fmla="*/ 540 h 540"/>
              <a:gd name="p0x11" fmla="*/ 0 w 540"/>
              <a:gd name="p0y11" fmla="*/ 459 h 540"/>
              <a:gd name="p0x12" fmla="*/ 0 w 540"/>
              <a:gd name="p0y12" fmla="*/ 360 h 540"/>
              <a:gd name="p0x13" fmla="*/ 0 w 540"/>
              <a:gd name="p0y13" fmla="*/ 180 h 540"/>
              <a:gd name="p0x14" fmla="*/ 0 w 540"/>
              <a:gd name="p0y14" fmla="*/ 80 h 540"/>
              <a:gd name="p0x15" fmla="*/ 80 w 540"/>
              <a:gd name="p0y15" fmla="*/ 0 h 540"/>
              <a:gd name="p0x16" fmla="*/ 18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EE5D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 l="-4889" t="-9298" r="-4889" b="-9298"/>
          <a:stretch>
            <a:fillRect/>
          </a:stretch>
        </p:blipFill>
        <p:spPr>
          <a:xfrm>
            <a:off x="784225" y="5683885"/>
            <a:ext cx="114300" cy="156210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32"/>
            </p:custDataLst>
          </p:nvPr>
        </p:nvSpPr>
        <p:spPr>
          <a:xfrm>
            <a:off x="1049020" y="5420995"/>
            <a:ext cx="2543175" cy="6819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090">
                <a:solidFill>
                  <a:srgbClr val="112D28"/>
                </a:solidFill>
                <a:cs typeface="微软雅黑" panose="020B0503020204020204" charset="-122"/>
              </a:rPr>
              <a:t>PDF</a:t>
            </a:r>
            <a:r>
              <a:rPr lang="zh-CN" altLang="en-US" sz="1090">
                <a:solidFill>
                  <a:srgbClr val="112D28"/>
                </a:solidFill>
                <a:cs typeface="微软雅黑" panose="020B0503020204020204" charset="-122"/>
              </a:rPr>
              <a:t>披露：</a:t>
            </a:r>
            <a:r>
              <a:rPr lang="en-US" altLang="zh-CN" sz="1090">
                <a:solidFill>
                  <a:srgbClr val="112D28"/>
                </a:solidFill>
                <a:cs typeface="微软雅黑" panose="020B0503020204020204" charset="-122"/>
              </a:rPr>
              <a:t>750</a:t>
            </a:r>
            <a:r>
              <a:rPr lang="zh-CN" altLang="en-US" sz="1090">
                <a:solidFill>
                  <a:srgbClr val="112D28"/>
                </a:solidFill>
                <a:cs typeface="微软雅黑" panose="020B0503020204020204" charset="-122"/>
              </a:rPr>
              <a:t>万股、</a:t>
            </a:r>
            <a:r>
              <a:rPr lang="en-US" altLang="zh-CN" sz="1090">
                <a:solidFill>
                  <a:srgbClr val="112D28"/>
                </a:solidFill>
                <a:cs typeface="微软雅黑" panose="020B0503020204020204" charset="-122"/>
              </a:rPr>
              <a:t>6.30</a:t>
            </a:r>
            <a:r>
              <a:rPr lang="zh-CN" altLang="en-US" sz="1090">
                <a:solidFill>
                  <a:srgbClr val="112D28"/>
                </a:solidFill>
                <a:cs typeface="微软雅黑" panose="020B0503020204020204" charset="-122"/>
              </a:rPr>
              <a:t>元、</a:t>
            </a:r>
            <a:r>
              <a:rPr lang="en-US" altLang="zh-CN" sz="1090">
                <a:solidFill>
                  <a:srgbClr val="112D28"/>
                </a:solidFill>
                <a:cs typeface="微软雅黑" panose="020B0503020204020204" charset="-122"/>
              </a:rPr>
              <a:t>4725</a:t>
            </a:r>
            <a:r>
              <a:rPr lang="zh-CN" altLang="en-US" sz="1090">
                <a:solidFill>
                  <a:srgbClr val="112D28"/>
                </a:solidFill>
                <a:cs typeface="微软雅黑" panose="020B0503020204020204" charset="-122"/>
              </a:rPr>
              <a:t>万元；需推算：策星银河</a:t>
            </a:r>
            <a:r>
              <a:rPr lang="en-US" altLang="zh-CN" sz="1090">
                <a:solidFill>
                  <a:srgbClr val="112D28"/>
                </a:solidFill>
                <a:cs typeface="微软雅黑" panose="020B0503020204020204" charset="-122"/>
              </a:rPr>
              <a:t>279</a:t>
            </a:r>
            <a:r>
              <a:rPr lang="zh-CN" altLang="en-US" sz="1090">
                <a:solidFill>
                  <a:srgbClr val="112D28"/>
                </a:solidFill>
                <a:cs typeface="微软雅黑" panose="020B0503020204020204" charset="-122"/>
              </a:rPr>
              <a:t>万、策星逐日</a:t>
            </a:r>
            <a:r>
              <a:rPr lang="en-US" altLang="zh-CN" sz="1090">
                <a:solidFill>
                  <a:srgbClr val="112D28"/>
                </a:solidFill>
                <a:cs typeface="微软雅黑" panose="020B0503020204020204" charset="-122"/>
              </a:rPr>
              <a:t>171</a:t>
            </a:r>
            <a:r>
              <a:rPr lang="zh-CN" altLang="en-US" sz="1090">
                <a:solidFill>
                  <a:srgbClr val="112D28"/>
                </a:solidFill>
                <a:cs typeface="微软雅黑" panose="020B0503020204020204" charset="-122"/>
              </a:rPr>
              <a:t>万、幸福二期</a:t>
            </a:r>
            <a:r>
              <a:rPr lang="en-US" altLang="zh-CN" sz="1090">
                <a:solidFill>
                  <a:srgbClr val="112D28"/>
                </a:solidFill>
                <a:cs typeface="微软雅黑" panose="020B0503020204020204" charset="-122"/>
              </a:rPr>
              <a:t>300</a:t>
            </a:r>
            <a:r>
              <a:rPr lang="zh-CN" altLang="en-US" sz="1090">
                <a:solidFill>
                  <a:srgbClr val="112D28"/>
                </a:solidFill>
                <a:cs typeface="微软雅黑" panose="020B0503020204020204" charset="-122"/>
              </a:rPr>
              <a:t>万</a:t>
            </a:r>
            <a:endParaRPr lang="zh-CN" altLang="en-US" sz="1090">
              <a:solidFill>
                <a:srgbClr val="112D28"/>
              </a:solidFill>
              <a:cs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33"/>
            </p:custDataLst>
          </p:nvPr>
        </p:nvSpPr>
        <p:spPr>
          <a:xfrm>
            <a:off x="3989705" y="1109345"/>
            <a:ext cx="4211955" cy="1851025"/>
          </a:xfrm>
          <a:custGeom>
            <a:avLst/>
            <a:gdLst>
              <a:gd name="sw" fmla="*/ 1 w 6633"/>
              <a:gd name="sh" fmla="*/ 1 h 2915"/>
              <a:gd name="mins" fmla="min sw sh"/>
              <a:gd name="dsw" fmla="+- 0 sw mins"/>
              <a:gd name="dsh" fmla="+- 0 sh mins"/>
              <a:gd name="p0x0" fmla="*/ 90 w 6633"/>
              <a:gd name="p0y0" fmla="*/ 0 h 2915"/>
              <a:gd name="p0x1" fmla="*/ 6543 w 6633"/>
              <a:gd name="p0y1" fmla="*/ 0 h 2915"/>
              <a:gd name="p0x2" fmla="*/ 6592 w 6633"/>
              <a:gd name="p0y2" fmla="*/ 0 h 2915"/>
              <a:gd name="p0x3" fmla="*/ 6633 w 6633"/>
              <a:gd name="p0y3" fmla="*/ 40 h 2915"/>
              <a:gd name="p0x4" fmla="*/ 6633 w 6633"/>
              <a:gd name="p0y4" fmla="*/ 90 h 2915"/>
              <a:gd name="p0x5" fmla="*/ 6633 w 6633"/>
              <a:gd name="p0y5" fmla="*/ 2825 h 2915"/>
              <a:gd name="p0x6" fmla="*/ 6633 w 6633"/>
              <a:gd name="p0y6" fmla="*/ 2874 h 2915"/>
              <a:gd name="p0x7" fmla="*/ 6592 w 6633"/>
              <a:gd name="p0y7" fmla="*/ 2915 h 2915"/>
              <a:gd name="p0x8" fmla="*/ 6543 w 6633"/>
              <a:gd name="p0y8" fmla="*/ 2915 h 2915"/>
              <a:gd name="p0x9" fmla="*/ 90 w 6633"/>
              <a:gd name="p0y9" fmla="*/ 2915 h 2915"/>
              <a:gd name="p0x10" fmla="*/ 40 w 6633"/>
              <a:gd name="p0y10" fmla="*/ 2915 h 2915"/>
              <a:gd name="p0x11" fmla="*/ 0 w 6633"/>
              <a:gd name="p0y11" fmla="*/ 2874 h 2915"/>
              <a:gd name="p0x12" fmla="*/ 0 w 6633"/>
              <a:gd name="p0y12" fmla="*/ 2825 h 2915"/>
              <a:gd name="p0x13" fmla="*/ 0 w 6633"/>
              <a:gd name="p0y13" fmla="*/ 90 h 2915"/>
              <a:gd name="p0x14" fmla="*/ 0 w 6633"/>
              <a:gd name="p0y14" fmla="*/ 40 h 2915"/>
              <a:gd name="p0x15" fmla="*/ 40 w 6633"/>
              <a:gd name="p0y15" fmla="*/ 0 h 2915"/>
              <a:gd name="p0x16" fmla="*/ 90 w 6633"/>
              <a:gd name="p0y16" fmla="*/ 0 h 29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9A7F5E"/>
          </a:solidFill>
          <a:ln w="9525" cmpd="sng">
            <a:solidFill>
              <a:srgbClr val="DBD4C9"/>
            </a:solidFill>
            <a:prstDash val="solid"/>
          </a:ln>
          <a:effectLst>
            <a:outerShdw blurRad="42863" dist="9525" dir="5399999" algn="ctr" rotWithShape="0">
              <a:srgbClr val="112D28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>
            <p:custDataLst>
              <p:tags r:id="rId34"/>
            </p:custDataLst>
          </p:nvPr>
        </p:nvSpPr>
        <p:spPr>
          <a:xfrm>
            <a:off x="5848350" y="1391920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80 w 780"/>
              <a:gd name="p0y0" fmla="*/ 0 h 780"/>
              <a:gd name="p0x1" fmla="*/ 600 w 780"/>
              <a:gd name="p0y1" fmla="*/ 0 h 780"/>
              <a:gd name="p0x2" fmla="*/ 699 w 780"/>
              <a:gd name="p0y2" fmla="*/ 0 h 780"/>
              <a:gd name="p0x3" fmla="*/ 780 w 780"/>
              <a:gd name="p0y3" fmla="*/ 80 h 780"/>
              <a:gd name="p0x4" fmla="*/ 780 w 780"/>
              <a:gd name="p0y4" fmla="*/ 180 h 780"/>
              <a:gd name="p0x5" fmla="*/ 780 w 780"/>
              <a:gd name="p0y5" fmla="*/ 600 h 780"/>
              <a:gd name="p0x6" fmla="*/ 780 w 780"/>
              <a:gd name="p0y6" fmla="*/ 699 h 780"/>
              <a:gd name="p0x7" fmla="*/ 699 w 780"/>
              <a:gd name="p0y7" fmla="*/ 780 h 780"/>
              <a:gd name="p0x8" fmla="*/ 600 w 780"/>
              <a:gd name="p0y8" fmla="*/ 780 h 780"/>
              <a:gd name="p0x9" fmla="*/ 180 w 780"/>
              <a:gd name="p0y9" fmla="*/ 780 h 780"/>
              <a:gd name="p0x10" fmla="*/ 80 w 780"/>
              <a:gd name="p0y10" fmla="*/ 780 h 780"/>
              <a:gd name="p0x11" fmla="*/ 0 w 780"/>
              <a:gd name="p0y11" fmla="*/ 699 h 780"/>
              <a:gd name="p0x12" fmla="*/ 0 w 780"/>
              <a:gd name="p0y12" fmla="*/ 600 h 780"/>
              <a:gd name="p0x13" fmla="*/ 0 w 780"/>
              <a:gd name="p0y13" fmla="*/ 180 h 780"/>
              <a:gd name="p0x14" fmla="*/ 0 w 780"/>
              <a:gd name="p0y14" fmla="*/ 80 h 780"/>
              <a:gd name="p0x15" fmla="*/ 80 w 780"/>
              <a:gd name="p0y15" fmla="*/ 0 h 780"/>
              <a:gd name="p0x16" fmla="*/ 18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EE5D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35"/>
            </p:custDataLst>
          </p:nvPr>
        </p:nvSpPr>
        <p:spPr>
          <a:xfrm>
            <a:off x="5753395" y="1465555"/>
            <a:ext cx="685209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83000"/>
              </a:lnSpc>
            </a:pPr>
            <a:r>
              <a:rPr sz="2400" b="1">
                <a:solidFill>
                  <a:srgbClr val="4A3B2C"/>
                </a:solidFill>
              </a:rPr>
              <a:t>02</a:t>
            </a:r>
            <a:endParaRPr sz="2400" b="1">
              <a:solidFill>
                <a:srgbClr val="4A3B2C"/>
              </a:solidFill>
            </a:endParaRPr>
          </a:p>
        </p:txBody>
      </p:sp>
      <p:sp>
        <p:nvSpPr>
          <p:cNvPr id="29" name="文本框 28"/>
          <p:cNvSpPr txBox="1"/>
          <p:nvPr>
            <p:custDataLst>
              <p:tags r:id="rId36"/>
            </p:custDataLst>
          </p:nvPr>
        </p:nvSpPr>
        <p:spPr>
          <a:xfrm>
            <a:off x="4629150" y="1985620"/>
            <a:ext cx="29337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>
                <a:solidFill>
                  <a:srgbClr val="FFFFFF"/>
                </a:solidFill>
              </a:rPr>
              <a:t>员工持股平台身份识别</a:t>
            </a:r>
            <a:endParaRPr sz="2100" b="1">
              <a:solidFill>
                <a:srgbClr val="FFFFFF"/>
              </a:solidFill>
            </a:endParaRPr>
          </a:p>
        </p:txBody>
      </p:sp>
      <p:sp>
        <p:nvSpPr>
          <p:cNvPr id="30" name="文本框 29"/>
          <p:cNvSpPr txBox="1"/>
          <p:nvPr>
            <p:custDataLst>
              <p:tags r:id="rId37"/>
            </p:custDataLst>
          </p:nvPr>
        </p:nvSpPr>
        <p:spPr>
          <a:xfrm>
            <a:off x="5495849" y="2449487"/>
            <a:ext cx="12002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350">
                <a:solidFill>
                  <a:srgbClr val="FFFFFF"/>
                </a:solidFill>
              </a:rPr>
              <a:t>视觉权重最高</a:t>
            </a:r>
            <a:endParaRPr sz="1350">
              <a:solidFill>
                <a:srgbClr val="FFFFFF"/>
              </a:solidFill>
            </a:endParaRPr>
          </a:p>
        </p:txBody>
      </p:sp>
      <p:sp>
        <p:nvSpPr>
          <p:cNvPr id="31" name="任意多边形 30"/>
          <p:cNvSpPr/>
          <p:nvPr>
            <p:custDataLst>
              <p:tags r:id="rId38"/>
            </p:custDataLst>
          </p:nvPr>
        </p:nvSpPr>
        <p:spPr>
          <a:xfrm>
            <a:off x="3989705" y="3160395"/>
            <a:ext cx="4211955" cy="3311525"/>
          </a:xfrm>
          <a:custGeom>
            <a:avLst/>
            <a:gdLst>
              <a:gd name="sw" fmla="*/ 1 w 6633"/>
              <a:gd name="sh" fmla="*/ 1 h 5214"/>
              <a:gd name="mins" fmla="min sw sh"/>
              <a:gd name="dsw" fmla="+- 0 sw mins"/>
              <a:gd name="dsh" fmla="+- 0 sh mins"/>
              <a:gd name="p0x0" fmla="*/ 90 w 6633"/>
              <a:gd name="p0y0" fmla="*/ 0 h 5214"/>
              <a:gd name="p0x1" fmla="*/ 6543 w 6633"/>
              <a:gd name="p0y1" fmla="*/ 0 h 5214"/>
              <a:gd name="p0x2" fmla="*/ 6592 w 6633"/>
              <a:gd name="p0y2" fmla="*/ 0 h 5214"/>
              <a:gd name="p0x3" fmla="*/ 6633 w 6633"/>
              <a:gd name="p0y3" fmla="*/ 40 h 5214"/>
              <a:gd name="p0x4" fmla="*/ 6633 w 6633"/>
              <a:gd name="p0y4" fmla="*/ 90 h 5214"/>
              <a:gd name="p0x5" fmla="*/ 6633 w 6633"/>
              <a:gd name="p0y5" fmla="*/ 5124 h 5214"/>
              <a:gd name="p0x6" fmla="*/ 6633 w 6633"/>
              <a:gd name="p0y6" fmla="*/ 5174 h 5214"/>
              <a:gd name="p0x7" fmla="*/ 6592 w 6633"/>
              <a:gd name="p0y7" fmla="*/ 5214 h 5214"/>
              <a:gd name="p0x8" fmla="*/ 6543 w 6633"/>
              <a:gd name="p0y8" fmla="*/ 5214 h 5214"/>
              <a:gd name="p0x9" fmla="*/ 90 w 6633"/>
              <a:gd name="p0y9" fmla="*/ 5214 h 5214"/>
              <a:gd name="p0x10" fmla="*/ 40 w 6633"/>
              <a:gd name="p0y10" fmla="*/ 5214 h 5214"/>
              <a:gd name="p0x11" fmla="*/ 0 w 6633"/>
              <a:gd name="p0y11" fmla="*/ 5174 h 5214"/>
              <a:gd name="p0x12" fmla="*/ 0 w 6633"/>
              <a:gd name="p0y12" fmla="*/ 5124 h 5214"/>
              <a:gd name="p0x13" fmla="*/ 0 w 6633"/>
              <a:gd name="p0y13" fmla="*/ 90 h 5214"/>
              <a:gd name="p0x14" fmla="*/ 0 w 6633"/>
              <a:gd name="p0y14" fmla="*/ 40 h 5214"/>
              <a:gd name="p0x15" fmla="*/ 40 w 6633"/>
              <a:gd name="p0y15" fmla="*/ 0 h 5214"/>
              <a:gd name="p0x16" fmla="*/ 90 w 6633"/>
              <a:gd name="p0y16" fmla="*/ 0 h 521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8F5"/>
          </a:solidFill>
          <a:ln w="9525" cmpd="sng">
            <a:solidFill>
              <a:srgbClr val="DBD4C9"/>
            </a:solidFill>
            <a:prstDash val="solid"/>
          </a:ln>
          <a:effectLst>
            <a:outerShdw blurRad="42863" dist="9525" dir="5399999" algn="ctr" rotWithShape="0">
              <a:srgbClr val="112D28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任意多边形 31"/>
          <p:cNvSpPr/>
          <p:nvPr>
            <p:custDataLst>
              <p:tags r:id="rId39"/>
            </p:custDataLst>
          </p:nvPr>
        </p:nvSpPr>
        <p:spPr>
          <a:xfrm>
            <a:off x="4184650" y="349186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80 w 540"/>
              <a:gd name="p0y0" fmla="*/ 0 h 540"/>
              <a:gd name="p0x1" fmla="*/ 360 w 540"/>
              <a:gd name="p0y1" fmla="*/ 0 h 540"/>
              <a:gd name="p0x2" fmla="*/ 459 w 540"/>
              <a:gd name="p0y2" fmla="*/ 0 h 540"/>
              <a:gd name="p0x3" fmla="*/ 540 w 540"/>
              <a:gd name="p0y3" fmla="*/ 80 h 540"/>
              <a:gd name="p0x4" fmla="*/ 540 w 540"/>
              <a:gd name="p0y4" fmla="*/ 180 h 540"/>
              <a:gd name="p0x5" fmla="*/ 540 w 540"/>
              <a:gd name="p0y5" fmla="*/ 360 h 540"/>
              <a:gd name="p0x6" fmla="*/ 540 w 540"/>
              <a:gd name="p0y6" fmla="*/ 459 h 540"/>
              <a:gd name="p0x7" fmla="*/ 459 w 540"/>
              <a:gd name="p0y7" fmla="*/ 540 h 540"/>
              <a:gd name="p0x8" fmla="*/ 360 w 540"/>
              <a:gd name="p0y8" fmla="*/ 540 h 540"/>
              <a:gd name="p0x9" fmla="*/ 180 w 540"/>
              <a:gd name="p0y9" fmla="*/ 540 h 540"/>
              <a:gd name="p0x10" fmla="*/ 80 w 540"/>
              <a:gd name="p0y10" fmla="*/ 540 h 540"/>
              <a:gd name="p0x11" fmla="*/ 0 w 540"/>
              <a:gd name="p0y11" fmla="*/ 459 h 540"/>
              <a:gd name="p0x12" fmla="*/ 0 w 540"/>
              <a:gd name="p0y12" fmla="*/ 360 h 540"/>
              <a:gd name="p0x13" fmla="*/ 0 w 540"/>
              <a:gd name="p0y13" fmla="*/ 180 h 540"/>
              <a:gd name="p0x14" fmla="*/ 0 w 540"/>
              <a:gd name="p0y14" fmla="*/ 80 h 540"/>
              <a:gd name="p0x15" fmla="*/ 80 w 540"/>
              <a:gd name="p0y15" fmla="*/ 0 h 540"/>
              <a:gd name="p0x16" fmla="*/ 18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EE5D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 l="-7895" t="-9123" r="-7895" b="-9123"/>
          <a:stretch>
            <a:fillRect/>
          </a:stretch>
        </p:blipFill>
        <p:spPr>
          <a:xfrm>
            <a:off x="4251325" y="3554095"/>
            <a:ext cx="209550" cy="213995"/>
          </a:xfrm>
          <a:prstGeom prst="rect">
            <a:avLst/>
          </a:prstGeom>
        </p:spPr>
      </p:pic>
      <p:sp>
        <p:nvSpPr>
          <p:cNvPr id="34" name="文本框 33"/>
          <p:cNvSpPr txBox="1"/>
          <p:nvPr>
            <p:custDataLst>
              <p:tags r:id="rId43"/>
            </p:custDataLst>
          </p:nvPr>
        </p:nvSpPr>
        <p:spPr>
          <a:xfrm>
            <a:off x="4642466" y="3344837"/>
            <a:ext cx="3364259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112D28"/>
                </a:solidFill>
                <a:cs typeface="微软雅黑" panose="020B0503020204020204" charset="-122"/>
              </a:rPr>
              <a:t>"</a:t>
            </a:r>
            <a:r>
              <a:rPr lang="zh-CN" altLang="en-US" sz="1500">
                <a:solidFill>
                  <a:srgbClr val="112D28"/>
                </a:solidFill>
                <a:cs typeface="微软雅黑" panose="020B0503020204020204" charset="-122"/>
              </a:rPr>
              <a:t>策星银河</a:t>
            </a:r>
            <a:r>
              <a:rPr lang="en-US" altLang="zh-CN" sz="1500">
                <a:solidFill>
                  <a:srgbClr val="112D28"/>
                </a:solidFill>
                <a:cs typeface="微软雅黑" panose="020B0503020204020204" charset="-122"/>
              </a:rPr>
              <a:t>""</a:t>
            </a:r>
            <a:r>
              <a:rPr lang="zh-CN" altLang="en-US" sz="1500">
                <a:solidFill>
                  <a:srgbClr val="112D28"/>
                </a:solidFill>
                <a:cs typeface="微软雅黑" panose="020B0503020204020204" charset="-122"/>
              </a:rPr>
              <a:t>策星逐日</a:t>
            </a:r>
            <a:r>
              <a:rPr lang="en-US" altLang="zh-CN" sz="1500">
                <a:solidFill>
                  <a:srgbClr val="112D28"/>
                </a:solidFill>
                <a:cs typeface="微软雅黑" panose="020B0503020204020204" charset="-122"/>
              </a:rPr>
              <a:t>"</a:t>
            </a:r>
            <a:r>
              <a:rPr lang="zh-CN" altLang="en-US" sz="1500">
                <a:solidFill>
                  <a:srgbClr val="112D28"/>
                </a:solidFill>
                <a:cs typeface="微软雅黑" panose="020B0503020204020204" charset="-122"/>
              </a:rPr>
              <a:t>名称不自带</a:t>
            </a:r>
            <a:r>
              <a:rPr lang="en-US" altLang="zh-CN" sz="1500">
                <a:solidFill>
                  <a:srgbClr val="112D28"/>
                </a:solidFill>
                <a:cs typeface="微软雅黑" panose="020B0503020204020204" charset="-122"/>
              </a:rPr>
              <a:t>"</a:t>
            </a:r>
            <a:r>
              <a:rPr lang="zh-CN" altLang="en-US" sz="1500">
                <a:solidFill>
                  <a:srgbClr val="112D28"/>
                </a:solidFill>
                <a:cs typeface="微软雅黑" panose="020B0503020204020204" charset="-122"/>
              </a:rPr>
              <a:t>员工持股平台</a:t>
            </a:r>
            <a:r>
              <a:rPr lang="en-US" altLang="zh-CN" sz="1500">
                <a:solidFill>
                  <a:srgbClr val="112D28"/>
                </a:solidFill>
                <a:cs typeface="微软雅黑" panose="020B0503020204020204" charset="-122"/>
              </a:rPr>
              <a:t>"</a:t>
            </a:r>
            <a:r>
              <a:rPr lang="zh-CN" altLang="en-US" sz="1500">
                <a:solidFill>
                  <a:srgbClr val="112D28"/>
                </a:solidFill>
                <a:cs typeface="微软雅黑" panose="020B0503020204020204" charset="-122"/>
              </a:rPr>
              <a:t>标签</a:t>
            </a:r>
            <a:endParaRPr lang="zh-CN" altLang="en-US" sz="1500">
              <a:solidFill>
                <a:srgbClr val="112D28"/>
              </a:solidFill>
              <a:cs typeface="微软雅黑" panose="020B0503020204020204" charset="-122"/>
            </a:endParaRPr>
          </a:p>
        </p:txBody>
      </p:sp>
      <p:sp>
        <p:nvSpPr>
          <p:cNvPr id="35" name="任意多边形 34"/>
          <p:cNvSpPr/>
          <p:nvPr>
            <p:custDataLst>
              <p:tags r:id="rId44"/>
            </p:custDataLst>
          </p:nvPr>
        </p:nvSpPr>
        <p:spPr>
          <a:xfrm>
            <a:off x="4184650" y="415861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80 w 540"/>
              <a:gd name="p0y0" fmla="*/ 0 h 540"/>
              <a:gd name="p0x1" fmla="*/ 360 w 540"/>
              <a:gd name="p0y1" fmla="*/ 0 h 540"/>
              <a:gd name="p0x2" fmla="*/ 459 w 540"/>
              <a:gd name="p0y2" fmla="*/ 0 h 540"/>
              <a:gd name="p0x3" fmla="*/ 540 w 540"/>
              <a:gd name="p0y3" fmla="*/ 80 h 540"/>
              <a:gd name="p0x4" fmla="*/ 540 w 540"/>
              <a:gd name="p0y4" fmla="*/ 180 h 540"/>
              <a:gd name="p0x5" fmla="*/ 540 w 540"/>
              <a:gd name="p0y5" fmla="*/ 360 h 540"/>
              <a:gd name="p0x6" fmla="*/ 540 w 540"/>
              <a:gd name="p0y6" fmla="*/ 459 h 540"/>
              <a:gd name="p0x7" fmla="*/ 459 w 540"/>
              <a:gd name="p0y7" fmla="*/ 540 h 540"/>
              <a:gd name="p0x8" fmla="*/ 360 w 540"/>
              <a:gd name="p0y8" fmla="*/ 540 h 540"/>
              <a:gd name="p0x9" fmla="*/ 180 w 540"/>
              <a:gd name="p0y9" fmla="*/ 540 h 540"/>
              <a:gd name="p0x10" fmla="*/ 80 w 540"/>
              <a:gd name="p0y10" fmla="*/ 540 h 540"/>
              <a:gd name="p0x11" fmla="*/ 0 w 540"/>
              <a:gd name="p0y11" fmla="*/ 459 h 540"/>
              <a:gd name="p0x12" fmla="*/ 0 w 540"/>
              <a:gd name="p0y12" fmla="*/ 360 h 540"/>
              <a:gd name="p0x13" fmla="*/ 0 w 540"/>
              <a:gd name="p0y13" fmla="*/ 180 h 540"/>
              <a:gd name="p0x14" fmla="*/ 0 w 540"/>
              <a:gd name="p0y14" fmla="*/ 80 h 540"/>
              <a:gd name="p0x15" fmla="*/ 80 w 540"/>
              <a:gd name="p0y15" fmla="*/ 0 h 540"/>
              <a:gd name="p0x16" fmla="*/ 18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EE5D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6" name="图片 35"/>
          <p:cNvPicPr>
            <a:picLocks noChangeAspect="1"/>
          </p:cNvPicPr>
          <p:nvPr>
            <p:custDataLst>
              <p:tags r:id="rId45"/>
            </p:custDataLst>
          </p:nvPr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 l="-2949" t="-3492" r="-2949" b="-3492"/>
          <a:stretch>
            <a:fillRect/>
          </a:stretch>
        </p:blipFill>
        <p:spPr>
          <a:xfrm>
            <a:off x="4225290" y="4220845"/>
            <a:ext cx="262255" cy="213995"/>
          </a:xfrm>
          <a:prstGeom prst="rect">
            <a:avLst/>
          </a:prstGeom>
        </p:spPr>
      </p:pic>
      <p:sp>
        <p:nvSpPr>
          <p:cNvPr id="37" name="文本框 36"/>
          <p:cNvSpPr txBox="1"/>
          <p:nvPr>
            <p:custDataLst>
              <p:tags r:id="rId48"/>
            </p:custDataLst>
          </p:nvPr>
        </p:nvSpPr>
        <p:spPr>
          <a:xfrm>
            <a:off x="4642466" y="4011587"/>
            <a:ext cx="3364259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112D28"/>
                </a:solidFill>
                <a:cs typeface="微软雅黑" panose="020B0503020204020204" charset="-122"/>
              </a:rPr>
              <a:t>入股价格</a:t>
            </a:r>
            <a:r>
              <a:rPr lang="en-US" altLang="zh-CN" sz="1500">
                <a:solidFill>
                  <a:srgbClr val="112D28"/>
                </a:solidFill>
                <a:cs typeface="微软雅黑" panose="020B0503020204020204" charset="-122"/>
              </a:rPr>
              <a:t>6.30</a:t>
            </a:r>
            <a:r>
              <a:rPr lang="zh-CN" altLang="en-US" sz="1500">
                <a:solidFill>
                  <a:srgbClr val="112D28"/>
                </a:solidFill>
                <a:cs typeface="微软雅黑" panose="020B0503020204020204" charset="-122"/>
              </a:rPr>
              <a:t>元</a:t>
            </a:r>
            <a:r>
              <a:rPr lang="en-US" altLang="zh-CN" sz="1500">
                <a:solidFill>
                  <a:srgbClr val="112D28"/>
                </a:solidFill>
                <a:cs typeface="微软雅黑" panose="020B0503020204020204" charset="-122"/>
              </a:rPr>
              <a:t> vs IPO</a:t>
            </a:r>
            <a:r>
              <a:rPr lang="zh-CN" altLang="en-US" sz="1500">
                <a:solidFill>
                  <a:srgbClr val="112D28"/>
                </a:solidFill>
                <a:cs typeface="微软雅黑" panose="020B0503020204020204" charset="-122"/>
              </a:rPr>
              <a:t>价格</a:t>
            </a:r>
            <a:r>
              <a:rPr lang="en-US" altLang="zh-CN" sz="1500">
                <a:solidFill>
                  <a:srgbClr val="112D28"/>
                </a:solidFill>
                <a:cs typeface="微软雅黑" panose="020B0503020204020204" charset="-122"/>
              </a:rPr>
              <a:t>6.92</a:t>
            </a:r>
            <a:r>
              <a:rPr lang="zh-CN" altLang="en-US" sz="1500">
                <a:solidFill>
                  <a:srgbClr val="112D28"/>
                </a:solidFill>
                <a:cs typeface="微软雅黑" panose="020B0503020204020204" charset="-122"/>
              </a:rPr>
              <a:t>元，易误判为</a:t>
            </a:r>
            <a:r>
              <a:rPr lang="en-US" altLang="zh-CN" sz="1500">
                <a:solidFill>
                  <a:srgbClr val="112D28"/>
                </a:solidFill>
                <a:cs typeface="微软雅黑" panose="020B0503020204020204" charset="-122"/>
              </a:rPr>
              <a:t>"</a:t>
            </a:r>
            <a:r>
              <a:rPr lang="zh-CN" altLang="en-US" sz="1500">
                <a:solidFill>
                  <a:srgbClr val="112D28"/>
                </a:solidFill>
                <a:cs typeface="微软雅黑" panose="020B0503020204020204" charset="-122"/>
              </a:rPr>
              <a:t>折价入股的</a:t>
            </a:r>
            <a:r>
              <a:rPr lang="en-US" altLang="zh-CN" sz="1500">
                <a:solidFill>
                  <a:srgbClr val="112D28"/>
                </a:solidFill>
                <a:cs typeface="微软雅黑" panose="020B0503020204020204" charset="-122"/>
              </a:rPr>
              <a:t>PE/VC"</a:t>
            </a:r>
            <a:endParaRPr lang="en-US" altLang="zh-CN" sz="1500">
              <a:solidFill>
                <a:srgbClr val="112D28"/>
              </a:solidFill>
              <a:cs typeface="微软雅黑" panose="020B050302020402020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49"/>
            </p:custDataLst>
          </p:nvPr>
        </p:nvSpPr>
        <p:spPr>
          <a:xfrm>
            <a:off x="4184650" y="482536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80 w 540"/>
              <a:gd name="p0y0" fmla="*/ 0 h 540"/>
              <a:gd name="p0x1" fmla="*/ 360 w 540"/>
              <a:gd name="p0y1" fmla="*/ 0 h 540"/>
              <a:gd name="p0x2" fmla="*/ 459 w 540"/>
              <a:gd name="p0y2" fmla="*/ 0 h 540"/>
              <a:gd name="p0x3" fmla="*/ 540 w 540"/>
              <a:gd name="p0y3" fmla="*/ 80 h 540"/>
              <a:gd name="p0x4" fmla="*/ 540 w 540"/>
              <a:gd name="p0y4" fmla="*/ 180 h 540"/>
              <a:gd name="p0x5" fmla="*/ 540 w 540"/>
              <a:gd name="p0y5" fmla="*/ 360 h 540"/>
              <a:gd name="p0x6" fmla="*/ 540 w 540"/>
              <a:gd name="p0y6" fmla="*/ 459 h 540"/>
              <a:gd name="p0x7" fmla="*/ 459 w 540"/>
              <a:gd name="p0y7" fmla="*/ 540 h 540"/>
              <a:gd name="p0x8" fmla="*/ 360 w 540"/>
              <a:gd name="p0y8" fmla="*/ 540 h 540"/>
              <a:gd name="p0x9" fmla="*/ 180 w 540"/>
              <a:gd name="p0y9" fmla="*/ 540 h 540"/>
              <a:gd name="p0x10" fmla="*/ 80 w 540"/>
              <a:gd name="p0y10" fmla="*/ 540 h 540"/>
              <a:gd name="p0x11" fmla="*/ 0 w 540"/>
              <a:gd name="p0y11" fmla="*/ 459 h 540"/>
              <a:gd name="p0x12" fmla="*/ 0 w 540"/>
              <a:gd name="p0y12" fmla="*/ 360 h 540"/>
              <a:gd name="p0x13" fmla="*/ 0 w 540"/>
              <a:gd name="p0y13" fmla="*/ 180 h 540"/>
              <a:gd name="p0x14" fmla="*/ 0 w 540"/>
              <a:gd name="p0y14" fmla="*/ 80 h 540"/>
              <a:gd name="p0x15" fmla="*/ 80 w 540"/>
              <a:gd name="p0y15" fmla="*/ 0 h 540"/>
              <a:gd name="p0x16" fmla="*/ 18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EE5D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>
            <p:custDataLst>
              <p:tags r:id="rId50"/>
            </p:custDataLst>
          </p:nvPr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 l="-2381" t="-3492" r="-2381" b="-3492"/>
          <a:stretch>
            <a:fillRect/>
          </a:stretch>
        </p:blipFill>
        <p:spPr>
          <a:xfrm>
            <a:off x="4251325" y="4887595"/>
            <a:ext cx="209550" cy="213995"/>
          </a:xfrm>
          <a:prstGeom prst="rect">
            <a:avLst/>
          </a:prstGeom>
        </p:spPr>
      </p:pic>
      <p:sp>
        <p:nvSpPr>
          <p:cNvPr id="40" name="文本框 39"/>
          <p:cNvSpPr txBox="1"/>
          <p:nvPr>
            <p:custDataLst>
              <p:tags r:id="rId53"/>
            </p:custDataLst>
          </p:nvPr>
        </p:nvSpPr>
        <p:spPr>
          <a:xfrm>
            <a:off x="4642466" y="4678337"/>
            <a:ext cx="3364259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112D28"/>
                </a:solidFill>
                <a:cs typeface="微软雅黑" panose="020B0503020204020204" charset="-122"/>
              </a:rPr>
              <a:t>PDF</a:t>
            </a:r>
            <a:r>
              <a:rPr lang="zh-CN" altLang="en-US" sz="1500">
                <a:solidFill>
                  <a:srgbClr val="112D28"/>
                </a:solidFill>
                <a:cs typeface="微软雅黑" panose="020B0503020204020204" charset="-122"/>
              </a:rPr>
              <a:t>别处说明是员工持股平台</a:t>
            </a:r>
            <a:r>
              <a:rPr lang="en-US" altLang="zh-CN" sz="1500">
                <a:solidFill>
                  <a:srgbClr val="112D28"/>
                </a:solidFill>
                <a:cs typeface="微软雅黑" panose="020B0503020204020204" charset="-122"/>
              </a:rPr>
              <a:t>——MinerU</a:t>
            </a:r>
            <a:r>
              <a:rPr lang="zh-CN" altLang="en-US" sz="1500">
                <a:solidFill>
                  <a:srgbClr val="112D28"/>
                </a:solidFill>
                <a:cs typeface="微软雅黑" panose="020B0503020204020204" charset="-122"/>
              </a:rPr>
              <a:t>提取的</a:t>
            </a:r>
            <a:r>
              <a:rPr lang="en-US" altLang="zh-CN" sz="1500">
                <a:solidFill>
                  <a:srgbClr val="112D28"/>
                </a:solidFill>
                <a:cs typeface="微软雅黑" panose="020B0503020204020204" charset="-122"/>
              </a:rPr>
              <a:t>200</a:t>
            </a:r>
            <a:r>
              <a:rPr lang="zh-CN" altLang="en-US" sz="1500">
                <a:solidFill>
                  <a:srgbClr val="112D28"/>
                </a:solidFill>
                <a:cs typeface="微软雅黑" panose="020B0503020204020204" charset="-122"/>
              </a:rPr>
              <a:t>页文本里不一定有</a:t>
            </a:r>
            <a:endParaRPr lang="zh-CN" altLang="en-US" sz="1500">
              <a:solidFill>
                <a:srgbClr val="112D28"/>
              </a:solidFill>
              <a:cs typeface="微软雅黑" panose="020B0503020204020204" charset="-122"/>
            </a:endParaRPr>
          </a:p>
        </p:txBody>
      </p:sp>
      <p:sp>
        <p:nvSpPr>
          <p:cNvPr id="41" name="任意多边形 40"/>
          <p:cNvSpPr/>
          <p:nvPr>
            <p:custDataLst>
              <p:tags r:id="rId54"/>
            </p:custDataLst>
          </p:nvPr>
        </p:nvSpPr>
        <p:spPr>
          <a:xfrm>
            <a:off x="4184650" y="564451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80 w 540"/>
              <a:gd name="p0y0" fmla="*/ 0 h 540"/>
              <a:gd name="p0x1" fmla="*/ 360 w 540"/>
              <a:gd name="p0y1" fmla="*/ 0 h 540"/>
              <a:gd name="p0x2" fmla="*/ 459 w 540"/>
              <a:gd name="p0y2" fmla="*/ 0 h 540"/>
              <a:gd name="p0x3" fmla="*/ 540 w 540"/>
              <a:gd name="p0y3" fmla="*/ 80 h 540"/>
              <a:gd name="p0x4" fmla="*/ 540 w 540"/>
              <a:gd name="p0y4" fmla="*/ 180 h 540"/>
              <a:gd name="p0x5" fmla="*/ 540 w 540"/>
              <a:gd name="p0y5" fmla="*/ 360 h 540"/>
              <a:gd name="p0x6" fmla="*/ 540 w 540"/>
              <a:gd name="p0y6" fmla="*/ 459 h 540"/>
              <a:gd name="p0x7" fmla="*/ 459 w 540"/>
              <a:gd name="p0y7" fmla="*/ 540 h 540"/>
              <a:gd name="p0x8" fmla="*/ 360 w 540"/>
              <a:gd name="p0y8" fmla="*/ 540 h 540"/>
              <a:gd name="p0x9" fmla="*/ 180 w 540"/>
              <a:gd name="p0y9" fmla="*/ 540 h 540"/>
              <a:gd name="p0x10" fmla="*/ 80 w 540"/>
              <a:gd name="p0y10" fmla="*/ 540 h 540"/>
              <a:gd name="p0x11" fmla="*/ 0 w 540"/>
              <a:gd name="p0y11" fmla="*/ 459 h 540"/>
              <a:gd name="p0x12" fmla="*/ 0 w 540"/>
              <a:gd name="p0y12" fmla="*/ 360 h 540"/>
              <a:gd name="p0x13" fmla="*/ 0 w 540"/>
              <a:gd name="p0y13" fmla="*/ 180 h 540"/>
              <a:gd name="p0x14" fmla="*/ 0 w 540"/>
              <a:gd name="p0y14" fmla="*/ 80 h 540"/>
              <a:gd name="p0x15" fmla="*/ 80 w 540"/>
              <a:gd name="p0y15" fmla="*/ 0 h 540"/>
              <a:gd name="p0x16" fmla="*/ 18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EE5D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2" name="图片 41"/>
          <p:cNvPicPr>
            <a:picLocks noChangeAspect="1"/>
          </p:cNvPicPr>
          <p:nvPr>
            <p:custDataLst>
              <p:tags r:id="rId55"/>
            </p:custDataLst>
          </p:nvPr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rcRect l="-2381" t="-6167" r="-2381" b="-6167"/>
          <a:stretch>
            <a:fillRect/>
          </a:stretch>
        </p:blipFill>
        <p:spPr>
          <a:xfrm>
            <a:off x="4251325" y="5706745"/>
            <a:ext cx="209550" cy="213995"/>
          </a:xfrm>
          <a:prstGeom prst="rect">
            <a:avLst/>
          </a:prstGeom>
        </p:spPr>
      </p:pic>
      <p:sp>
        <p:nvSpPr>
          <p:cNvPr id="43" name="文本框 42"/>
          <p:cNvSpPr txBox="1"/>
          <p:nvPr>
            <p:custDataLst>
              <p:tags r:id="rId58"/>
            </p:custDataLst>
          </p:nvPr>
        </p:nvSpPr>
        <p:spPr>
          <a:xfrm>
            <a:off x="4642466" y="5345087"/>
            <a:ext cx="3364259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112D28"/>
                </a:solidFill>
                <a:cs typeface="微软雅黑" panose="020B0503020204020204" charset="-122"/>
              </a:rPr>
              <a:t>区分要点：看入股价格是否明显低于公允价值、看股东名称是否和公司高管</a:t>
            </a:r>
            <a:r>
              <a:rPr lang="en-US" altLang="zh-CN" sz="1500">
                <a:solidFill>
                  <a:srgbClr val="112D28"/>
                </a:solidFill>
                <a:cs typeface="微软雅黑" panose="020B0503020204020204" charset="-122"/>
              </a:rPr>
              <a:t>/</a:t>
            </a:r>
            <a:r>
              <a:rPr lang="zh-CN" altLang="en-US" sz="1500">
                <a:solidFill>
                  <a:srgbClr val="112D28"/>
                </a:solidFill>
                <a:cs typeface="微软雅黑" panose="020B0503020204020204" charset="-122"/>
              </a:rPr>
              <a:t>员工名单有关联</a:t>
            </a:r>
            <a:endParaRPr lang="zh-CN" altLang="en-US" sz="1500">
              <a:solidFill>
                <a:srgbClr val="112D28"/>
              </a:solidFill>
              <a:cs typeface="微软雅黑" panose="020B0503020204020204" charset="-122"/>
            </a:endParaRPr>
          </a:p>
        </p:txBody>
      </p:sp>
      <p:sp>
        <p:nvSpPr>
          <p:cNvPr id="44" name="任意多边形 43"/>
          <p:cNvSpPr/>
          <p:nvPr>
            <p:custDataLst>
              <p:tags r:id="rId59"/>
            </p:custDataLst>
          </p:nvPr>
        </p:nvSpPr>
        <p:spPr>
          <a:xfrm>
            <a:off x="8458200" y="1108710"/>
            <a:ext cx="3157855" cy="1842135"/>
          </a:xfrm>
          <a:custGeom>
            <a:avLst/>
            <a:gdLst>
              <a:gd name="sw" fmla="*/ 1 w 5854"/>
              <a:gd name="sh" fmla="*/ 1 h 3414"/>
              <a:gd name="mins" fmla="min sw sh"/>
              <a:gd name="dsw" fmla="+- 0 sw mins"/>
              <a:gd name="dsh" fmla="+- 0 sh mins"/>
              <a:gd name="p0x0" fmla="*/ 90 w 5854"/>
              <a:gd name="p0y0" fmla="*/ 0 h 3414"/>
              <a:gd name="p0x1" fmla="*/ 5764 w 5854"/>
              <a:gd name="p0y1" fmla="*/ 0 h 3414"/>
              <a:gd name="p0x2" fmla="*/ 5814 w 5854"/>
              <a:gd name="p0y2" fmla="*/ 0 h 3414"/>
              <a:gd name="p0x3" fmla="*/ 5854 w 5854"/>
              <a:gd name="p0y3" fmla="*/ 40 h 3414"/>
              <a:gd name="p0x4" fmla="*/ 5854 w 5854"/>
              <a:gd name="p0y4" fmla="*/ 90 h 3414"/>
              <a:gd name="p0x5" fmla="*/ 5854 w 5854"/>
              <a:gd name="p0y5" fmla="*/ 3324 h 3414"/>
              <a:gd name="p0x6" fmla="*/ 5854 w 5854"/>
              <a:gd name="p0y6" fmla="*/ 3374 h 3414"/>
              <a:gd name="p0x7" fmla="*/ 5814 w 5854"/>
              <a:gd name="p0y7" fmla="*/ 3414 h 3414"/>
              <a:gd name="p0x8" fmla="*/ 5764 w 5854"/>
              <a:gd name="p0y8" fmla="*/ 3414 h 3414"/>
              <a:gd name="p0x9" fmla="*/ 90 w 5854"/>
              <a:gd name="p0y9" fmla="*/ 3414 h 3414"/>
              <a:gd name="p0x10" fmla="*/ 40 w 5854"/>
              <a:gd name="p0y10" fmla="*/ 3414 h 3414"/>
              <a:gd name="p0x11" fmla="*/ 0 w 5854"/>
              <a:gd name="p0y11" fmla="*/ 3374 h 3414"/>
              <a:gd name="p0x12" fmla="*/ 0 w 5854"/>
              <a:gd name="p0y12" fmla="*/ 3324 h 3414"/>
              <a:gd name="p0x13" fmla="*/ 0 w 5854"/>
              <a:gd name="p0y13" fmla="*/ 90 h 3414"/>
              <a:gd name="p0x14" fmla="*/ 0 w 5854"/>
              <a:gd name="p0y14" fmla="*/ 40 h 3414"/>
              <a:gd name="p0x15" fmla="*/ 40 w 5854"/>
              <a:gd name="p0y15" fmla="*/ 0 h 3414"/>
              <a:gd name="p0x16" fmla="*/ 90 w 5854"/>
              <a:gd name="p0y16" fmla="*/ 0 h 341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8F5"/>
          </a:solidFill>
          <a:ln w="8091" cmpd="sng">
            <a:solidFill>
              <a:srgbClr val="DBD4C9"/>
            </a:solidFill>
            <a:prstDash val="solid"/>
          </a:ln>
          <a:effectLst>
            <a:outerShdw blurRad="42863" dist="9525" dir="5399999" algn="ctr" rotWithShape="0">
              <a:srgbClr val="112D28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任意多边形 44"/>
          <p:cNvSpPr/>
          <p:nvPr>
            <p:custDataLst>
              <p:tags r:id="rId60"/>
            </p:custDataLst>
          </p:nvPr>
        </p:nvSpPr>
        <p:spPr>
          <a:xfrm>
            <a:off x="9826625" y="1483360"/>
            <a:ext cx="420370" cy="421005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80 w 780"/>
              <a:gd name="p0y0" fmla="*/ 0 h 780"/>
              <a:gd name="p0x1" fmla="*/ 600 w 780"/>
              <a:gd name="p0y1" fmla="*/ 0 h 780"/>
              <a:gd name="p0x2" fmla="*/ 699 w 780"/>
              <a:gd name="p0y2" fmla="*/ 0 h 780"/>
              <a:gd name="p0x3" fmla="*/ 780 w 780"/>
              <a:gd name="p0y3" fmla="*/ 80 h 780"/>
              <a:gd name="p0x4" fmla="*/ 780 w 780"/>
              <a:gd name="p0y4" fmla="*/ 180 h 780"/>
              <a:gd name="p0x5" fmla="*/ 780 w 780"/>
              <a:gd name="p0y5" fmla="*/ 600 h 780"/>
              <a:gd name="p0x6" fmla="*/ 780 w 780"/>
              <a:gd name="p0y6" fmla="*/ 699 h 780"/>
              <a:gd name="p0x7" fmla="*/ 699 w 780"/>
              <a:gd name="p0y7" fmla="*/ 780 h 780"/>
              <a:gd name="p0x8" fmla="*/ 600 w 780"/>
              <a:gd name="p0y8" fmla="*/ 780 h 780"/>
              <a:gd name="p0x9" fmla="*/ 180 w 780"/>
              <a:gd name="p0y9" fmla="*/ 780 h 780"/>
              <a:gd name="p0x10" fmla="*/ 80 w 780"/>
              <a:gd name="p0y10" fmla="*/ 780 h 780"/>
              <a:gd name="p0x11" fmla="*/ 0 w 780"/>
              <a:gd name="p0y11" fmla="*/ 699 h 780"/>
              <a:gd name="p0x12" fmla="*/ 0 w 780"/>
              <a:gd name="p0y12" fmla="*/ 600 h 780"/>
              <a:gd name="p0x13" fmla="*/ 0 w 780"/>
              <a:gd name="p0y13" fmla="*/ 180 h 780"/>
              <a:gd name="p0x14" fmla="*/ 0 w 780"/>
              <a:gd name="p0y14" fmla="*/ 80 h 780"/>
              <a:gd name="p0x15" fmla="*/ 80 w 780"/>
              <a:gd name="p0y15" fmla="*/ 0 h 780"/>
              <a:gd name="p0x16" fmla="*/ 18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EE5D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>
            <p:custDataLst>
              <p:tags r:id="rId61"/>
            </p:custDataLst>
          </p:nvPr>
        </p:nvSpPr>
        <p:spPr>
          <a:xfrm>
            <a:off x="9746615" y="1546225"/>
            <a:ext cx="581660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83000"/>
              </a:lnSpc>
            </a:pPr>
            <a:r>
              <a:rPr sz="2035" b="1">
                <a:solidFill>
                  <a:srgbClr val="9A7F5E"/>
                </a:solidFill>
              </a:rPr>
              <a:t>03</a:t>
            </a:r>
            <a:endParaRPr sz="2035" b="1">
              <a:solidFill>
                <a:srgbClr val="9A7F5E"/>
              </a:solidFill>
            </a:endParaRPr>
          </a:p>
        </p:txBody>
      </p:sp>
      <p:sp>
        <p:nvSpPr>
          <p:cNvPr id="47" name="文本框 46"/>
          <p:cNvSpPr txBox="1"/>
          <p:nvPr>
            <p:custDataLst>
              <p:tags r:id="rId62"/>
            </p:custDataLst>
          </p:nvPr>
        </p:nvSpPr>
        <p:spPr>
          <a:xfrm>
            <a:off x="8677910" y="1987550"/>
            <a:ext cx="2718435" cy="3111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780" b="1">
                <a:solidFill>
                  <a:srgbClr val="112D28"/>
                </a:solidFill>
              </a:rPr>
              <a:t>控股股东持股稀释非减持</a:t>
            </a:r>
            <a:endParaRPr sz="1780" b="1">
              <a:solidFill>
                <a:srgbClr val="112D28"/>
              </a:solidFill>
            </a:endParaRPr>
          </a:p>
        </p:txBody>
      </p:sp>
      <p:sp>
        <p:nvSpPr>
          <p:cNvPr id="48" name="文本框 47"/>
          <p:cNvSpPr txBox="1"/>
          <p:nvPr>
            <p:custDataLst>
              <p:tags r:id="rId63"/>
            </p:custDataLst>
          </p:nvPr>
        </p:nvSpPr>
        <p:spPr>
          <a:xfrm>
            <a:off x="9420860" y="2381885"/>
            <a:ext cx="1233170" cy="1943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145">
                <a:solidFill>
                  <a:srgbClr val="3A5652"/>
                </a:solidFill>
              </a:rPr>
              <a:t>100%→46.36%</a:t>
            </a:r>
            <a:endParaRPr sz="1145">
              <a:solidFill>
                <a:srgbClr val="3A5652"/>
              </a:solidFill>
            </a:endParaRPr>
          </a:p>
        </p:txBody>
      </p:sp>
      <p:sp>
        <p:nvSpPr>
          <p:cNvPr id="49" name="任意多边形 48"/>
          <p:cNvSpPr/>
          <p:nvPr>
            <p:custDataLst>
              <p:tags r:id="rId64"/>
            </p:custDataLst>
          </p:nvPr>
        </p:nvSpPr>
        <p:spPr>
          <a:xfrm>
            <a:off x="8458200" y="3120390"/>
            <a:ext cx="3157855" cy="3352165"/>
          </a:xfrm>
          <a:custGeom>
            <a:avLst/>
            <a:gdLst>
              <a:gd name="sw" fmla="*/ 1 w 5854"/>
              <a:gd name="sh" fmla="*/ 1 h 6215"/>
              <a:gd name="mins" fmla="min sw sh"/>
              <a:gd name="dsw" fmla="+- 0 sw mins"/>
              <a:gd name="dsh" fmla="+- 0 sh mins"/>
              <a:gd name="p0x0" fmla="*/ 90 w 5854"/>
              <a:gd name="p0y0" fmla="*/ 0 h 6215"/>
              <a:gd name="p0x1" fmla="*/ 5764 w 5854"/>
              <a:gd name="p0y1" fmla="*/ 0 h 6215"/>
              <a:gd name="p0x2" fmla="*/ 5814 w 5854"/>
              <a:gd name="p0y2" fmla="*/ 0 h 6215"/>
              <a:gd name="p0x3" fmla="*/ 5854 w 5854"/>
              <a:gd name="p0y3" fmla="*/ 40 h 6215"/>
              <a:gd name="p0x4" fmla="*/ 5854 w 5854"/>
              <a:gd name="p0y4" fmla="*/ 90 h 6215"/>
              <a:gd name="p0x5" fmla="*/ 5854 w 5854"/>
              <a:gd name="p0y5" fmla="*/ 6125 h 6215"/>
              <a:gd name="p0x6" fmla="*/ 5854 w 5854"/>
              <a:gd name="p0y6" fmla="*/ 6174 h 6215"/>
              <a:gd name="p0x7" fmla="*/ 5814 w 5854"/>
              <a:gd name="p0y7" fmla="*/ 6215 h 6215"/>
              <a:gd name="p0x8" fmla="*/ 5764 w 5854"/>
              <a:gd name="p0y8" fmla="*/ 6215 h 6215"/>
              <a:gd name="p0x9" fmla="*/ 90 w 5854"/>
              <a:gd name="p0y9" fmla="*/ 6215 h 6215"/>
              <a:gd name="p0x10" fmla="*/ 40 w 5854"/>
              <a:gd name="p0y10" fmla="*/ 6215 h 6215"/>
              <a:gd name="p0x11" fmla="*/ 0 w 5854"/>
              <a:gd name="p0y11" fmla="*/ 6174 h 6215"/>
              <a:gd name="p0x12" fmla="*/ 0 w 5854"/>
              <a:gd name="p0y12" fmla="*/ 6125 h 6215"/>
              <a:gd name="p0x13" fmla="*/ 0 w 5854"/>
              <a:gd name="p0y13" fmla="*/ 90 h 6215"/>
              <a:gd name="p0x14" fmla="*/ 0 w 5854"/>
              <a:gd name="p0y14" fmla="*/ 40 h 6215"/>
              <a:gd name="p0x15" fmla="*/ 40 w 5854"/>
              <a:gd name="p0y15" fmla="*/ 0 h 6215"/>
              <a:gd name="p0x16" fmla="*/ 90 w 5854"/>
              <a:gd name="p0y16" fmla="*/ 0 h 62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8F5"/>
          </a:solidFill>
          <a:ln w="8091" cmpd="sng">
            <a:solidFill>
              <a:srgbClr val="DBD4C9"/>
            </a:solidFill>
            <a:prstDash val="solid"/>
          </a:ln>
          <a:effectLst>
            <a:outerShdw blurRad="42863" dist="9525" dir="5399999" algn="ctr" rotWithShape="0">
              <a:srgbClr val="112D28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任意多边形 49"/>
          <p:cNvSpPr/>
          <p:nvPr>
            <p:custDataLst>
              <p:tags r:id="rId65"/>
            </p:custDataLst>
          </p:nvPr>
        </p:nvSpPr>
        <p:spPr>
          <a:xfrm>
            <a:off x="8624570" y="3590925"/>
            <a:ext cx="290830" cy="291465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80 w 540"/>
              <a:gd name="p0y0" fmla="*/ 0 h 540"/>
              <a:gd name="p0x1" fmla="*/ 360 w 540"/>
              <a:gd name="p0y1" fmla="*/ 0 h 540"/>
              <a:gd name="p0x2" fmla="*/ 459 w 540"/>
              <a:gd name="p0y2" fmla="*/ 0 h 540"/>
              <a:gd name="p0x3" fmla="*/ 540 w 540"/>
              <a:gd name="p0y3" fmla="*/ 80 h 540"/>
              <a:gd name="p0x4" fmla="*/ 540 w 540"/>
              <a:gd name="p0y4" fmla="*/ 180 h 540"/>
              <a:gd name="p0x5" fmla="*/ 540 w 540"/>
              <a:gd name="p0y5" fmla="*/ 360 h 540"/>
              <a:gd name="p0x6" fmla="*/ 540 w 540"/>
              <a:gd name="p0y6" fmla="*/ 459 h 540"/>
              <a:gd name="p0x7" fmla="*/ 459 w 540"/>
              <a:gd name="p0y7" fmla="*/ 540 h 540"/>
              <a:gd name="p0x8" fmla="*/ 360 w 540"/>
              <a:gd name="p0y8" fmla="*/ 540 h 540"/>
              <a:gd name="p0x9" fmla="*/ 180 w 540"/>
              <a:gd name="p0y9" fmla="*/ 540 h 540"/>
              <a:gd name="p0x10" fmla="*/ 80 w 540"/>
              <a:gd name="p0y10" fmla="*/ 540 h 540"/>
              <a:gd name="p0x11" fmla="*/ 0 w 540"/>
              <a:gd name="p0y11" fmla="*/ 459 h 540"/>
              <a:gd name="p0x12" fmla="*/ 0 w 540"/>
              <a:gd name="p0y12" fmla="*/ 360 h 540"/>
              <a:gd name="p0x13" fmla="*/ 0 w 540"/>
              <a:gd name="p0y13" fmla="*/ 180 h 540"/>
              <a:gd name="p0x14" fmla="*/ 0 w 540"/>
              <a:gd name="p0y14" fmla="*/ 80 h 540"/>
              <a:gd name="p0x15" fmla="*/ 80 w 540"/>
              <a:gd name="p0y15" fmla="*/ 0 h 540"/>
              <a:gd name="p0x16" fmla="*/ 18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EE5D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1" name="图片 50"/>
          <p:cNvPicPr>
            <a:picLocks noChangeAspect="1"/>
          </p:cNvPicPr>
          <p:nvPr>
            <p:custDataLst>
              <p:tags r:id="rId66"/>
            </p:custDataLst>
          </p:nvPr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rcRect l="-6818" t="-3492" r="-6818" b="-3492"/>
          <a:stretch>
            <a:fillRect/>
          </a:stretch>
        </p:blipFill>
        <p:spPr>
          <a:xfrm>
            <a:off x="8668385" y="3643630"/>
            <a:ext cx="202565" cy="181610"/>
          </a:xfrm>
          <a:prstGeom prst="rect">
            <a:avLst/>
          </a:prstGeom>
        </p:spPr>
      </p:pic>
      <p:sp>
        <p:nvSpPr>
          <p:cNvPr id="52" name="文本框 51"/>
          <p:cNvSpPr txBox="1"/>
          <p:nvPr>
            <p:custDataLst>
              <p:tags r:id="rId69"/>
            </p:custDataLst>
          </p:nvPr>
        </p:nvSpPr>
        <p:spPr>
          <a:xfrm>
            <a:off x="9012555" y="3465830"/>
            <a:ext cx="2437765" cy="5378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270">
                <a:solidFill>
                  <a:srgbClr val="112D28"/>
                </a:solidFill>
                <a:cs typeface="微软雅黑" panose="020B0503020204020204" charset="-122"/>
              </a:rPr>
              <a:t>中科星图发行前</a:t>
            </a:r>
            <a:r>
              <a:rPr lang="en-US" altLang="zh-CN" sz="1270">
                <a:solidFill>
                  <a:srgbClr val="112D28"/>
                </a:solidFill>
                <a:cs typeface="微软雅黑" panose="020B0503020204020204" charset="-122"/>
              </a:rPr>
              <a:t>100%</a:t>
            </a:r>
            <a:r>
              <a:rPr lang="zh-CN" altLang="en-US" sz="1270">
                <a:solidFill>
                  <a:srgbClr val="112D28"/>
                </a:solidFill>
                <a:cs typeface="微软雅黑" panose="020B0503020204020204" charset="-122"/>
              </a:rPr>
              <a:t>，发行后</a:t>
            </a:r>
            <a:r>
              <a:rPr lang="en-US" altLang="zh-CN" sz="1270">
                <a:solidFill>
                  <a:srgbClr val="112D28"/>
                </a:solidFill>
                <a:cs typeface="微软雅黑" panose="020B0503020204020204" charset="-122"/>
              </a:rPr>
              <a:t>46.36%——</a:t>
            </a:r>
            <a:r>
              <a:rPr lang="zh-CN" altLang="en-US" sz="1270">
                <a:solidFill>
                  <a:srgbClr val="112D28"/>
                </a:solidFill>
                <a:cs typeface="微软雅黑" panose="020B0503020204020204" charset="-122"/>
              </a:rPr>
              <a:t>不是减持，是稀释</a:t>
            </a:r>
            <a:endParaRPr lang="zh-CN" altLang="en-US" sz="1270">
              <a:solidFill>
                <a:srgbClr val="112D28"/>
              </a:solidFill>
              <a:cs typeface="微软雅黑" panose="020B0503020204020204" charset="-122"/>
            </a:endParaRPr>
          </a:p>
        </p:txBody>
      </p:sp>
      <p:sp>
        <p:nvSpPr>
          <p:cNvPr id="53" name="任意多边形 52"/>
          <p:cNvSpPr/>
          <p:nvPr>
            <p:custDataLst>
              <p:tags r:id="rId70"/>
            </p:custDataLst>
          </p:nvPr>
        </p:nvSpPr>
        <p:spPr>
          <a:xfrm>
            <a:off x="8624570" y="4124960"/>
            <a:ext cx="290830" cy="29083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80 w 540"/>
              <a:gd name="p0y0" fmla="*/ 0 h 540"/>
              <a:gd name="p0x1" fmla="*/ 360 w 540"/>
              <a:gd name="p0y1" fmla="*/ 0 h 540"/>
              <a:gd name="p0x2" fmla="*/ 459 w 540"/>
              <a:gd name="p0y2" fmla="*/ 0 h 540"/>
              <a:gd name="p0x3" fmla="*/ 540 w 540"/>
              <a:gd name="p0y3" fmla="*/ 80 h 540"/>
              <a:gd name="p0x4" fmla="*/ 540 w 540"/>
              <a:gd name="p0y4" fmla="*/ 180 h 540"/>
              <a:gd name="p0x5" fmla="*/ 540 w 540"/>
              <a:gd name="p0y5" fmla="*/ 360 h 540"/>
              <a:gd name="p0x6" fmla="*/ 540 w 540"/>
              <a:gd name="p0y6" fmla="*/ 459 h 540"/>
              <a:gd name="p0x7" fmla="*/ 459 w 540"/>
              <a:gd name="p0y7" fmla="*/ 540 h 540"/>
              <a:gd name="p0x8" fmla="*/ 360 w 540"/>
              <a:gd name="p0y8" fmla="*/ 540 h 540"/>
              <a:gd name="p0x9" fmla="*/ 180 w 540"/>
              <a:gd name="p0y9" fmla="*/ 540 h 540"/>
              <a:gd name="p0x10" fmla="*/ 80 w 540"/>
              <a:gd name="p0y10" fmla="*/ 540 h 540"/>
              <a:gd name="p0x11" fmla="*/ 0 w 540"/>
              <a:gd name="p0y11" fmla="*/ 459 h 540"/>
              <a:gd name="p0x12" fmla="*/ 0 w 540"/>
              <a:gd name="p0y12" fmla="*/ 360 h 540"/>
              <a:gd name="p0x13" fmla="*/ 0 w 540"/>
              <a:gd name="p0y13" fmla="*/ 180 h 540"/>
              <a:gd name="p0x14" fmla="*/ 0 w 540"/>
              <a:gd name="p0y14" fmla="*/ 80 h 540"/>
              <a:gd name="p0x15" fmla="*/ 80 w 540"/>
              <a:gd name="p0y15" fmla="*/ 0 h 540"/>
              <a:gd name="p0x16" fmla="*/ 18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EE5D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4" name="图片 53"/>
          <p:cNvPicPr>
            <a:picLocks noChangeAspect="1"/>
          </p:cNvPicPr>
          <p:nvPr>
            <p:custDataLst>
              <p:tags r:id="rId71"/>
            </p:custDataLst>
          </p:nvPr>
        </p:nvPicPr>
        <p:blipFill>
          <a:blip r:embed="rId72"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rcRect l="-2381" t="-3492" r="-2381" b="-3492"/>
          <a:stretch>
            <a:fillRect/>
          </a:stretch>
        </p:blipFill>
        <p:spPr>
          <a:xfrm>
            <a:off x="8681085" y="4177665"/>
            <a:ext cx="177800" cy="181610"/>
          </a:xfrm>
          <a:prstGeom prst="rect">
            <a:avLst/>
          </a:prstGeom>
        </p:spPr>
      </p:pic>
      <p:sp>
        <p:nvSpPr>
          <p:cNvPr id="55" name="文本框 54"/>
          <p:cNvSpPr txBox="1"/>
          <p:nvPr>
            <p:custDataLst>
              <p:tags r:id="rId74"/>
            </p:custDataLst>
          </p:nvPr>
        </p:nvSpPr>
        <p:spPr>
          <a:xfrm>
            <a:off x="9012555" y="3999865"/>
            <a:ext cx="2437765" cy="5378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70">
                <a:solidFill>
                  <a:srgbClr val="112D28"/>
                </a:solidFill>
              </a:rPr>
              <a:t>中科星图未参与本轮认购，总股本增大导致比例下降</a:t>
            </a:r>
            <a:endParaRPr sz="1270">
              <a:solidFill>
                <a:srgbClr val="112D28"/>
              </a:solidFill>
            </a:endParaRPr>
          </a:p>
        </p:txBody>
      </p:sp>
      <p:sp>
        <p:nvSpPr>
          <p:cNvPr id="56" name="任意多边形 55"/>
          <p:cNvSpPr/>
          <p:nvPr>
            <p:custDataLst>
              <p:tags r:id="rId75"/>
            </p:custDataLst>
          </p:nvPr>
        </p:nvSpPr>
        <p:spPr>
          <a:xfrm>
            <a:off x="8624570" y="4788535"/>
            <a:ext cx="290830" cy="29083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80 w 540"/>
              <a:gd name="p0y0" fmla="*/ 0 h 540"/>
              <a:gd name="p0x1" fmla="*/ 360 w 540"/>
              <a:gd name="p0y1" fmla="*/ 0 h 540"/>
              <a:gd name="p0x2" fmla="*/ 459 w 540"/>
              <a:gd name="p0y2" fmla="*/ 0 h 540"/>
              <a:gd name="p0x3" fmla="*/ 540 w 540"/>
              <a:gd name="p0y3" fmla="*/ 80 h 540"/>
              <a:gd name="p0x4" fmla="*/ 540 w 540"/>
              <a:gd name="p0y4" fmla="*/ 180 h 540"/>
              <a:gd name="p0x5" fmla="*/ 540 w 540"/>
              <a:gd name="p0y5" fmla="*/ 360 h 540"/>
              <a:gd name="p0x6" fmla="*/ 540 w 540"/>
              <a:gd name="p0y6" fmla="*/ 459 h 540"/>
              <a:gd name="p0x7" fmla="*/ 459 w 540"/>
              <a:gd name="p0y7" fmla="*/ 540 h 540"/>
              <a:gd name="p0x8" fmla="*/ 360 w 540"/>
              <a:gd name="p0y8" fmla="*/ 540 h 540"/>
              <a:gd name="p0x9" fmla="*/ 180 w 540"/>
              <a:gd name="p0y9" fmla="*/ 540 h 540"/>
              <a:gd name="p0x10" fmla="*/ 80 w 540"/>
              <a:gd name="p0y10" fmla="*/ 540 h 540"/>
              <a:gd name="p0x11" fmla="*/ 0 w 540"/>
              <a:gd name="p0y11" fmla="*/ 459 h 540"/>
              <a:gd name="p0x12" fmla="*/ 0 w 540"/>
              <a:gd name="p0y12" fmla="*/ 360 h 540"/>
              <a:gd name="p0x13" fmla="*/ 0 w 540"/>
              <a:gd name="p0y13" fmla="*/ 180 h 540"/>
              <a:gd name="p0x14" fmla="*/ 0 w 540"/>
              <a:gd name="p0y14" fmla="*/ 80 h 540"/>
              <a:gd name="p0x15" fmla="*/ 80 w 540"/>
              <a:gd name="p0y15" fmla="*/ 0 h 540"/>
              <a:gd name="p0x16" fmla="*/ 18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EE5D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7" name="图片 56"/>
          <p:cNvPicPr>
            <a:picLocks noChangeAspect="1"/>
          </p:cNvPicPr>
          <p:nvPr>
            <p:custDataLst>
              <p:tags r:id="rId76"/>
            </p:custDataLst>
          </p:nvPr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rcRect l="-4259" t="-16078" r="-4259" b="-16078"/>
          <a:stretch>
            <a:fillRect/>
          </a:stretch>
        </p:blipFill>
        <p:spPr>
          <a:xfrm>
            <a:off x="8690610" y="4841240"/>
            <a:ext cx="158115" cy="181610"/>
          </a:xfrm>
          <a:prstGeom prst="rect">
            <a:avLst/>
          </a:prstGeom>
        </p:spPr>
      </p:pic>
      <p:sp>
        <p:nvSpPr>
          <p:cNvPr id="58" name="文本框 57"/>
          <p:cNvSpPr txBox="1"/>
          <p:nvPr>
            <p:custDataLst>
              <p:tags r:id="rId79"/>
            </p:custDataLst>
          </p:nvPr>
        </p:nvSpPr>
        <p:spPr>
          <a:xfrm>
            <a:off x="9012555" y="4533900"/>
            <a:ext cx="2437765" cy="7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270">
                <a:solidFill>
                  <a:srgbClr val="112D28"/>
                </a:solidFill>
                <a:cs typeface="微软雅黑" panose="020B0503020204020204" charset="-122"/>
              </a:rPr>
              <a:t>小学数学验证：</a:t>
            </a:r>
            <a:r>
              <a:rPr lang="en-US" altLang="zh-CN" sz="1270">
                <a:solidFill>
                  <a:srgbClr val="112D28"/>
                </a:solidFill>
                <a:cs typeface="微软雅黑" panose="020B0503020204020204" charset="-122"/>
              </a:rPr>
              <a:t>7500/8250≈91%</a:t>
            </a:r>
            <a:r>
              <a:rPr lang="zh-CN" altLang="en-US" sz="1270">
                <a:solidFill>
                  <a:srgbClr val="112D28"/>
                </a:solidFill>
                <a:cs typeface="微软雅黑" panose="020B0503020204020204" charset="-122"/>
              </a:rPr>
              <a:t>（发行后股本），</a:t>
            </a:r>
            <a:r>
              <a:rPr lang="en-US" altLang="zh-CN" sz="1270">
                <a:solidFill>
                  <a:srgbClr val="112D28"/>
                </a:solidFill>
                <a:cs typeface="微软雅黑" panose="020B0503020204020204" charset="-122"/>
              </a:rPr>
              <a:t>3825/8250=46.36%</a:t>
            </a:r>
            <a:endParaRPr lang="en-US" altLang="zh-CN" sz="1270">
              <a:solidFill>
                <a:srgbClr val="112D28"/>
              </a:solidFill>
              <a:cs typeface="微软雅黑" panose="020B0503020204020204" charset="-122"/>
            </a:endParaRPr>
          </a:p>
        </p:txBody>
      </p:sp>
      <p:sp>
        <p:nvSpPr>
          <p:cNvPr id="59" name="任意多边形 58"/>
          <p:cNvSpPr/>
          <p:nvPr>
            <p:custDataLst>
              <p:tags r:id="rId80"/>
            </p:custDataLst>
          </p:nvPr>
        </p:nvSpPr>
        <p:spPr>
          <a:xfrm>
            <a:off x="8624570" y="5581015"/>
            <a:ext cx="290830" cy="291465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80 w 540"/>
              <a:gd name="p0y0" fmla="*/ 0 h 540"/>
              <a:gd name="p0x1" fmla="*/ 360 w 540"/>
              <a:gd name="p0y1" fmla="*/ 0 h 540"/>
              <a:gd name="p0x2" fmla="*/ 459 w 540"/>
              <a:gd name="p0y2" fmla="*/ 0 h 540"/>
              <a:gd name="p0x3" fmla="*/ 540 w 540"/>
              <a:gd name="p0y3" fmla="*/ 80 h 540"/>
              <a:gd name="p0x4" fmla="*/ 540 w 540"/>
              <a:gd name="p0y4" fmla="*/ 180 h 540"/>
              <a:gd name="p0x5" fmla="*/ 540 w 540"/>
              <a:gd name="p0y5" fmla="*/ 360 h 540"/>
              <a:gd name="p0x6" fmla="*/ 540 w 540"/>
              <a:gd name="p0y6" fmla="*/ 459 h 540"/>
              <a:gd name="p0x7" fmla="*/ 459 w 540"/>
              <a:gd name="p0y7" fmla="*/ 540 h 540"/>
              <a:gd name="p0x8" fmla="*/ 360 w 540"/>
              <a:gd name="p0y8" fmla="*/ 540 h 540"/>
              <a:gd name="p0x9" fmla="*/ 180 w 540"/>
              <a:gd name="p0y9" fmla="*/ 540 h 540"/>
              <a:gd name="p0x10" fmla="*/ 80 w 540"/>
              <a:gd name="p0y10" fmla="*/ 540 h 540"/>
              <a:gd name="p0x11" fmla="*/ 0 w 540"/>
              <a:gd name="p0y11" fmla="*/ 459 h 540"/>
              <a:gd name="p0x12" fmla="*/ 0 w 540"/>
              <a:gd name="p0y12" fmla="*/ 360 h 540"/>
              <a:gd name="p0x13" fmla="*/ 0 w 540"/>
              <a:gd name="p0y13" fmla="*/ 180 h 540"/>
              <a:gd name="p0x14" fmla="*/ 0 w 540"/>
              <a:gd name="p0y14" fmla="*/ 80 h 540"/>
              <a:gd name="p0x15" fmla="*/ 80 w 540"/>
              <a:gd name="p0y15" fmla="*/ 0 h 540"/>
              <a:gd name="p0x16" fmla="*/ 18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EE5D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0" name="图片 59"/>
          <p:cNvPicPr>
            <a:picLocks noChangeAspect="1"/>
          </p:cNvPicPr>
          <p:nvPr>
            <p:custDataLst>
              <p:tags r:id="rId81"/>
            </p:custDataLst>
          </p:nvPr>
        </p:nvPicPr>
        <p:blipFill>
          <a:blip r:embed="rId82">
            <a:extLst>
              <a:ext uri="{96DAC541-7B7A-43D3-8B79-37D633B846F1}">
                <asvg:svgBlip xmlns:asvg="http://schemas.microsoft.com/office/drawing/2016/SVG/main" r:embed="rId83"/>
              </a:ext>
            </a:extLst>
          </a:blip>
          <a:srcRect l="-2381" t="-3492" r="-2381" b="-3492"/>
          <a:stretch>
            <a:fillRect/>
          </a:stretch>
        </p:blipFill>
        <p:spPr>
          <a:xfrm>
            <a:off x="8681085" y="5633720"/>
            <a:ext cx="177800" cy="182245"/>
          </a:xfrm>
          <a:prstGeom prst="rect">
            <a:avLst/>
          </a:prstGeom>
        </p:spPr>
      </p:pic>
      <p:sp>
        <p:nvSpPr>
          <p:cNvPr id="61" name="文本框 60"/>
          <p:cNvSpPr txBox="1"/>
          <p:nvPr>
            <p:custDataLst>
              <p:tags r:id="rId84"/>
            </p:custDataLst>
          </p:nvPr>
        </p:nvSpPr>
        <p:spPr>
          <a:xfrm>
            <a:off x="9012555" y="5327015"/>
            <a:ext cx="2437765" cy="7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270">
                <a:solidFill>
                  <a:srgbClr val="112D28"/>
                </a:solidFill>
                <a:cs typeface="微软雅黑" panose="020B0503020204020204" charset="-122"/>
              </a:rPr>
              <a:t>绝对持股数减少因中科星图在股改或之前已减至</a:t>
            </a:r>
            <a:r>
              <a:rPr lang="en-US" altLang="zh-CN" sz="1270">
                <a:solidFill>
                  <a:srgbClr val="112D28"/>
                </a:solidFill>
                <a:cs typeface="微软雅黑" panose="020B0503020204020204" charset="-122"/>
              </a:rPr>
              <a:t>3825</a:t>
            </a:r>
            <a:r>
              <a:rPr lang="zh-CN" altLang="en-US" sz="1270">
                <a:solidFill>
                  <a:srgbClr val="112D28"/>
                </a:solidFill>
                <a:cs typeface="微软雅黑" panose="020B0503020204020204" charset="-122"/>
              </a:rPr>
              <a:t>万</a:t>
            </a:r>
            <a:r>
              <a:rPr lang="en-US" altLang="zh-CN" sz="1270">
                <a:solidFill>
                  <a:srgbClr val="112D28"/>
                </a:solidFill>
                <a:cs typeface="微软雅黑" panose="020B0503020204020204" charset="-122"/>
              </a:rPr>
              <a:t>——</a:t>
            </a:r>
            <a:r>
              <a:rPr lang="zh-CN" altLang="en-US" sz="1270">
                <a:solidFill>
                  <a:srgbClr val="112D28"/>
                </a:solidFill>
                <a:cs typeface="微软雅黑" panose="020B0503020204020204" charset="-122"/>
              </a:rPr>
              <a:t>需回</a:t>
            </a:r>
            <a:r>
              <a:rPr lang="en-US" altLang="zh-CN" sz="1270">
                <a:solidFill>
                  <a:srgbClr val="112D28"/>
                </a:solidFill>
                <a:cs typeface="微软雅黑" panose="020B0503020204020204" charset="-122"/>
              </a:rPr>
              <a:t>PDF</a:t>
            </a:r>
            <a:r>
              <a:rPr lang="zh-CN" altLang="en-US" sz="1270">
                <a:solidFill>
                  <a:srgbClr val="112D28"/>
                </a:solidFill>
                <a:cs typeface="微软雅黑" panose="020B0503020204020204" charset="-122"/>
              </a:rPr>
              <a:t>确认</a:t>
            </a:r>
            <a:endParaRPr lang="zh-CN" altLang="en-US" sz="1270">
              <a:solidFill>
                <a:srgbClr val="112D28"/>
              </a:solidFill>
              <a:cs typeface="微软雅黑" panose="020B0503020204020204" charset="-122"/>
            </a:endParaRPr>
          </a:p>
        </p:txBody>
      </p:sp>
    </p:spTree>
    <p:custDataLst>
      <p:tags r:id="rId85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7826305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latin typeface="+mn-lt"/>
              </a:rPr>
              <a:t>THE END</a:t>
            </a:r>
            <a:endParaRPr lang="en-US" altLang="en-US">
              <a:latin typeface="+mn-lt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ctrTitle" idx="1782604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 sz="6200">
                <a:latin typeface="+mj-lt"/>
              </a:rPr>
              <a:t>感谢聆听</a:t>
            </a:r>
            <a:endParaRPr lang="zh-CN" altLang="en-US" sz="6200">
              <a:latin typeface="+mj-lt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80228"/>
  <p:tag name="KSO_WM_TEMPLATE_CATEGORY" val="custom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ISNUMDGMTITLE" val="0"/>
  <p:tag name="KSO_WM_TEMPLATE_INDEX" val="40480228"/>
  <p:tag name="KSO_WM_TEMPLATE_CATEGORY" val="custom"/>
</p:tagLst>
</file>

<file path=ppt/tags/tag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228"/>
  <p:tag name="KSO_WM_TEMPLATE_CATEGORY" val="custom"/>
</p:tagLst>
</file>

<file path=ppt/tags/tag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228"/>
  <p:tag name="KSO_WM_TEMPLATE_CATEGORY" val="custom"/>
</p:tagLst>
</file>

<file path=ppt/tags/tag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228"/>
  <p:tag name="KSO_WM_TEMPLATE_CATEGORY" val="custom"/>
</p:tagLst>
</file>

<file path=ppt/tags/tag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2"/>
  <p:tag name="KSO_WM_UNIT_ID" val="_2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228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CATEGORY" val="custom"/>
  <p:tag name="KSO_WM_TEMPLATE_USER_THEME" val="1"/>
  <p:tag name="KSO_WM_TEMPLATE_INDEX" val="40480228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0228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0228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0228"/>
</p:tagLst>
</file>

<file path=ppt/tags/tag11.xml><?xml version="1.0" encoding="utf-8"?>
<p:tagLst xmlns:p="http://schemas.openxmlformats.org/presentationml/2006/main">
  <p:tag name="KSO_WM_UNIT_TYPE" val="f"/>
  <p:tag name="KSO_WM_UNIT_INDEX" val="1"/>
  <p:tag name="KSO_WM_UNIT_ID" val="_3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228"/>
</p:tagLst>
</file>

<file path=ppt/tags/tag12.xml><?xml version="1.0" encoding="utf-8"?>
<p:tagLst xmlns:p="http://schemas.openxmlformats.org/presentationml/2006/main">
  <p:tag name="KSO_WM_UNIT_TYPE" val="f"/>
  <p:tag name="KSO_WM_UNIT_INDEX" val="2"/>
  <p:tag name="KSO_WM_UNIT_ID" val="_3*f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228"/>
</p:tagLst>
</file>

<file path=ppt/tags/tag1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228"/>
</p:tagLst>
</file>

<file path=ppt/tags/tag1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228"/>
</p:tagLst>
</file>

<file path=ppt/tags/tag1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228"/>
</p:tagLst>
</file>

<file path=ppt/tags/tag16.xml><?xml version="1.0" encoding="utf-8"?>
<p:tagLst xmlns:p="http://schemas.openxmlformats.org/presentationml/2006/main">
  <p:tag name="KSO_WM_UNIT_TYPE" val="a"/>
  <p:tag name="KSO_WM_UNIT_INDEX" val="1"/>
  <p:tag name="KSO_WM_UNIT_ID" val="_3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228"/>
</p:tagLst>
</file>

<file path=ppt/tags/tag17.xml><?xml version="1.0" encoding="utf-8"?>
<p:tagLst xmlns:p="http://schemas.openxmlformats.org/presentationml/2006/main">
  <p:tag name="KSO_WM_UNIT_TYPE" val="f"/>
  <p:tag name="KSO_WM_UNIT_INDEX" val="1"/>
  <p:tag name="KSO_WM_UNIT_ID" val="_4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228"/>
</p:tagLst>
</file>

<file path=ppt/tags/tag18.xml><?xml version="1.0" encoding="utf-8"?>
<p:tagLst xmlns:p="http://schemas.openxmlformats.org/presentationml/2006/main">
  <p:tag name="KSO_WM_UNIT_TYPE" val="f"/>
  <p:tag name="KSO_WM_UNIT_INDEX" val="2"/>
  <p:tag name="KSO_WM_UNIT_ID" val="_4*f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228"/>
</p:tagLst>
</file>

<file path=ppt/tags/tag19.xml><?xml version="1.0" encoding="utf-8"?>
<p:tagLst xmlns:p="http://schemas.openxmlformats.org/presentationml/2006/main">
  <p:tag name="KSO_WM_UNIT_TYPE" val="f"/>
  <p:tag name="KSO_WM_UNIT_INDEX" val="3"/>
  <p:tag name="KSO_WM_UNIT_ID" val="_4*f*3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228"/>
</p:tagLst>
</file>

<file path=ppt/tags/tag20.xml><?xml version="1.0" encoding="utf-8"?>
<p:tagLst xmlns:p="http://schemas.openxmlformats.org/presentationml/2006/main">
  <p:tag name="KSO_WM_UNIT_TYPE" val="f"/>
  <p:tag name="KSO_WM_UNIT_INDEX" val="4"/>
  <p:tag name="KSO_WM_UNIT_ID" val="_4*f*4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228"/>
</p:tagLst>
</file>

<file path=ppt/tags/tag21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228"/>
</p:tagLst>
</file>

<file path=ppt/tags/tag22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228"/>
</p:tagLst>
</file>

<file path=ppt/tags/tag23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228"/>
</p:tagLst>
</file>

<file path=ppt/tags/tag24.xml><?xml version="1.0" encoding="utf-8"?>
<p:tagLst xmlns:p="http://schemas.openxmlformats.org/presentationml/2006/main">
  <p:tag name="KSO_WM_UNIT_TYPE" val="a"/>
  <p:tag name="KSO_WM_UNIT_INDEX" val="1"/>
  <p:tag name="KSO_WM_UNIT_ID" val="_4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228"/>
</p:tagLst>
</file>

<file path=ppt/tags/tag25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228"/>
</p:tagLst>
</file>

<file path=ppt/tags/tag26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228"/>
</p:tagLst>
</file>

<file path=ppt/tags/tag27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228"/>
</p:tagLst>
</file>

<file path=ppt/tags/tag28.xml><?xml version="1.0" encoding="utf-8"?>
<p:tagLst xmlns:p="http://schemas.openxmlformats.org/presentationml/2006/main">
  <p:tag name="KSO_WM_UNIT_TYPE" val="a"/>
  <p:tag name="KSO_WM_UNIT_INDEX" val="1"/>
  <p:tag name="KSO_WM_UNIT_ID" val="_5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228"/>
</p:tagLst>
</file>

<file path=ppt/tags/tag29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228"/>
</p:tagLst>
</file>

<file path=ppt/tags/tag30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228"/>
</p:tagLst>
</file>

<file path=ppt/tags/tag31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228"/>
</p:tagLst>
</file>

<file path=ppt/tags/tag32.xml><?xml version="1.0" encoding="utf-8"?>
<p:tagLst xmlns:p="http://schemas.openxmlformats.org/presentationml/2006/main">
  <p:tag name="KSO_WM_UNIT_TYPE" val="f"/>
  <p:tag name="KSO_WM_UNIT_INDEX" val="1"/>
  <p:tag name="KSO_WM_UNIT_ID" val="_7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228"/>
</p:tagLst>
</file>

<file path=ppt/tags/tag33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228"/>
</p:tagLst>
</file>

<file path=ppt/tags/tag34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228"/>
</p:tagLst>
</file>

<file path=ppt/tags/tag35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228"/>
</p:tagLst>
</file>

<file path=ppt/tags/tag36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228"/>
</p:tagLst>
</file>

<file path=ppt/tags/tag37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228"/>
</p:tagLst>
</file>

<file path=ppt/tags/tag38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228"/>
</p:tagLst>
</file>

<file path=ppt/tags/tag39.xml><?xml version="1.0" encoding="utf-8"?>
<p:tagLst xmlns:p="http://schemas.openxmlformats.org/presentationml/2006/main">
  <p:tag name="KSO_WM_UNIT_TYPE" val="f"/>
  <p:tag name="KSO_WM_UNIT_INDEX" val="1"/>
  <p:tag name="KSO_WM_UNIT_ID" val="_8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228"/>
</p:tagLst>
</file>

<file path=ppt/tags/tag40.xml><?xml version="1.0" encoding="utf-8"?>
<p:tagLst xmlns:p="http://schemas.openxmlformats.org/presentationml/2006/main">
  <p:tag name="KSO_WM_UNIT_TYPE" val="a"/>
  <p:tag name="KSO_WM_UNIT_INDEX" val="1"/>
  <p:tag name="KSO_WM_UNIT_ID" val="_8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228"/>
</p:tagLst>
</file>

<file path=ppt/tags/tag4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2"/>
  <p:tag name="KSO_WM_UNIT_ID" val="_9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228"/>
</p:tagLst>
</file>

<file path=ppt/tags/tag4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LAYOUTZORDER" val="10"/>
  <p:tag name="KSO_WM_UNIT_ID" val="_9*i*4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228"/>
</p:tagLst>
</file>

<file path=ppt/tags/tag4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19"/>
  <p:tag name="KSO_WM_UNIT_ID" val="_9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228"/>
</p:tagLst>
</file>

<file path=ppt/tags/tag44.xml><?xml version="1.0" encoding="utf-8"?>
<p:tagLst xmlns:p="http://schemas.openxmlformats.org/presentationml/2006/main">
  <p:tag name="KSO_WM_UNIT_TYPE" val="f"/>
  <p:tag name="KSO_WM_BEAUTIFY_FLAG" val="#wm#"/>
  <p:tag name="KSO_WM_UNIT_INDEX" val="1"/>
  <p:tag name="KSO_WM_UNIT_SUBTYPE" val="c"/>
  <p:tag name="KSO_WM_UNIT_TEXT_TYPE" val="1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228"/>
  <p:tag name="KSO_WM_TEMPLATE_CATEGORY" val="custom"/>
  <p:tag name="KSO_WM_FIGMA_FLAG" val="#fgm#"/>
</p:tagLst>
</file>

<file path=ppt/tags/tag45.xml><?xml version="1.0" encoding="utf-8"?>
<p:tagLst xmlns:p="http://schemas.openxmlformats.org/presentationml/2006/main">
  <p:tag name="KSO_WM_UNIT_TYPE" val="a"/>
  <p:tag name="KSO_WM_BEAUTIFY_FLAG" val="#wm#"/>
  <p:tag name="KSO_WM_UNIT_INDEX" val="1"/>
  <p:tag name="KSO_WM_UNIT_TEXT_TYPE" val="1"/>
  <p:tag name="KSO_WM_LAYOUT_CHECK_HASH" val="5123d38b284a5475cd0978a9116fc20418ae1d93"/>
  <p:tag name="KSO_WM_NEWLAYOUT_ID" val="976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228"/>
  <p:tag name="KSO_WM_TEMPLATE_CATEGORY" val="custom"/>
  <p:tag name="KSO_WM_FIGMA_FLAG" val="#fgm#"/>
</p:tagLst>
</file>

<file path=ppt/tags/tag46.xml><?xml version="1.0" encoding="utf-8"?>
<p:tagLst xmlns:p="http://schemas.openxmlformats.org/presentationml/2006/main">
  <p:tag name="KSO_WM_UNIT_HIGHLIGHT" val="0"/>
  <p:tag name="KSO_WM_BEAUTIFY_FLAG" val="#wm#"/>
  <p:tag name="KSO_WM_UNIT_INDEX" val="2"/>
  <p:tag name="KSO_WM_UNIT_SUBTYPE" val="b"/>
  <p:tag name="KSO_WM_UNIT_TEXT_TYPE" val="1"/>
  <p:tag name="KSO_WM_UNIT_TYPE" val="f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228"/>
  <p:tag name="KSO_WM_TEMPLATE_CATEGORY" val="custom"/>
  <p:tag name="KSO_WM_FIGMA_FLAG" val="#fgm#"/>
</p:tagLst>
</file>

<file path=ppt/tags/tag47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2"/>
  <p:tag name="KSO_WM_UNIT_ID" val="_10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228"/>
</p:tagLst>
</file>

<file path=ppt/tags/tag4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LAYOUTZORDER" val="3"/>
  <p:tag name="KSO_WM_UNIT_ID" val="_10*i*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228"/>
</p:tagLst>
</file>

<file path=ppt/tags/tag4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4"/>
  <p:tag name="KSO_WM_UNIT_ID" val="_10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228"/>
</p:tagLst>
</file>

<file path=ppt/tags/tag50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1382ce9346c0599fec962bf65106b1db3d4a6aa6"/>
  <p:tag name="KSO_WM_NEWLAYOUT_ID" val="982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228"/>
  <p:tag name="KSO_WM_TEMPLATE_CATEGORY" val="custom"/>
  <p:tag name="KSO_WM_FIGMA_FLAG" val="#fgm#"/>
</p:tagLst>
</file>

<file path=ppt/tags/tag51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228"/>
  <p:tag name="KSO_WM_TEMPLATE_CATEGORY" val="custom"/>
  <p:tag name="KSO_WM_FIGMA_FLAG" val="#fgm#"/>
</p:tagLst>
</file>

<file path=ppt/tags/tag5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2"/>
  <p:tag name="KSO_WM_UNIT_ID" val="_11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228"/>
</p:tagLst>
</file>

<file path=ppt/tags/tag5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10"/>
  <p:tag name="KSO_WM_UNIT_ID" val="_11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228"/>
</p:tagLst>
</file>

<file path=ppt/tags/tag5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LAYOUTZORDER" val="19"/>
  <p:tag name="KSO_WM_UNIT_ID" val="_11*i*6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228"/>
</p:tagLst>
</file>

<file path=ppt/tags/tag55.xml><?xml version="1.0" encoding="utf-8"?>
<p:tagLst xmlns:p="http://schemas.openxmlformats.org/presentationml/2006/main">
  <p:tag name="KSO_WM_BEAUTIFY_FLAG" val="#wm#"/>
  <p:tag name="KSO_WM_UNIT_INDEX" val="1"/>
  <p:tag name="KSO_WM_UNIT_TEXT_TYPE" val="1"/>
  <p:tag name="KSO_WM_UNIT_TYPE" val="b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228"/>
  <p:tag name="KSO_WM_TEMPLATE_CATEGORY" val="custom"/>
  <p:tag name="KSO_WM_FIGMA_FLAG" val="#fgm#"/>
</p:tagLst>
</file>

<file path=ppt/tags/tag56.xml><?xml version="1.0" encoding="utf-8"?>
<p:tagLst xmlns:p="http://schemas.openxmlformats.org/presentationml/2006/main">
  <p:tag name="KSO_WM_UNIT_TYPE" val="a"/>
  <p:tag name="KSO_WM_BEAUTIFY_FLAG" val="#wm#"/>
  <p:tag name="KSO_WM_UNIT_INDEX" val="1"/>
  <p:tag name="KSO_WM_UNIT_TEXT_TYPE" val="1"/>
  <p:tag name="KSO_WM_LAYOUT_CHECK_HASH" val="94573144b9e59e56c60030ed03be21980fea1812"/>
  <p:tag name="KSO_WM_NEWLAYOUT_ID" val="990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228"/>
  <p:tag name="KSO_WM_TEMPLATE_CATEGORY" val="custom"/>
  <p:tag name="KSO_WM_FIGMA_FLAG" val="#fgm#"/>
</p:tagLst>
</file>

<file path=ppt/tags/tag5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228"/>
  <p:tag name="KSO_WM_TEMPLATE_CATEGORY" val="custom"/>
</p:tagLst>
</file>

<file path=ppt/tags/tag5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228"/>
  <p:tag name="KSO_WM_TEMPLATE_CATEGORY" val="custom"/>
</p:tagLst>
</file>

<file path=ppt/tags/tag5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228"/>
  <p:tag name="KSO_WM_TEMPLATE_CATEGORY" val="custom"/>
</p:tagLst>
</file>

<file path=ppt/tags/tag6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6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d5d8081471f957155b2ba259535cf027832a6fd5"/>
  <p:tag name="KSO_WM_NEWLAYOUT_ID" val="1"/>
</p:tagLst>
</file>

<file path=ppt/tags/tag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6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6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6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7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74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363"/>
  <p:tag name="KSO_WM_TEMPLATE_CATEGORY" val="custom"/>
</p:tagLst>
</file>

<file path=ppt/tags/tag75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363"/>
  <p:tag name="KSO_WM_TEMPLATE_CATEGORY" val="custom"/>
</p:tagLst>
</file>

<file path=ppt/tags/tag76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363"/>
  <p:tag name="KSO_WM_TEMPLATE_CATEGORY" val="custom"/>
</p:tagLst>
</file>

<file path=ppt/tags/tag77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228"/>
</p:tagLst>
</file>

<file path=ppt/tags/tag78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228"/>
</p:tagLst>
</file>

<file path=ppt/tags/tag79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228"/>
</p:tagLst>
</file>

<file path=ppt/tags/tag80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228"/>
</p:tagLst>
</file>

<file path=ppt/tags/tag81.xml><?xml version="1.0" encoding="utf-8"?>
<p:tagLst xmlns:p="http://schemas.openxmlformats.org/presentationml/2006/main">
  <p:tag name="KSO_WM_UNIT_TYPE" val="f"/>
  <p:tag name="KSO_WM_UNIT_INDEX" val="1"/>
  <p:tag name="KSO_WM_UNIT_ID" val="_0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228"/>
</p:tagLst>
</file>

<file path=ppt/tags/tag82.xml><?xml version="1.0" encoding="utf-8"?>
<p:tagLst xmlns:p="http://schemas.openxmlformats.org/presentationml/2006/main">
  <p:tag name="KSO_WM_UNIT_TYPE" val="a"/>
  <p:tag name="KSO_WM_UNIT_INDEX" val="1"/>
  <p:tag name="KSO_WM_UNIT_ID" val="_0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228"/>
</p:tagLst>
</file>

<file path=ppt/tags/tag83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80228"/>
  <p:tag name="KSO_WM_TEMPLATE_CATEGORY" val="custom"/>
  <p:tag name="KSO_WM_TEMPLATE_MASTER_TYPE" val="0"/>
  <p:tag name="KSO_WM_TAG_VERSION" val="3.0"/>
</p:tagLst>
</file>

<file path=ppt/tags/tag8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8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8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8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8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8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9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91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92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93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94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95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9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97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9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99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100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01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10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03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104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05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10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07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108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09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11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11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112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13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114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15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116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17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118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19.xml><?xml version="1.0" encoding="utf-8"?>
<p:tagLst xmlns:p="http://schemas.openxmlformats.org/presentationml/2006/main">
  <p:tag name="KSO_WM_UNIT_TYPE" val="x"/>
  <p:tag name="KSO_WM_UNIT_INDEX" val="11"/>
  <p:tag name="KSO_WM_BEAUTIFY_FLAG" val="#wm#"/>
  <p:tag name="KSO_WM_TAG_VERSION" val="3.0"/>
</p:tagLst>
</file>

<file path=ppt/tags/tag120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21.xml><?xml version="1.0" encoding="utf-8"?>
<p:tagLst xmlns:p="http://schemas.openxmlformats.org/presentationml/2006/main">
  <p:tag name="KSO_WM_UNIT_TYPE" val="x"/>
  <p:tag name="KSO_WM_UNIT_INDEX" val="12"/>
  <p:tag name="KSO_WM_BEAUTIFY_FLAG" val="#wm#"/>
  <p:tag name="KSO_WM_TAG_VERSION" val="3.0"/>
</p:tagLst>
</file>

<file path=ppt/tags/tag122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23.xml><?xml version="1.0" encoding="utf-8"?>
<p:tagLst xmlns:p="http://schemas.openxmlformats.org/presentationml/2006/main">
  <p:tag name="KSO_WM_UNIT_TYPE" val="x"/>
  <p:tag name="KSO_WM_UNIT_INDEX" val="13"/>
  <p:tag name="KSO_WM_BEAUTIFY_FLAG" val="#wm#"/>
  <p:tag name="KSO_WM_TAG_VERSION" val="3.0"/>
</p:tagLst>
</file>

<file path=ppt/tags/tag124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25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26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27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28.xml><?xml version="1.0" encoding="utf-8"?>
<p:tagLst xmlns:p="http://schemas.openxmlformats.org/presentationml/2006/main">
  <p:tag name="KSO_WM_UNIT_TYPE" val="x"/>
  <p:tag name="KSO_WM_UNIT_INDEX" val="14"/>
  <p:tag name="KSO_WM_BEAUTIFY_FLAG" val="#wm#"/>
  <p:tag name="KSO_WM_TAG_VERSION" val="3.0"/>
</p:tagLst>
</file>

<file path=ppt/tags/tag129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30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131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132.xml><?xml version="1.0" encoding="utf-8"?>
<p:tagLst xmlns:p="http://schemas.openxmlformats.org/presentationml/2006/main">
  <p:tag name="KSO_WM_UNIT_TYPE" val="x"/>
  <p:tag name="KSO_WM_UNIT_INDEX" val="15"/>
  <p:tag name="KSO_WM_BEAUTIFY_FLAG" val="#wm#"/>
  <p:tag name="KSO_WM_TAG_VERSION" val="3.0"/>
</p:tagLst>
</file>

<file path=ppt/tags/tag133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134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135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136.xml><?xml version="1.0" encoding="utf-8"?>
<p:tagLst xmlns:p="http://schemas.openxmlformats.org/presentationml/2006/main">
  <p:tag name="KSO_WM_UNIT_TYPE" val="x"/>
  <p:tag name="KSO_WM_UNIT_INDEX" val="16"/>
  <p:tag name="KSO_WM_BEAUTIFY_FLAG" val="#wm#"/>
  <p:tag name="KSO_WM_TAG_VERSION" val="3.0"/>
</p:tagLst>
</file>

<file path=ppt/tags/tag137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138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139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140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141.xml><?xml version="1.0" encoding="utf-8"?>
<p:tagLst xmlns:p="http://schemas.openxmlformats.org/presentationml/2006/main">
  <p:tag name="KSO_WM_UNIT_TYPE" val="x"/>
  <p:tag name="KSO_WM_UNIT_INDEX" val="17"/>
  <p:tag name="KSO_WM_BEAUTIFY_FLAG" val="#wm#"/>
  <p:tag name="KSO_WM_TAG_VERSION" val="3.0"/>
</p:tagLst>
</file>

<file path=ppt/tags/tag142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143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144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</p:tagLst>
</file>

<file path=ppt/tags/tag145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146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147.xml><?xml version="1.0" encoding="utf-8"?>
<p:tagLst xmlns:p="http://schemas.openxmlformats.org/presentationml/2006/main">
  <p:tag name="KSO_WM_UNIT_TYPE" val="x"/>
  <p:tag name="KSO_WM_UNIT_INDEX" val="18"/>
  <p:tag name="KSO_WM_BEAUTIFY_FLAG" val="#wm#"/>
  <p:tag name="KSO_WM_TAG_VERSION" val="3.0"/>
</p:tagLst>
</file>

<file path=ppt/tags/tag148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149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150.xml><?xml version="1.0" encoding="utf-8"?>
<p:tagLst xmlns:p="http://schemas.openxmlformats.org/presentationml/2006/main">
  <p:tag name="KSO_WM_SLIDE_TYPE" val="text"/>
</p:tagLst>
</file>

<file path=ppt/tags/tag15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5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53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5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5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5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5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58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5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6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6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6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63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6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65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6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6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68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69.xml><?xml version="1.0" encoding="utf-8"?>
<p:tagLst xmlns:p="http://schemas.openxmlformats.org/presentationml/2006/main">
  <p:tag name="KSO_WM_SLIDE_TYPE" val="contents"/>
</p:tagLst>
</file>

<file path=ppt/tags/tag170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1382ce9346c0599fec962bf65106b1db3d4a6aa6"/>
  <p:tag name="KSO_WM_NEWLAYOUT_ID" val="982"/>
  <p:tag name="KSO_WM_UNIT_ID" val="custom40480228_2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228"/>
  <p:tag name="KSO_WM_TEMPLATE_CATEGORY" val="custom"/>
  <p:tag name="KSO_WM_FIGMA_FLAG" val="#fgm#"/>
  <p:tag name="KSO_WM_UNIT_PRESET_TEXT" val="单击此处添加章节标题"/>
</p:tagLst>
</file>

<file path=ppt/tags/tag171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YPE" val="e"/>
  <p:tag name="KSO_WM_UNIT_ID" val="custom40480228_2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228"/>
  <p:tag name="KSO_WM_TEMPLATE_CATEGORY" val="custom"/>
  <p:tag name="KSO_WM_FIGMA_FLAG" val="#fgm#"/>
  <p:tag name="KSO_WM_UNIT_PRESET_TEXT" val="01"/>
</p:tagLst>
</file>

<file path=ppt/tags/tag172.xml><?xml version="1.0" encoding="utf-8"?>
<p:tagLst xmlns:p="http://schemas.openxmlformats.org/presentationml/2006/main">
  <p:tag name="KSO_WM_BEAUTIFY_FLAG" val="#wm#"/>
  <p:tag name="KSO_WM_SLIDE_CONTENT_ORIENTATION" val="left"/>
  <p:tag name="KSO_WM_SLIDE_HAS_MASK" val="0"/>
  <p:tag name="KSO_WM_SLIDE_ID" val="custom40480228_2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CATEGORY" val="custom"/>
  <p:tag name="KSO_WM_TEMPLATE_INDEX" val="40480228"/>
  <p:tag name="KSO_WM_TEMPLATE_MASTER_TYPE" val="0"/>
  <p:tag name="KSO_WM_TEMPLATE_SLIDE_ID" val="slide_0e3ab8503af4c08e"/>
  <p:tag name="KSO_WM_TEMPLATE_SUBCATEGORY" val="29"/>
</p:tagLst>
</file>

<file path=ppt/tags/tag17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7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7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76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17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78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7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80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81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82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83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184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85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86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18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88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189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90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9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92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193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94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9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96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197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198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199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00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201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202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20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0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0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06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0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0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0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10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11.xml><?xml version="1.0" encoding="utf-8"?>
<p:tagLst xmlns:p="http://schemas.openxmlformats.org/presentationml/2006/main">
  <p:tag name="KSO_WM_SLIDE_TYPE" val="text"/>
</p:tagLst>
</file>

<file path=ppt/tags/tag212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1382ce9346c0599fec962bf65106b1db3d4a6aa6"/>
  <p:tag name="KSO_WM_NEWLAYOUT_ID" val="982"/>
  <p:tag name="KSO_WM_UNIT_ID" val="custom40480228_2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228"/>
  <p:tag name="KSO_WM_TEMPLATE_CATEGORY" val="custom"/>
  <p:tag name="KSO_WM_FIGMA_FLAG" val="#fgm#"/>
  <p:tag name="KSO_WM_UNIT_PRESET_TEXT" val="单击此处添加章节标题"/>
</p:tagLst>
</file>

<file path=ppt/tags/tag213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YPE" val="e"/>
  <p:tag name="KSO_WM_UNIT_ID" val="custom40480228_2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228"/>
  <p:tag name="KSO_WM_TEMPLATE_CATEGORY" val="custom"/>
  <p:tag name="KSO_WM_FIGMA_FLAG" val="#fgm#"/>
  <p:tag name="KSO_WM_UNIT_PRESET_TEXT" val="01"/>
</p:tagLst>
</file>

<file path=ppt/tags/tag214.xml><?xml version="1.0" encoding="utf-8"?>
<p:tagLst xmlns:p="http://schemas.openxmlformats.org/presentationml/2006/main">
  <p:tag name="KSO_WM_BEAUTIFY_FLAG" val="#wm#"/>
  <p:tag name="KSO_WM_SLIDE_CONTENT_ORIENTATION" val="left"/>
  <p:tag name="KSO_WM_SLIDE_HAS_MASK" val="0"/>
  <p:tag name="KSO_WM_SLIDE_ID" val="custom40480228_2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CATEGORY" val="custom"/>
  <p:tag name="KSO_WM_TEMPLATE_INDEX" val="40480228"/>
  <p:tag name="KSO_WM_TEMPLATE_MASTER_TYPE" val="0"/>
  <p:tag name="KSO_WM_TEMPLATE_SLIDE_ID" val="slide_0e3ab8503af4c08e"/>
  <p:tag name="KSO_WM_TEMPLATE_SUBCATEGORY" val="29"/>
</p:tagLst>
</file>

<file path=ppt/tags/tag21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1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17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21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19.xml><?xml version="1.0" encoding="utf-8"?>
<p:tagLst xmlns:p="http://schemas.openxmlformats.org/presentationml/2006/main">
  <p:tag name="KSO_WM_UNIT_TYPE" val="β"/>
  <p:tag name="KSO_WM_UNIT_INDEX" val="2"/>
  <p:tag name="KSO_WM_BEAUTIFY_FLAG" val="#wm#"/>
  <p:tag name="KSO_WM_TAG_VERSION" val="3.0"/>
</p:tagLst>
</file>

<file path=ppt/tags/tag22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21.xml><?xml version="1.0" encoding="utf-8"?>
<p:tagLst xmlns:p="http://schemas.openxmlformats.org/presentationml/2006/main">
  <p:tag name="KSO_WM_UNIT_TYPE" val="β"/>
  <p:tag name="KSO_WM_UNIT_INDEX" val="3"/>
  <p:tag name="KSO_WM_BEAUTIFY_FLAG" val="#wm#"/>
  <p:tag name="KSO_WM_TAG_VERSION" val="3.0"/>
</p:tagLst>
</file>

<file path=ppt/tags/tag22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23.xml><?xml version="1.0" encoding="utf-8"?>
<p:tagLst xmlns:p="http://schemas.openxmlformats.org/presentationml/2006/main">
  <p:tag name="KSO_WM_SLIDE_TYPE" val="text"/>
</p:tagLst>
</file>

<file path=ppt/tags/tag224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1382ce9346c0599fec962bf65106b1db3d4a6aa6"/>
  <p:tag name="KSO_WM_NEWLAYOUT_ID" val="982"/>
  <p:tag name="KSO_WM_UNIT_ID" val="custom40480228_2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228"/>
  <p:tag name="KSO_WM_TEMPLATE_CATEGORY" val="custom"/>
  <p:tag name="KSO_WM_FIGMA_FLAG" val="#fgm#"/>
  <p:tag name="KSO_WM_UNIT_PRESET_TEXT" val="单击此处添加章节标题"/>
</p:tagLst>
</file>

<file path=ppt/tags/tag225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YPE" val="e"/>
  <p:tag name="KSO_WM_UNIT_ID" val="custom40480228_2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228"/>
  <p:tag name="KSO_WM_TEMPLATE_CATEGORY" val="custom"/>
  <p:tag name="KSO_WM_FIGMA_FLAG" val="#fgm#"/>
  <p:tag name="KSO_WM_UNIT_PRESET_TEXT" val="01"/>
</p:tagLst>
</file>

<file path=ppt/tags/tag226.xml><?xml version="1.0" encoding="utf-8"?>
<p:tagLst xmlns:p="http://schemas.openxmlformats.org/presentationml/2006/main">
  <p:tag name="KSO_WM_BEAUTIFY_FLAG" val="#wm#"/>
  <p:tag name="KSO_WM_SLIDE_CONTENT_ORIENTATION" val="left"/>
  <p:tag name="KSO_WM_SLIDE_HAS_MASK" val="0"/>
  <p:tag name="KSO_WM_SLIDE_ID" val="custom40480228_2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CATEGORY" val="custom"/>
  <p:tag name="KSO_WM_TEMPLATE_INDEX" val="40480228"/>
  <p:tag name="KSO_WM_TEMPLATE_MASTER_TYPE" val="0"/>
  <p:tag name="KSO_WM_TEMPLATE_SLIDE_ID" val="slide_0e3ab8503af4c08e"/>
  <p:tag name="KSO_WM_TEMPLATE_SUBCATEGORY" val="29"/>
</p:tagLst>
</file>

<file path=ppt/tags/tag227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2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2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3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3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3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3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3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35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36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3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38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39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4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41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24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4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44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245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4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47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248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4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50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51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52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53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54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55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256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257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58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259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260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61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262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263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64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265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266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67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268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269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270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271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272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273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274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275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276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277.xml><?xml version="1.0" encoding="utf-8"?>
<p:tagLst xmlns:p="http://schemas.openxmlformats.org/presentationml/2006/main">
  <p:tag name="KSO_WM_UNIT_TYPE" val="x"/>
  <p:tag name="KSO_WM_UNIT_INDEX" val="11"/>
  <p:tag name="KSO_WM_BEAUTIFY_FLAG" val="#wm#"/>
  <p:tag name="KSO_WM_TAG_VERSION" val="3.0"/>
</p:tagLst>
</file>

<file path=ppt/tags/tag278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279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280.xml><?xml version="1.0" encoding="utf-8"?>
<p:tagLst xmlns:p="http://schemas.openxmlformats.org/presentationml/2006/main">
  <p:tag name="KSO_WM_UNIT_TYPE" val="x"/>
  <p:tag name="KSO_WM_UNIT_INDEX" val="12"/>
  <p:tag name="KSO_WM_BEAUTIFY_FLAG" val="#wm#"/>
  <p:tag name="KSO_WM_TAG_VERSION" val="3.0"/>
</p:tagLst>
</file>

<file path=ppt/tags/tag281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282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283.xml><?xml version="1.0" encoding="utf-8"?>
<p:tagLst xmlns:p="http://schemas.openxmlformats.org/presentationml/2006/main">
  <p:tag name="KSO_WM_UNIT_TYPE" val="x"/>
  <p:tag name="KSO_WM_UNIT_INDEX" val="13"/>
  <p:tag name="KSO_WM_BEAUTIFY_FLAG" val="#wm#"/>
  <p:tag name="KSO_WM_TAG_VERSION" val="3.0"/>
</p:tagLst>
</file>

<file path=ppt/tags/tag284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285.xml><?xml version="1.0" encoding="utf-8"?>
<p:tagLst xmlns:p="http://schemas.openxmlformats.org/presentationml/2006/main">
  <p:tag name="KSO_WM_SLIDE_TYPE" val="text"/>
</p:tagLst>
</file>

<file path=ppt/tags/tag286.xml><?xml version="1.0" encoding="utf-8"?>
<p:tagLst xmlns:p="http://schemas.openxmlformats.org/presentationml/2006/main">
  <p:tag name="KSO_WM_BEAUTIFY_FLAG" val="#wm#"/>
  <p:tag name="KSO_WM_UNIT_INDEX" val="1"/>
  <p:tag name="KSO_WM_UNIT_TEXT_TYPE" val="1"/>
  <p:tag name="KSO_WM_UNIT_TYPE" val="b"/>
  <p:tag name="KSO_WM_UNIT_ID" val="custom40480228_3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228"/>
  <p:tag name="KSO_WM_TEMPLATE_CATEGORY" val="custom"/>
  <p:tag name="KSO_WM_FIGMA_FLAG" val="#fgm#"/>
  <p:tag name="KSO_WM_UNIT_PRESET_TEXT" val="THE END"/>
</p:tagLst>
</file>

<file path=ppt/tags/tag287.xml><?xml version="1.0" encoding="utf-8"?>
<p:tagLst xmlns:p="http://schemas.openxmlformats.org/presentationml/2006/main">
  <p:tag name="KSO_WM_UNIT_TYPE" val="a"/>
  <p:tag name="KSO_WM_BEAUTIFY_FLAG" val="#wm#"/>
  <p:tag name="KSO_WM_UNIT_INDEX" val="1"/>
  <p:tag name="KSO_WM_UNIT_TEXT_TYPE" val="1"/>
  <p:tag name="KSO_WM_LAYOUT_CHECK_HASH" val="94573144b9e59e56c60030ed03be21980fea1812"/>
  <p:tag name="KSO_WM_NEWLAYOUT_ID" val="990"/>
  <p:tag name="KSO_WM_UNIT_ID" val="custom40480228_3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228"/>
  <p:tag name="KSO_WM_TEMPLATE_CATEGORY" val="custom"/>
  <p:tag name="KSO_WM_FIGMA_FLAG" val="#fgm#"/>
  <p:tag name="KSO_WM_UNIT_PRESET_TEXT" val="谢谢观看"/>
</p:tagLst>
</file>

<file path=ppt/tags/tag288.xml><?xml version="1.0" encoding="utf-8"?>
<p:tagLst xmlns:p="http://schemas.openxmlformats.org/presentationml/2006/main">
  <p:tag name="KSO_WM_BEAUTIFY_FLAG" val="#wm#"/>
  <p:tag name="KSO_WM_SLIDE_CONTENT_ORIENTATION" val="right"/>
  <p:tag name="KSO_WM_SLIDE_HAS_MASK" val="0"/>
  <p:tag name="KSO_WM_SLIDE_ID" val="custom40480228_3"/>
  <p:tag name="KSO_WM_SLIDE_INDEX" val="5"/>
  <p:tag name="KSO_WM_SLIDE_ITEM_CNT" val="0"/>
  <p:tag name="KSO_WM_SLIDE_LAYOUT" val="a_b"/>
  <p:tag name="KSO_WM_SLIDE_LAYOUT_CNT" val="1_1"/>
  <p:tag name="KSO_WM_SLIDE_TYPE" val="endPage"/>
  <p:tag name="KSO_WM_TAG_VERSION" val="3.0"/>
  <p:tag name="KSO_WM_TEMPLATE_CATEGORY" val="custom"/>
  <p:tag name="KSO_WM_TEMPLATE_INDEX" val="40480228"/>
  <p:tag name="KSO_WM_TEMPLATE_MASTER_TYPE" val="0"/>
  <p:tag name="KSO_WM_TEMPLATE_SLIDE_ID" val="slide_2f1bc384a532e0ce"/>
  <p:tag name="KSO_WM_TEMPLATE_SUBCATEGORY" val="29"/>
</p:tagLst>
</file>

<file path=ppt/tags/tag289.xml><?xml version="1.0" encoding="utf-8"?>
<p:tagLst xmlns:p="http://schemas.openxmlformats.org/presentationml/2006/main">
  <p:tag name="KSO_WPP_MARK_KEY" val="bd5f1795-4033-4761-92b2-4670670baa67"/>
  <p:tag name="COMMONDATA" val="eyJoZGlkIjoiYzQzNjljN2JlMWYxZmFjMjQ2ZDEzMWYyYjIzNjcyZmEifQ=="/>
  <p:tag name="RESOURCE_RECORD_KEY" val="{&quot;65&quot;:[3],&quot;71&quot;:[76235680042]}"/>
</p:tagLst>
</file>

<file path=ppt/theme/theme1.xml><?xml version="1.0" encoding="utf-8"?>
<a:theme xmlns:a="http://schemas.openxmlformats.org/drawingml/2006/main" name="简约风通用工作计划模板">
  <a:themeElements>
    <a:clrScheme name="">
      <a:dk1>
        <a:srgbClr val="000000"/>
      </a:dk1>
      <a:lt1>
        <a:srgbClr val="FFFFFF"/>
      </a:lt1>
      <a:dk2>
        <a:srgbClr val="041D4B"/>
      </a:dk2>
      <a:lt2>
        <a:srgbClr val="F6F9FF"/>
      </a:lt2>
      <a:accent1>
        <a:srgbClr val="397AF3"/>
      </a:accent1>
      <a:accent2>
        <a:srgbClr val="2690EC"/>
      </a:accent2>
      <a:accent3>
        <a:srgbClr val="13A6E5"/>
      </a:accent3>
      <a:accent4>
        <a:srgbClr val="00BDDE"/>
      </a:accent4>
      <a:accent5>
        <a:srgbClr val="24D3BA"/>
      </a:accent5>
      <a:accent6>
        <a:srgbClr val="55DD95"/>
      </a:accent6>
      <a:hlink>
        <a:srgbClr val="0563C1"/>
      </a:hlink>
      <a:folHlink>
        <a:srgbClr val="954D72"/>
      </a:folHlink>
    </a:clrScheme>
    <a:fontScheme name="自定义 22">
      <a:majorFont>
        <a:latin typeface="MiSans"/>
        <a:ea typeface="汉仪旗黑-55简"/>
        <a:cs typeface=""/>
      </a:majorFont>
      <a:minorFont>
        <a:latin typeface="MiSans"/>
        <a:ea typeface="汉仪旗黑-55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1874</Words>
  <Application>WPS Office WWO_wpscloud_20260623190606-b172d4396d</Application>
  <PresentationFormat>宽屏</PresentationFormat>
  <Paragraphs>362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汉仪旗黑KW 55S</vt:lpstr>
      <vt:lpstr>汉仪书宋二KW</vt:lpstr>
      <vt:lpstr>Kingsoft Confetti</vt:lpstr>
      <vt:lpstr>思源黑体 CN VF</vt:lpstr>
      <vt:lpstr>汉仪旗黑-55简</vt:lpstr>
      <vt:lpstr>MiSans</vt:lpstr>
      <vt:lpstr>简约风通用工作计划模板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 </cp:lastModifiedBy>
  <dcterms:created xsi:type="dcterms:W3CDTF">2026-07-02T09:21:26Z</dcterms:created>
  <dcterms:modified xsi:type="dcterms:W3CDTF">2026-07-02T09:21:26Z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2052-12.9.0.27451</vt:lpwstr>
  </property>
  <property fmtid="{D5CDD505-2E9C-101B-9397-08002B2CF9AE}" pid="3" name="ICV">
    <vt:lpwstr>F57382AA8BE4CD9E062B466AAE31A691_43</vt:lpwstr>
  </property>
  <property fmtid="{D5CDD505-2E9C-101B-9397-08002B2CF9AE}" pid="4" name="KSOTemplateUUID">
    <vt:lpwstr>v1.0_ai_69796625278</vt:lpwstr>
  </property>
</Properties>
</file>