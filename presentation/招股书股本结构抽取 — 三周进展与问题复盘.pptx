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0"/>
  </p:notesMasterIdLst>
  <p:handoutMasterIdLst>
    <p:handoutMasterId r:id="rId11"/>
  </p:handoutMasterIdLst>
  <p:sldIdLst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任意多边形 55"/>
          <p:cNvSpPr/>
          <p:nvPr userDrawn="1">
            <p:custDataLst>
              <p:tags r:id="rId5"/>
            </p:custDataLst>
          </p:nvPr>
        </p:nvSpPr>
        <p:spPr>
          <a:xfrm>
            <a:off x="808355" y="2261235"/>
            <a:ext cx="923290" cy="1787525"/>
          </a:xfrm>
          <a:custGeom>
            <a:avLst/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3881120" y="22517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6" name="文本框 5"/>
          <p:cNvSpPr txBox="1"/>
          <p:nvPr userDrawn="1">
            <p:custDataLst>
              <p:tags r:id="rId7"/>
            </p:custDataLst>
          </p:nvPr>
        </p:nvSpPr>
        <p:spPr>
          <a:xfrm flipH="1" flipV="1">
            <a:off x="4123690" y="22517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1" name="文本框 10"/>
          <p:cNvSpPr txBox="1"/>
          <p:nvPr userDrawn="1">
            <p:custDataLst>
              <p:tags r:id="rId8"/>
            </p:custDataLst>
          </p:nvPr>
        </p:nvSpPr>
        <p:spPr>
          <a:xfrm flipV="1">
            <a:off x="878205" y="43218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9"/>
            </p:custDataLst>
          </p:nvPr>
        </p:nvSpPr>
        <p:spPr>
          <a:xfrm flipV="1">
            <a:off x="640715" y="43218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任意多边形 1"/>
          <p:cNvSpPr/>
          <p:nvPr userDrawn="1">
            <p:custDataLst>
              <p:tags r:id="rId10"/>
            </p:custDataLst>
          </p:nvPr>
        </p:nvSpPr>
        <p:spPr>
          <a:xfrm flipH="1" flipV="1">
            <a:off x="3160395" y="2931160"/>
            <a:ext cx="922655" cy="1788795"/>
          </a:xfrm>
          <a:custGeom>
            <a:avLst/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404000" y="2628000"/>
            <a:ext cx="2134800" cy="921600"/>
          </a:xfrm>
        </p:spPr>
        <p:txBody>
          <a:bodyPr wrap="square" anchor="ctr">
            <a:normAutofit/>
          </a:bodyPr>
          <a:lstStyle>
            <a:lvl1pPr algn="ctr"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>
            <p:custDataLst>
              <p:tags r:id="rId2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3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5" name="文本框 14"/>
          <p:cNvSpPr txBox="1"/>
          <p:nvPr userDrawn="1">
            <p:custDataLst>
              <p:tags r:id="rId6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6" name="文本框 15"/>
          <p:cNvSpPr txBox="1"/>
          <p:nvPr userDrawn="1">
            <p:custDataLst>
              <p:tags r:id="rId7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6386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6387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9" name="标题 1"/>
          <p:cNvSpPr>
            <a:spLocks noGrp="1"/>
          </p:cNvSpPr>
          <p:nvPr>
            <p:ph type="ctrTitle" idx="16388" hasCustomPrompt="1"/>
            <p:custDataLst>
              <p:tags r:id="rId12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/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13"/>
            </p:custDataLst>
          </p:nvPr>
        </p:nvSpPr>
        <p:spPr>
          <a:xfrm>
            <a:off x="4812859" y="44196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/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4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4109085" y="424751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4330065" y="424751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7"/>
            </p:custDataLst>
          </p:nvPr>
        </p:nvSpPr>
        <p:spPr>
          <a:xfrm flipV="1">
            <a:off x="1392555" y="237045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文本框 12"/>
          <p:cNvSpPr txBox="1"/>
          <p:nvPr userDrawn="1">
            <p:custDataLst>
              <p:tags r:id="rId8"/>
            </p:custDataLst>
          </p:nvPr>
        </p:nvSpPr>
        <p:spPr>
          <a:xfrm flipV="1">
            <a:off x="1176655" y="237045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9"/>
            </p:custDataLst>
          </p:nvPr>
        </p:nvSpPr>
        <p:spPr>
          <a:xfrm flipH="1" flipV="1">
            <a:off x="0" y="1924050"/>
            <a:ext cx="4290514" cy="1822450"/>
          </a:xfrm>
          <a:custGeom>
            <a:avLst/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/>
          </a:p>
        </p:txBody>
      </p:sp>
      <p:sp>
        <p:nvSpPr>
          <p:cNvPr id="19" name="任意多边形: 形状 18"/>
          <p:cNvSpPr/>
          <p:nvPr userDrawn="1">
            <p:custDataLst>
              <p:tags r:id="rId10"/>
            </p:custDataLst>
          </p:nvPr>
        </p:nvSpPr>
        <p:spPr>
          <a:xfrm>
            <a:off x="1336676" y="3125470"/>
            <a:ext cx="10855325" cy="1822450"/>
          </a:xfrm>
          <a:custGeom>
            <a:avLst/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 idx="16388" hasCustomPrompt="1"/>
            <p:custDataLst>
              <p:tags r:id="rId11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alpha val="8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4" name="节编号 3"/>
          <p:cNvSpPr>
            <a:spLocks noGrp="1"/>
          </p:cNvSpPr>
          <p:nvPr>
            <p:ph type="body" sz="quarter" idx="16389" hasCustomPrompt="1"/>
            <p:custDataLst>
              <p:tags r:id="rId12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 userDrawn="1">
            <p:custDataLst>
              <p:tags r:id="rId2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3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3" name="文本框 22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6" name="文本框 25"/>
          <p:cNvSpPr txBox="1"/>
          <p:nvPr userDrawn="1">
            <p:custDataLst>
              <p:tags r:id="rId6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7" name="文本框 26"/>
          <p:cNvSpPr txBox="1"/>
          <p:nvPr userDrawn="1">
            <p:custDataLst>
              <p:tags r:id="rId7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6386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6387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副标题 2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364971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1" spc="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ph type="ctrTitle" idx="16388" hasCustomPrompt="1"/>
            <p:custDataLst>
              <p:tags r:id="rId12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18"/>
            </p:custDataLst>
          </p:nvPr>
        </p:nvSpPr>
        <p:spPr>
          <a:xfrm flipH="1" flipV="1">
            <a:off x="10631170" y="6090285"/>
            <a:ext cx="151765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19"/>
            </p:custDataLst>
          </p:nvPr>
        </p:nvSpPr>
        <p:spPr>
          <a:xfrm flipH="1" flipV="1">
            <a:off x="10864215" y="6090285"/>
            <a:ext cx="147320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20"/>
            </p:custDataLst>
          </p:nvPr>
        </p:nvSpPr>
        <p:spPr>
          <a:xfrm flipH="1">
            <a:off x="10270490" y="5726430"/>
            <a:ext cx="1921510" cy="742950"/>
          </a:xfrm>
          <a:custGeom>
            <a:avLst/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 5"/>
          <p:cNvSpPr/>
          <p:nvPr userDrawn="1">
            <p:custDataLst>
              <p:tags r:id="rId21"/>
            </p:custDataLst>
          </p:nvPr>
        </p:nvSpPr>
        <p:spPr>
          <a:xfrm flipV="1">
            <a:off x="914400" y="6041390"/>
            <a:ext cx="10406380" cy="749935"/>
          </a:xfrm>
          <a:custGeom>
            <a:avLst/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2" Type="http://schemas.openxmlformats.org/officeDocument/2006/relationships/slideLayout" Target="../slideLayouts/slideLayout16.xml"/><Relationship Id="rId61" Type="http://schemas.openxmlformats.org/officeDocument/2006/relationships/tags" Target="../tags/tag162.xml"/><Relationship Id="rId60" Type="http://schemas.openxmlformats.org/officeDocument/2006/relationships/image" Target="../media/image10.svg"/><Relationship Id="rId6" Type="http://schemas.openxmlformats.org/officeDocument/2006/relationships/tags" Target="../tags/tag117.xml"/><Relationship Id="rId59" Type="http://schemas.openxmlformats.org/officeDocument/2006/relationships/image" Target="../media/image9.png"/><Relationship Id="rId58" Type="http://schemas.openxmlformats.org/officeDocument/2006/relationships/tags" Target="../tags/tag161.xml"/><Relationship Id="rId57" Type="http://schemas.openxmlformats.org/officeDocument/2006/relationships/tags" Target="../tags/tag160.xml"/><Relationship Id="rId56" Type="http://schemas.openxmlformats.org/officeDocument/2006/relationships/tags" Target="../tags/tag159.xml"/><Relationship Id="rId55" Type="http://schemas.openxmlformats.org/officeDocument/2006/relationships/tags" Target="../tags/tag158.xml"/><Relationship Id="rId54" Type="http://schemas.openxmlformats.org/officeDocument/2006/relationships/image" Target="../media/image8.svg"/><Relationship Id="rId53" Type="http://schemas.openxmlformats.org/officeDocument/2006/relationships/image" Target="../media/image7.png"/><Relationship Id="rId52" Type="http://schemas.openxmlformats.org/officeDocument/2006/relationships/tags" Target="../tags/tag157.xml"/><Relationship Id="rId51" Type="http://schemas.openxmlformats.org/officeDocument/2006/relationships/tags" Target="../tags/tag156.xml"/><Relationship Id="rId50" Type="http://schemas.openxmlformats.org/officeDocument/2006/relationships/tags" Target="../tags/tag155.xml"/><Relationship Id="rId5" Type="http://schemas.openxmlformats.org/officeDocument/2006/relationships/tags" Target="../tags/tag116.xml"/><Relationship Id="rId49" Type="http://schemas.openxmlformats.org/officeDocument/2006/relationships/tags" Target="../tags/tag154.xml"/><Relationship Id="rId48" Type="http://schemas.openxmlformats.org/officeDocument/2006/relationships/tags" Target="../tags/tag153.xml"/><Relationship Id="rId47" Type="http://schemas.openxmlformats.org/officeDocument/2006/relationships/image" Target="../media/image6.svg"/><Relationship Id="rId46" Type="http://schemas.openxmlformats.org/officeDocument/2006/relationships/image" Target="../media/image5.png"/><Relationship Id="rId45" Type="http://schemas.openxmlformats.org/officeDocument/2006/relationships/tags" Target="../tags/tag152.xml"/><Relationship Id="rId44" Type="http://schemas.openxmlformats.org/officeDocument/2006/relationships/tags" Target="../tags/tag151.xml"/><Relationship Id="rId43" Type="http://schemas.openxmlformats.org/officeDocument/2006/relationships/tags" Target="../tags/tag150.xml"/><Relationship Id="rId42" Type="http://schemas.openxmlformats.org/officeDocument/2006/relationships/tags" Target="../tags/tag149.xml"/><Relationship Id="rId41" Type="http://schemas.openxmlformats.org/officeDocument/2006/relationships/tags" Target="../tags/tag148.xml"/><Relationship Id="rId40" Type="http://schemas.openxmlformats.org/officeDocument/2006/relationships/image" Target="../media/image4.svg"/><Relationship Id="rId4" Type="http://schemas.openxmlformats.org/officeDocument/2006/relationships/tags" Target="../tags/tag115.xml"/><Relationship Id="rId39" Type="http://schemas.openxmlformats.org/officeDocument/2006/relationships/image" Target="../media/image3.png"/><Relationship Id="rId38" Type="http://schemas.openxmlformats.org/officeDocument/2006/relationships/tags" Target="../tags/tag147.xml"/><Relationship Id="rId37" Type="http://schemas.openxmlformats.org/officeDocument/2006/relationships/tags" Target="../tags/tag146.xml"/><Relationship Id="rId36" Type="http://schemas.openxmlformats.org/officeDocument/2006/relationships/tags" Target="../tags/tag145.xml"/><Relationship Id="rId35" Type="http://schemas.openxmlformats.org/officeDocument/2006/relationships/tags" Target="../tags/tag144.xml"/><Relationship Id="rId34" Type="http://schemas.openxmlformats.org/officeDocument/2006/relationships/tags" Target="../tags/tag143.xml"/><Relationship Id="rId33" Type="http://schemas.openxmlformats.org/officeDocument/2006/relationships/image" Target="../media/image2.svg"/><Relationship Id="rId32" Type="http://schemas.openxmlformats.org/officeDocument/2006/relationships/image" Target="../media/image1.png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7" Type="http://schemas.openxmlformats.org/officeDocument/2006/relationships/slideLayout" Target="../slideLayouts/slideLayout16.xml"/><Relationship Id="rId76" Type="http://schemas.openxmlformats.org/officeDocument/2006/relationships/tags" Target="../tags/tag214.xml"/><Relationship Id="rId75" Type="http://schemas.openxmlformats.org/officeDocument/2006/relationships/image" Target="../media/image34.svg"/><Relationship Id="rId74" Type="http://schemas.openxmlformats.org/officeDocument/2006/relationships/image" Target="../media/image33.png"/><Relationship Id="rId73" Type="http://schemas.openxmlformats.org/officeDocument/2006/relationships/tags" Target="../tags/tag213.xml"/><Relationship Id="rId72" Type="http://schemas.openxmlformats.org/officeDocument/2006/relationships/tags" Target="../tags/tag212.xml"/><Relationship Id="rId71" Type="http://schemas.openxmlformats.org/officeDocument/2006/relationships/tags" Target="../tags/tag211.xml"/><Relationship Id="rId70" Type="http://schemas.openxmlformats.org/officeDocument/2006/relationships/image" Target="../media/image32.svg"/><Relationship Id="rId7" Type="http://schemas.openxmlformats.org/officeDocument/2006/relationships/tags" Target="../tags/tag169.xml"/><Relationship Id="rId69" Type="http://schemas.openxmlformats.org/officeDocument/2006/relationships/image" Target="../media/image31.png"/><Relationship Id="rId68" Type="http://schemas.openxmlformats.org/officeDocument/2006/relationships/tags" Target="../tags/tag210.xml"/><Relationship Id="rId67" Type="http://schemas.openxmlformats.org/officeDocument/2006/relationships/tags" Target="../tags/tag209.xml"/><Relationship Id="rId66" Type="http://schemas.openxmlformats.org/officeDocument/2006/relationships/tags" Target="../tags/tag208.xml"/><Relationship Id="rId65" Type="http://schemas.openxmlformats.org/officeDocument/2006/relationships/image" Target="../media/image30.svg"/><Relationship Id="rId64" Type="http://schemas.openxmlformats.org/officeDocument/2006/relationships/image" Target="../media/image29.png"/><Relationship Id="rId63" Type="http://schemas.openxmlformats.org/officeDocument/2006/relationships/tags" Target="../tags/tag207.xml"/><Relationship Id="rId62" Type="http://schemas.openxmlformats.org/officeDocument/2006/relationships/tags" Target="../tags/tag206.xml"/><Relationship Id="rId61" Type="http://schemas.openxmlformats.org/officeDocument/2006/relationships/tags" Target="../tags/tag205.xml"/><Relationship Id="rId60" Type="http://schemas.openxmlformats.org/officeDocument/2006/relationships/tags" Target="../tags/tag204.xml"/><Relationship Id="rId6" Type="http://schemas.openxmlformats.org/officeDocument/2006/relationships/tags" Target="../tags/tag168.xml"/><Relationship Id="rId59" Type="http://schemas.openxmlformats.org/officeDocument/2006/relationships/tags" Target="../tags/tag203.xml"/><Relationship Id="rId58" Type="http://schemas.openxmlformats.org/officeDocument/2006/relationships/tags" Target="../tags/tag202.xml"/><Relationship Id="rId57" Type="http://schemas.openxmlformats.org/officeDocument/2006/relationships/tags" Target="../tags/tag201.xml"/><Relationship Id="rId56" Type="http://schemas.openxmlformats.org/officeDocument/2006/relationships/tags" Target="../tags/tag200.xml"/><Relationship Id="rId55" Type="http://schemas.openxmlformats.org/officeDocument/2006/relationships/image" Target="../media/image28.svg"/><Relationship Id="rId54" Type="http://schemas.openxmlformats.org/officeDocument/2006/relationships/image" Target="../media/image27.png"/><Relationship Id="rId53" Type="http://schemas.openxmlformats.org/officeDocument/2006/relationships/tags" Target="../tags/tag199.xml"/><Relationship Id="rId52" Type="http://schemas.openxmlformats.org/officeDocument/2006/relationships/tags" Target="../tags/tag198.xml"/><Relationship Id="rId51" Type="http://schemas.openxmlformats.org/officeDocument/2006/relationships/tags" Target="../tags/tag197.xml"/><Relationship Id="rId50" Type="http://schemas.openxmlformats.org/officeDocument/2006/relationships/image" Target="../media/image26.svg"/><Relationship Id="rId5" Type="http://schemas.openxmlformats.org/officeDocument/2006/relationships/tags" Target="../tags/tag167.xml"/><Relationship Id="rId49" Type="http://schemas.openxmlformats.org/officeDocument/2006/relationships/image" Target="../media/image25.png"/><Relationship Id="rId48" Type="http://schemas.openxmlformats.org/officeDocument/2006/relationships/tags" Target="../tags/tag196.xml"/><Relationship Id="rId47" Type="http://schemas.openxmlformats.org/officeDocument/2006/relationships/tags" Target="../tags/tag195.xml"/><Relationship Id="rId46" Type="http://schemas.openxmlformats.org/officeDocument/2006/relationships/tags" Target="../tags/tag194.xml"/><Relationship Id="rId45" Type="http://schemas.openxmlformats.org/officeDocument/2006/relationships/image" Target="../media/image24.svg"/><Relationship Id="rId44" Type="http://schemas.openxmlformats.org/officeDocument/2006/relationships/image" Target="../media/image23.png"/><Relationship Id="rId43" Type="http://schemas.openxmlformats.org/officeDocument/2006/relationships/tags" Target="../tags/tag193.xml"/><Relationship Id="rId42" Type="http://schemas.openxmlformats.org/officeDocument/2006/relationships/tags" Target="../tags/tag192.xml"/><Relationship Id="rId41" Type="http://schemas.openxmlformats.org/officeDocument/2006/relationships/tags" Target="../tags/tag191.xml"/><Relationship Id="rId40" Type="http://schemas.openxmlformats.org/officeDocument/2006/relationships/image" Target="../media/image22.svg"/><Relationship Id="rId4" Type="http://schemas.openxmlformats.org/officeDocument/2006/relationships/tags" Target="../tags/tag166.xml"/><Relationship Id="rId39" Type="http://schemas.openxmlformats.org/officeDocument/2006/relationships/image" Target="../media/image21.png"/><Relationship Id="rId38" Type="http://schemas.openxmlformats.org/officeDocument/2006/relationships/tags" Target="../tags/tag190.xml"/><Relationship Id="rId37" Type="http://schemas.openxmlformats.org/officeDocument/2006/relationships/tags" Target="../tags/tag189.xml"/><Relationship Id="rId36" Type="http://schemas.openxmlformats.org/officeDocument/2006/relationships/tags" Target="../tags/tag188.xml"/><Relationship Id="rId35" Type="http://schemas.openxmlformats.org/officeDocument/2006/relationships/tags" Target="../tags/tag187.xml"/><Relationship Id="rId34" Type="http://schemas.openxmlformats.org/officeDocument/2006/relationships/tags" Target="../tags/tag186.xml"/><Relationship Id="rId33" Type="http://schemas.openxmlformats.org/officeDocument/2006/relationships/tags" Target="../tags/tag185.xml"/><Relationship Id="rId32" Type="http://schemas.openxmlformats.org/officeDocument/2006/relationships/tags" Target="../tags/tag184.xml"/><Relationship Id="rId31" Type="http://schemas.openxmlformats.org/officeDocument/2006/relationships/tags" Target="../tags/tag183.xml"/><Relationship Id="rId30" Type="http://schemas.openxmlformats.org/officeDocument/2006/relationships/tags" Target="../tags/tag182.xml"/><Relationship Id="rId3" Type="http://schemas.openxmlformats.org/officeDocument/2006/relationships/tags" Target="../tags/tag165.xml"/><Relationship Id="rId29" Type="http://schemas.openxmlformats.org/officeDocument/2006/relationships/image" Target="../media/image20.svg"/><Relationship Id="rId28" Type="http://schemas.openxmlformats.org/officeDocument/2006/relationships/image" Target="../media/image19.png"/><Relationship Id="rId27" Type="http://schemas.openxmlformats.org/officeDocument/2006/relationships/tags" Target="../tags/tag181.xml"/><Relationship Id="rId26" Type="http://schemas.openxmlformats.org/officeDocument/2006/relationships/tags" Target="../tags/tag180.xml"/><Relationship Id="rId25" Type="http://schemas.openxmlformats.org/officeDocument/2006/relationships/tags" Target="../tags/tag179.xml"/><Relationship Id="rId24" Type="http://schemas.openxmlformats.org/officeDocument/2006/relationships/image" Target="../media/image18.svg"/><Relationship Id="rId23" Type="http://schemas.openxmlformats.org/officeDocument/2006/relationships/image" Target="../media/image17.png"/><Relationship Id="rId22" Type="http://schemas.openxmlformats.org/officeDocument/2006/relationships/tags" Target="../tags/tag178.xml"/><Relationship Id="rId21" Type="http://schemas.openxmlformats.org/officeDocument/2006/relationships/tags" Target="../tags/tag177.xml"/><Relationship Id="rId20" Type="http://schemas.openxmlformats.org/officeDocument/2006/relationships/tags" Target="../tags/tag176.xml"/><Relationship Id="rId2" Type="http://schemas.openxmlformats.org/officeDocument/2006/relationships/tags" Target="../tags/tag164.xml"/><Relationship Id="rId19" Type="http://schemas.openxmlformats.org/officeDocument/2006/relationships/image" Target="../media/image16.svg"/><Relationship Id="rId18" Type="http://schemas.openxmlformats.org/officeDocument/2006/relationships/image" Target="../media/image15.png"/><Relationship Id="rId17" Type="http://schemas.openxmlformats.org/officeDocument/2006/relationships/tags" Target="../tags/tag175.xml"/><Relationship Id="rId16" Type="http://schemas.openxmlformats.org/officeDocument/2006/relationships/tags" Target="../tags/tag174.xml"/><Relationship Id="rId15" Type="http://schemas.openxmlformats.org/officeDocument/2006/relationships/tags" Target="../tags/tag173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tags" Target="../tags/tag163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tags" Target="../tags/tag285.xml"/><Relationship Id="rId98" Type="http://schemas.openxmlformats.org/officeDocument/2006/relationships/image" Target="../media/image60.svg"/><Relationship Id="rId97" Type="http://schemas.openxmlformats.org/officeDocument/2006/relationships/image" Target="../media/image59.png"/><Relationship Id="rId96" Type="http://schemas.openxmlformats.org/officeDocument/2006/relationships/tags" Target="../tags/tag284.xml"/><Relationship Id="rId95" Type="http://schemas.openxmlformats.org/officeDocument/2006/relationships/tags" Target="../tags/tag283.xml"/><Relationship Id="rId94" Type="http://schemas.openxmlformats.org/officeDocument/2006/relationships/tags" Target="../tags/tag282.xml"/><Relationship Id="rId93" Type="http://schemas.openxmlformats.org/officeDocument/2006/relationships/tags" Target="../tags/tag281.xml"/><Relationship Id="rId92" Type="http://schemas.openxmlformats.org/officeDocument/2006/relationships/image" Target="../media/image58.svg"/><Relationship Id="rId91" Type="http://schemas.openxmlformats.org/officeDocument/2006/relationships/image" Target="../media/image57.png"/><Relationship Id="rId90" Type="http://schemas.openxmlformats.org/officeDocument/2006/relationships/tags" Target="../tags/tag280.xml"/><Relationship Id="rId9" Type="http://schemas.openxmlformats.org/officeDocument/2006/relationships/tags" Target="../tags/tag223.xml"/><Relationship Id="rId89" Type="http://schemas.openxmlformats.org/officeDocument/2006/relationships/tags" Target="../tags/tag279.xml"/><Relationship Id="rId88" Type="http://schemas.openxmlformats.org/officeDocument/2006/relationships/tags" Target="../tags/tag278.xml"/><Relationship Id="rId87" Type="http://schemas.openxmlformats.org/officeDocument/2006/relationships/tags" Target="../tags/tag277.xml"/><Relationship Id="rId86" Type="http://schemas.openxmlformats.org/officeDocument/2006/relationships/image" Target="../media/image56.svg"/><Relationship Id="rId85" Type="http://schemas.openxmlformats.org/officeDocument/2006/relationships/image" Target="../media/image55.png"/><Relationship Id="rId84" Type="http://schemas.openxmlformats.org/officeDocument/2006/relationships/tags" Target="../tags/tag276.xml"/><Relationship Id="rId83" Type="http://schemas.openxmlformats.org/officeDocument/2006/relationships/tags" Target="../tags/tag275.xml"/><Relationship Id="rId82" Type="http://schemas.openxmlformats.org/officeDocument/2006/relationships/tags" Target="../tags/tag274.xml"/><Relationship Id="rId81" Type="http://schemas.openxmlformats.org/officeDocument/2006/relationships/tags" Target="../tags/tag273.xml"/><Relationship Id="rId80" Type="http://schemas.openxmlformats.org/officeDocument/2006/relationships/image" Target="../media/image54.svg"/><Relationship Id="rId8" Type="http://schemas.openxmlformats.org/officeDocument/2006/relationships/tags" Target="../tags/tag222.xml"/><Relationship Id="rId79" Type="http://schemas.openxmlformats.org/officeDocument/2006/relationships/image" Target="../media/image53.png"/><Relationship Id="rId78" Type="http://schemas.openxmlformats.org/officeDocument/2006/relationships/tags" Target="../tags/tag272.xml"/><Relationship Id="rId77" Type="http://schemas.openxmlformats.org/officeDocument/2006/relationships/tags" Target="../tags/tag271.xml"/><Relationship Id="rId76" Type="http://schemas.openxmlformats.org/officeDocument/2006/relationships/tags" Target="../tags/tag270.xml"/><Relationship Id="rId75" Type="http://schemas.openxmlformats.org/officeDocument/2006/relationships/tags" Target="../tags/tag269.xml"/><Relationship Id="rId74" Type="http://schemas.openxmlformats.org/officeDocument/2006/relationships/tags" Target="../tags/tag268.xml"/><Relationship Id="rId73" Type="http://schemas.openxmlformats.org/officeDocument/2006/relationships/image" Target="../media/image52.svg"/><Relationship Id="rId72" Type="http://schemas.openxmlformats.org/officeDocument/2006/relationships/image" Target="../media/image51.png"/><Relationship Id="rId71" Type="http://schemas.openxmlformats.org/officeDocument/2006/relationships/tags" Target="../tags/tag267.xml"/><Relationship Id="rId70" Type="http://schemas.openxmlformats.org/officeDocument/2006/relationships/tags" Target="../tags/tag266.xml"/><Relationship Id="rId7" Type="http://schemas.openxmlformats.org/officeDocument/2006/relationships/tags" Target="../tags/tag221.xml"/><Relationship Id="rId69" Type="http://schemas.openxmlformats.org/officeDocument/2006/relationships/tags" Target="../tags/tag265.xml"/><Relationship Id="rId68" Type="http://schemas.openxmlformats.org/officeDocument/2006/relationships/tags" Target="../tags/tag264.xml"/><Relationship Id="rId67" Type="http://schemas.openxmlformats.org/officeDocument/2006/relationships/image" Target="../media/image50.svg"/><Relationship Id="rId66" Type="http://schemas.openxmlformats.org/officeDocument/2006/relationships/image" Target="../media/image49.png"/><Relationship Id="rId65" Type="http://schemas.openxmlformats.org/officeDocument/2006/relationships/tags" Target="../tags/tag263.xml"/><Relationship Id="rId64" Type="http://schemas.openxmlformats.org/officeDocument/2006/relationships/tags" Target="../tags/tag262.xml"/><Relationship Id="rId63" Type="http://schemas.openxmlformats.org/officeDocument/2006/relationships/tags" Target="../tags/tag261.xml"/><Relationship Id="rId62" Type="http://schemas.openxmlformats.org/officeDocument/2006/relationships/tags" Target="../tags/tag260.xml"/><Relationship Id="rId61" Type="http://schemas.openxmlformats.org/officeDocument/2006/relationships/image" Target="../media/image48.svg"/><Relationship Id="rId60" Type="http://schemas.openxmlformats.org/officeDocument/2006/relationships/image" Target="../media/image47.png"/><Relationship Id="rId6" Type="http://schemas.openxmlformats.org/officeDocument/2006/relationships/tags" Target="../tags/tag220.xml"/><Relationship Id="rId59" Type="http://schemas.openxmlformats.org/officeDocument/2006/relationships/tags" Target="../tags/tag259.xml"/><Relationship Id="rId58" Type="http://schemas.openxmlformats.org/officeDocument/2006/relationships/tags" Target="../tags/tag258.xml"/><Relationship Id="rId57" Type="http://schemas.openxmlformats.org/officeDocument/2006/relationships/tags" Target="../tags/tag257.xml"/><Relationship Id="rId56" Type="http://schemas.openxmlformats.org/officeDocument/2006/relationships/tags" Target="../tags/tag256.xml"/><Relationship Id="rId55" Type="http://schemas.openxmlformats.org/officeDocument/2006/relationships/tags" Target="../tags/tag255.xml"/><Relationship Id="rId54" Type="http://schemas.openxmlformats.org/officeDocument/2006/relationships/image" Target="../media/image12.svg"/><Relationship Id="rId53" Type="http://schemas.openxmlformats.org/officeDocument/2006/relationships/image" Target="../media/image46.png"/><Relationship Id="rId52" Type="http://schemas.openxmlformats.org/officeDocument/2006/relationships/tags" Target="../tags/tag254.xml"/><Relationship Id="rId51" Type="http://schemas.openxmlformats.org/officeDocument/2006/relationships/tags" Target="../tags/tag253.xml"/><Relationship Id="rId50" Type="http://schemas.openxmlformats.org/officeDocument/2006/relationships/tags" Target="../tags/tag252.xml"/><Relationship Id="rId5" Type="http://schemas.openxmlformats.org/officeDocument/2006/relationships/tags" Target="../tags/tag219.xml"/><Relationship Id="rId49" Type="http://schemas.openxmlformats.org/officeDocument/2006/relationships/tags" Target="../tags/tag251.xml"/><Relationship Id="rId48" Type="http://schemas.openxmlformats.org/officeDocument/2006/relationships/image" Target="../media/image45.svg"/><Relationship Id="rId47" Type="http://schemas.openxmlformats.org/officeDocument/2006/relationships/image" Target="../media/image44.png"/><Relationship Id="rId46" Type="http://schemas.openxmlformats.org/officeDocument/2006/relationships/tags" Target="../tags/tag250.xml"/><Relationship Id="rId45" Type="http://schemas.openxmlformats.org/officeDocument/2006/relationships/tags" Target="../tags/tag249.xml"/><Relationship Id="rId44" Type="http://schemas.openxmlformats.org/officeDocument/2006/relationships/tags" Target="../tags/tag248.xml"/><Relationship Id="rId43" Type="http://schemas.openxmlformats.org/officeDocument/2006/relationships/tags" Target="../tags/tag247.xml"/><Relationship Id="rId42" Type="http://schemas.openxmlformats.org/officeDocument/2006/relationships/image" Target="../media/image43.svg"/><Relationship Id="rId41" Type="http://schemas.openxmlformats.org/officeDocument/2006/relationships/image" Target="../media/image42.png"/><Relationship Id="rId40" Type="http://schemas.openxmlformats.org/officeDocument/2006/relationships/tags" Target="../tags/tag246.xml"/><Relationship Id="rId4" Type="http://schemas.openxmlformats.org/officeDocument/2006/relationships/tags" Target="../tags/tag218.xml"/><Relationship Id="rId39" Type="http://schemas.openxmlformats.org/officeDocument/2006/relationships/tags" Target="../tags/tag245.xml"/><Relationship Id="rId38" Type="http://schemas.openxmlformats.org/officeDocument/2006/relationships/tags" Target="../tags/tag244.xml"/><Relationship Id="rId37" Type="http://schemas.openxmlformats.org/officeDocument/2006/relationships/tags" Target="../tags/tag243.xml"/><Relationship Id="rId36" Type="http://schemas.openxmlformats.org/officeDocument/2006/relationships/image" Target="../media/image41.svg"/><Relationship Id="rId35" Type="http://schemas.openxmlformats.org/officeDocument/2006/relationships/image" Target="../media/image40.png"/><Relationship Id="rId34" Type="http://schemas.openxmlformats.org/officeDocument/2006/relationships/tags" Target="../tags/tag242.xml"/><Relationship Id="rId33" Type="http://schemas.openxmlformats.org/officeDocument/2006/relationships/tags" Target="../tags/tag241.xml"/><Relationship Id="rId32" Type="http://schemas.openxmlformats.org/officeDocument/2006/relationships/tags" Target="../tags/tag240.xml"/><Relationship Id="rId31" Type="http://schemas.openxmlformats.org/officeDocument/2006/relationships/tags" Target="../tags/tag239.xml"/><Relationship Id="rId30" Type="http://schemas.openxmlformats.org/officeDocument/2006/relationships/tags" Target="../tags/tag238.xml"/><Relationship Id="rId3" Type="http://schemas.openxmlformats.org/officeDocument/2006/relationships/tags" Target="../tags/tag217.xml"/><Relationship Id="rId29" Type="http://schemas.openxmlformats.org/officeDocument/2006/relationships/image" Target="../media/image39.svg"/><Relationship Id="rId28" Type="http://schemas.openxmlformats.org/officeDocument/2006/relationships/image" Target="../media/image38.png"/><Relationship Id="rId27" Type="http://schemas.openxmlformats.org/officeDocument/2006/relationships/tags" Target="../tags/tag237.xml"/><Relationship Id="rId26" Type="http://schemas.openxmlformats.org/officeDocument/2006/relationships/tags" Target="../tags/tag236.xml"/><Relationship Id="rId25" Type="http://schemas.openxmlformats.org/officeDocument/2006/relationships/tags" Target="../tags/tag235.xml"/><Relationship Id="rId24" Type="http://schemas.openxmlformats.org/officeDocument/2006/relationships/tags" Target="../tags/tag234.xml"/><Relationship Id="rId23" Type="http://schemas.openxmlformats.org/officeDocument/2006/relationships/image" Target="../media/image8.svg"/><Relationship Id="rId22" Type="http://schemas.openxmlformats.org/officeDocument/2006/relationships/image" Target="../media/image37.png"/><Relationship Id="rId21" Type="http://schemas.openxmlformats.org/officeDocument/2006/relationships/tags" Target="../tags/tag233.xml"/><Relationship Id="rId20" Type="http://schemas.openxmlformats.org/officeDocument/2006/relationships/tags" Target="../tags/tag232.xml"/><Relationship Id="rId2" Type="http://schemas.openxmlformats.org/officeDocument/2006/relationships/tags" Target="../tags/tag216.xml"/><Relationship Id="rId19" Type="http://schemas.openxmlformats.org/officeDocument/2006/relationships/tags" Target="../tags/tag231.xml"/><Relationship Id="rId18" Type="http://schemas.openxmlformats.org/officeDocument/2006/relationships/tags" Target="../tags/tag230.xml"/><Relationship Id="rId17" Type="http://schemas.openxmlformats.org/officeDocument/2006/relationships/image" Target="../media/image36.svg"/><Relationship Id="rId16" Type="http://schemas.openxmlformats.org/officeDocument/2006/relationships/image" Target="../media/image35.png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1" Type="http://schemas.openxmlformats.org/officeDocument/2006/relationships/slideLayout" Target="../slideLayouts/slideLayout16.xml"/><Relationship Id="rId100" Type="http://schemas.openxmlformats.org/officeDocument/2006/relationships/tags" Target="../tags/tag286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image" Target="../media/image62.svg"/><Relationship Id="rId51" Type="http://schemas.openxmlformats.org/officeDocument/2006/relationships/slideLayout" Target="../slideLayouts/slideLayout16.xml"/><Relationship Id="rId50" Type="http://schemas.openxmlformats.org/officeDocument/2006/relationships/tags" Target="../tags/tag322.xml"/><Relationship Id="rId5" Type="http://schemas.openxmlformats.org/officeDocument/2006/relationships/image" Target="../media/image61.png"/><Relationship Id="rId49" Type="http://schemas.openxmlformats.org/officeDocument/2006/relationships/tags" Target="../tags/tag321.xml"/><Relationship Id="rId48" Type="http://schemas.openxmlformats.org/officeDocument/2006/relationships/image" Target="../media/image74.svg"/><Relationship Id="rId47" Type="http://schemas.openxmlformats.org/officeDocument/2006/relationships/image" Target="../media/image73.png"/><Relationship Id="rId46" Type="http://schemas.openxmlformats.org/officeDocument/2006/relationships/tags" Target="../tags/tag320.xml"/><Relationship Id="rId45" Type="http://schemas.openxmlformats.org/officeDocument/2006/relationships/tags" Target="../tags/tag319.xml"/><Relationship Id="rId44" Type="http://schemas.openxmlformats.org/officeDocument/2006/relationships/tags" Target="../tags/tag318.xml"/><Relationship Id="rId43" Type="http://schemas.openxmlformats.org/officeDocument/2006/relationships/tags" Target="../tags/tag317.xml"/><Relationship Id="rId42" Type="http://schemas.openxmlformats.org/officeDocument/2006/relationships/tags" Target="../tags/tag316.xml"/><Relationship Id="rId41" Type="http://schemas.openxmlformats.org/officeDocument/2006/relationships/image" Target="../media/image72.svg"/><Relationship Id="rId40" Type="http://schemas.openxmlformats.org/officeDocument/2006/relationships/image" Target="../media/image71.png"/><Relationship Id="rId4" Type="http://schemas.openxmlformats.org/officeDocument/2006/relationships/tags" Target="../tags/tag290.xml"/><Relationship Id="rId39" Type="http://schemas.openxmlformats.org/officeDocument/2006/relationships/tags" Target="../tags/tag315.xml"/><Relationship Id="rId38" Type="http://schemas.openxmlformats.org/officeDocument/2006/relationships/tags" Target="../tags/tag314.xml"/><Relationship Id="rId37" Type="http://schemas.openxmlformats.org/officeDocument/2006/relationships/tags" Target="../tags/tag313.xml"/><Relationship Id="rId36" Type="http://schemas.openxmlformats.org/officeDocument/2006/relationships/tags" Target="../tags/tag312.xml"/><Relationship Id="rId35" Type="http://schemas.openxmlformats.org/officeDocument/2006/relationships/tags" Target="../tags/tag311.xml"/><Relationship Id="rId34" Type="http://schemas.openxmlformats.org/officeDocument/2006/relationships/image" Target="../media/image70.svg"/><Relationship Id="rId33" Type="http://schemas.openxmlformats.org/officeDocument/2006/relationships/image" Target="../media/image69.png"/><Relationship Id="rId32" Type="http://schemas.openxmlformats.org/officeDocument/2006/relationships/tags" Target="../tags/tag310.xml"/><Relationship Id="rId31" Type="http://schemas.openxmlformats.org/officeDocument/2006/relationships/tags" Target="../tags/tag309.xml"/><Relationship Id="rId30" Type="http://schemas.openxmlformats.org/officeDocument/2006/relationships/tags" Target="../tags/tag308.xml"/><Relationship Id="rId3" Type="http://schemas.openxmlformats.org/officeDocument/2006/relationships/tags" Target="../tags/tag289.xml"/><Relationship Id="rId29" Type="http://schemas.openxmlformats.org/officeDocument/2006/relationships/tags" Target="../tags/tag307.xml"/><Relationship Id="rId28" Type="http://schemas.openxmlformats.org/officeDocument/2006/relationships/tags" Target="../tags/tag306.xml"/><Relationship Id="rId27" Type="http://schemas.openxmlformats.org/officeDocument/2006/relationships/image" Target="../media/image68.svg"/><Relationship Id="rId26" Type="http://schemas.openxmlformats.org/officeDocument/2006/relationships/image" Target="../media/image67.png"/><Relationship Id="rId25" Type="http://schemas.openxmlformats.org/officeDocument/2006/relationships/tags" Target="../tags/tag305.xml"/><Relationship Id="rId24" Type="http://schemas.openxmlformats.org/officeDocument/2006/relationships/tags" Target="../tags/tag304.xml"/><Relationship Id="rId23" Type="http://schemas.openxmlformats.org/officeDocument/2006/relationships/tags" Target="../tags/tag303.xml"/><Relationship Id="rId22" Type="http://schemas.openxmlformats.org/officeDocument/2006/relationships/tags" Target="../tags/tag302.xml"/><Relationship Id="rId21" Type="http://schemas.openxmlformats.org/officeDocument/2006/relationships/tags" Target="../tags/tag301.xml"/><Relationship Id="rId20" Type="http://schemas.openxmlformats.org/officeDocument/2006/relationships/image" Target="../media/image66.svg"/><Relationship Id="rId2" Type="http://schemas.openxmlformats.org/officeDocument/2006/relationships/tags" Target="../tags/tag288.xml"/><Relationship Id="rId19" Type="http://schemas.openxmlformats.org/officeDocument/2006/relationships/image" Target="../media/image65.png"/><Relationship Id="rId18" Type="http://schemas.openxmlformats.org/officeDocument/2006/relationships/tags" Target="../tags/tag300.xml"/><Relationship Id="rId17" Type="http://schemas.openxmlformats.org/officeDocument/2006/relationships/tags" Target="../tags/tag299.xml"/><Relationship Id="rId16" Type="http://schemas.openxmlformats.org/officeDocument/2006/relationships/tags" Target="../tags/tag298.xml"/><Relationship Id="rId15" Type="http://schemas.openxmlformats.org/officeDocument/2006/relationships/tags" Target="../tags/tag297.xml"/><Relationship Id="rId14" Type="http://schemas.openxmlformats.org/officeDocument/2006/relationships/tags" Target="../tags/tag296.xml"/><Relationship Id="rId13" Type="http://schemas.openxmlformats.org/officeDocument/2006/relationships/image" Target="../media/image64.svg"/><Relationship Id="rId12" Type="http://schemas.openxmlformats.org/officeDocument/2006/relationships/image" Target="../media/image63.png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tags" Target="../tags/tag28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tags" Target="../tags/tag3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2026/07/01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招股书股本结构抽取 — 三周进展与问题复盘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汇报人：X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到结构化数据</a:t>
            </a:r>
            <a:r>
              <a:rPr lang="en-US" altLang="zh-CN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</a:t>
            </a:r>
            <a:r>
              <a:rPr lang="zh-CN" altLang="en-US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进度与成果</a:t>
            </a:r>
            <a:endParaRPr lang="zh-CN" altLang="en-US" sz="2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146810" y="226187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768CA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91073" y="23264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63511" y="2592705"/>
            <a:ext cx="943632" cy="567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en-US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</a:t>
            </a:r>
            <a:endParaRPr lang="zh-CN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008365" y="2387870"/>
            <a:ext cx="362026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25">
                <a:solidFill>
                  <a:srgbClr val="768CA4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425">
              <a:solidFill>
                <a:srgbClr val="768C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2745740" y="226187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768CA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789930" y="2326481"/>
            <a:ext cx="216617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378227" y="2592727"/>
            <a:ext cx="1039825" cy="23622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en-US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</a:t>
            </a:r>
            <a:r>
              <a:rPr lang="zh-CN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endParaRPr lang="zh-CN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607222" y="2387870"/>
            <a:ext cx="362026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25">
                <a:solidFill>
                  <a:srgbClr val="768CA4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425">
              <a:solidFill>
                <a:srgbClr val="768C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4344670" y="226187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768CA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4388796" y="23264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4025732" y="2592705"/>
            <a:ext cx="942822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en-US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TOC</a:t>
            </a:r>
            <a:r>
              <a:rPr lang="zh-CN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目录定位</a:t>
            </a:r>
            <a:endParaRPr lang="zh-CN"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5206079" y="2387870"/>
            <a:ext cx="362026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25">
                <a:solidFill>
                  <a:srgbClr val="768CA4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425">
              <a:solidFill>
                <a:srgbClr val="768C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5943600" y="226187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768CA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5987653" y="23264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5629275" y="2592705"/>
            <a:ext cx="9335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章节精准提取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6804946" y="2387870"/>
            <a:ext cx="362026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25">
                <a:solidFill>
                  <a:srgbClr val="768CA4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425">
              <a:solidFill>
                <a:srgbClr val="768C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7541895" y="226187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768CA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7586520" y="2326481"/>
            <a:ext cx="216617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7161467" y="2592705"/>
            <a:ext cx="106687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关键词密度评分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8403803" y="2387870"/>
            <a:ext cx="362026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25">
                <a:solidFill>
                  <a:srgbClr val="768CA4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425">
              <a:solidFill>
                <a:srgbClr val="768C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9140825" y="226187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768CA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9185377" y="23264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8690077" y="2592705"/>
            <a:ext cx="120729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en-US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AI</a:t>
            </a:r>
            <a:r>
              <a:rPr lang="zh-CN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抽取</a:t>
            </a:r>
            <a:endParaRPr lang="zh-CN"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10002660" y="2387870"/>
            <a:ext cx="362026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25">
                <a:solidFill>
                  <a:srgbClr val="768CA4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425">
              <a:solidFill>
                <a:srgbClr val="768C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6"/>
            </p:custDataLst>
          </p:nvPr>
        </p:nvSpPr>
        <p:spPr>
          <a:xfrm>
            <a:off x="10739755" y="218821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768CA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10784233" y="225310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10229697" y="2519324"/>
            <a:ext cx="1325832" cy="3095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en-US" altLang="en-US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Pydantic</a:t>
            </a:r>
            <a:r>
              <a:rPr lang="zh-CN" altLang="en-US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</a:t>
            </a:r>
            <a:r>
              <a:rPr lang="en-US" altLang="zh-CN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+Cross-check</a:t>
            </a:r>
            <a:endParaRPr lang="en-US" altLang="zh-CN"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575945" y="4195445"/>
            <a:ext cx="3546475" cy="1323975"/>
          </a:xfrm>
          <a:custGeom>
            <a:avLst/>
            <a:gdLst>
              <a:gd name="sw" fmla="*/ 1 w 5585"/>
              <a:gd name="sh" fmla="*/ 1 h 2085"/>
              <a:gd name="mins" fmla="min sw sh"/>
              <a:gd name="dsw" fmla="+- 0 sw mins"/>
              <a:gd name="dsh" fmla="+- 0 sh mins"/>
              <a:gd name="p0x0" fmla="*/ 120 w 5585"/>
              <a:gd name="p0y0" fmla="*/ 0 h 2085"/>
              <a:gd name="p0x1" fmla="*/ 5465 w 5585"/>
              <a:gd name="p0y1" fmla="*/ 0 h 2085"/>
              <a:gd name="p0x2" fmla="*/ 5531 w 5585"/>
              <a:gd name="p0y2" fmla="*/ 0 h 2085"/>
              <a:gd name="p0x3" fmla="*/ 5585 w 5585"/>
              <a:gd name="p0y3" fmla="*/ 53 h 2085"/>
              <a:gd name="p0x4" fmla="*/ 5585 w 5585"/>
              <a:gd name="p0y4" fmla="*/ 120 h 2085"/>
              <a:gd name="p0x5" fmla="*/ 5585 w 5585"/>
              <a:gd name="p0y5" fmla="*/ 1965 h 2085"/>
              <a:gd name="p0x6" fmla="*/ 5585 w 5585"/>
              <a:gd name="p0y6" fmla="*/ 2031 h 2085"/>
              <a:gd name="p0x7" fmla="*/ 5531 w 5585"/>
              <a:gd name="p0y7" fmla="*/ 2085 h 2085"/>
              <a:gd name="p0x8" fmla="*/ 5465 w 5585"/>
              <a:gd name="p0y8" fmla="*/ 2085 h 2085"/>
              <a:gd name="p0x9" fmla="*/ 120 w 5585"/>
              <a:gd name="p0y9" fmla="*/ 2085 h 2085"/>
              <a:gd name="p0x10" fmla="*/ 53 w 5585"/>
              <a:gd name="p0y10" fmla="*/ 2085 h 2085"/>
              <a:gd name="p0x11" fmla="*/ 0 w 5585"/>
              <a:gd name="p0y11" fmla="*/ 2031 h 2085"/>
              <a:gd name="p0x12" fmla="*/ 0 w 5585"/>
              <a:gd name="p0y12" fmla="*/ 1965 h 2085"/>
              <a:gd name="p0x13" fmla="*/ 0 w 5585"/>
              <a:gd name="p0y13" fmla="*/ 120 h 2085"/>
              <a:gd name="p0x14" fmla="*/ 0 w 5585"/>
              <a:gd name="p0y14" fmla="*/ 53 h 2085"/>
              <a:gd name="p0x15" fmla="*/ 53 w 5585"/>
              <a:gd name="p0y15" fmla="*/ 0 h 2085"/>
              <a:gd name="p0x16" fmla="*/ 120 w 5585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0"/>
            </p:custDataLst>
          </p:nvPr>
        </p:nvSpPr>
        <p:spPr>
          <a:xfrm>
            <a:off x="771525" y="449135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20 w 495"/>
              <a:gd name="p0y0" fmla="*/ 0 h 495"/>
              <a:gd name="p0x1" fmla="*/ 375 w 495"/>
              <a:gd name="p0y1" fmla="*/ 0 h 495"/>
              <a:gd name="p0x2" fmla="*/ 441 w 495"/>
              <a:gd name="p0y2" fmla="*/ 0 h 495"/>
              <a:gd name="p0x3" fmla="*/ 495 w 495"/>
              <a:gd name="p0y3" fmla="*/ 53 h 495"/>
              <a:gd name="p0x4" fmla="*/ 495 w 495"/>
              <a:gd name="p0y4" fmla="*/ 120 h 495"/>
              <a:gd name="p0x5" fmla="*/ 495 w 495"/>
              <a:gd name="p0y5" fmla="*/ 375 h 495"/>
              <a:gd name="p0x6" fmla="*/ 495 w 495"/>
              <a:gd name="p0y6" fmla="*/ 441 h 495"/>
              <a:gd name="p0x7" fmla="*/ 441 w 495"/>
              <a:gd name="p0y7" fmla="*/ 495 h 495"/>
              <a:gd name="p0x8" fmla="*/ 375 w 495"/>
              <a:gd name="p0y8" fmla="*/ 495 h 495"/>
              <a:gd name="p0x9" fmla="*/ 120 w 495"/>
              <a:gd name="p0y9" fmla="*/ 495 h 495"/>
              <a:gd name="p0x10" fmla="*/ 53 w 495"/>
              <a:gd name="p0y10" fmla="*/ 495 h 495"/>
              <a:gd name="p0x11" fmla="*/ 0 w 495"/>
              <a:gd name="p0y11" fmla="*/ 441 h 495"/>
              <a:gd name="p0x12" fmla="*/ 0 w 495"/>
              <a:gd name="p0y12" fmla="*/ 375 h 495"/>
              <a:gd name="p0x13" fmla="*/ 0 w 495"/>
              <a:gd name="p0y13" fmla="*/ 120 h 495"/>
              <a:gd name="p0x14" fmla="*/ 0 w 495"/>
              <a:gd name="p0y14" fmla="*/ 53 h 495"/>
              <a:gd name="p0x15" fmla="*/ 53 w 495"/>
              <a:gd name="p0y15" fmla="*/ 0 h 495"/>
              <a:gd name="p0x16" fmla="*/ 12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1228" t="-2933" r="-1228" b="-2933"/>
          <a:stretch>
            <a:fillRect/>
          </a:stretch>
        </p:blipFill>
        <p:spPr>
          <a:xfrm>
            <a:off x="835660" y="4519930"/>
            <a:ext cx="185420" cy="25209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34"/>
            </p:custDataLst>
          </p:nvPr>
        </p:nvSpPr>
        <p:spPr>
          <a:xfrm>
            <a:off x="1162050" y="4560694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覆盖范围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5"/>
            </p:custDataLst>
          </p:nvPr>
        </p:nvSpPr>
        <p:spPr>
          <a:xfrm>
            <a:off x="771525" y="4873900"/>
            <a:ext cx="3155975" cy="3580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家公司</a:t>
            </a:r>
            <a:r>
              <a:rPr 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全部覆盖，四个板块（主板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创业板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科创板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北交所）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6"/>
            </p:custDataLst>
          </p:nvPr>
        </p:nvSpPr>
        <p:spPr>
          <a:xfrm>
            <a:off x="4322445" y="4195445"/>
            <a:ext cx="3546475" cy="1323975"/>
          </a:xfrm>
          <a:custGeom>
            <a:avLst/>
            <a:gdLst>
              <a:gd name="sw" fmla="*/ 1 w 5585"/>
              <a:gd name="sh" fmla="*/ 1 h 2085"/>
              <a:gd name="mins" fmla="min sw sh"/>
              <a:gd name="dsw" fmla="+- 0 sw mins"/>
              <a:gd name="dsh" fmla="+- 0 sh mins"/>
              <a:gd name="p0x0" fmla="*/ 120 w 5585"/>
              <a:gd name="p0y0" fmla="*/ 0 h 2085"/>
              <a:gd name="p0x1" fmla="*/ 5465 w 5585"/>
              <a:gd name="p0y1" fmla="*/ 0 h 2085"/>
              <a:gd name="p0x2" fmla="*/ 5531 w 5585"/>
              <a:gd name="p0y2" fmla="*/ 0 h 2085"/>
              <a:gd name="p0x3" fmla="*/ 5585 w 5585"/>
              <a:gd name="p0y3" fmla="*/ 53 h 2085"/>
              <a:gd name="p0x4" fmla="*/ 5585 w 5585"/>
              <a:gd name="p0y4" fmla="*/ 120 h 2085"/>
              <a:gd name="p0x5" fmla="*/ 5585 w 5585"/>
              <a:gd name="p0y5" fmla="*/ 1965 h 2085"/>
              <a:gd name="p0x6" fmla="*/ 5585 w 5585"/>
              <a:gd name="p0y6" fmla="*/ 2031 h 2085"/>
              <a:gd name="p0x7" fmla="*/ 5531 w 5585"/>
              <a:gd name="p0y7" fmla="*/ 2085 h 2085"/>
              <a:gd name="p0x8" fmla="*/ 5465 w 5585"/>
              <a:gd name="p0y8" fmla="*/ 2085 h 2085"/>
              <a:gd name="p0x9" fmla="*/ 120 w 5585"/>
              <a:gd name="p0y9" fmla="*/ 2085 h 2085"/>
              <a:gd name="p0x10" fmla="*/ 53 w 5585"/>
              <a:gd name="p0y10" fmla="*/ 2085 h 2085"/>
              <a:gd name="p0x11" fmla="*/ 0 w 5585"/>
              <a:gd name="p0y11" fmla="*/ 2031 h 2085"/>
              <a:gd name="p0x12" fmla="*/ 0 w 5585"/>
              <a:gd name="p0y12" fmla="*/ 1965 h 2085"/>
              <a:gd name="p0x13" fmla="*/ 0 w 5585"/>
              <a:gd name="p0y13" fmla="*/ 120 h 2085"/>
              <a:gd name="p0x14" fmla="*/ 0 w 5585"/>
              <a:gd name="p0y14" fmla="*/ 53 h 2085"/>
              <a:gd name="p0x15" fmla="*/ 53 w 5585"/>
              <a:gd name="p0y15" fmla="*/ 0 h 2085"/>
              <a:gd name="p0x16" fmla="*/ 120 w 5585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7"/>
            </p:custDataLst>
          </p:nvPr>
        </p:nvSpPr>
        <p:spPr>
          <a:xfrm>
            <a:off x="4518025" y="449135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20 w 495"/>
              <a:gd name="p0y0" fmla="*/ 0 h 495"/>
              <a:gd name="p0x1" fmla="*/ 375 w 495"/>
              <a:gd name="p0y1" fmla="*/ 0 h 495"/>
              <a:gd name="p0x2" fmla="*/ 441 w 495"/>
              <a:gd name="p0y2" fmla="*/ 0 h 495"/>
              <a:gd name="p0x3" fmla="*/ 495 w 495"/>
              <a:gd name="p0y3" fmla="*/ 53 h 495"/>
              <a:gd name="p0x4" fmla="*/ 495 w 495"/>
              <a:gd name="p0y4" fmla="*/ 120 h 495"/>
              <a:gd name="p0x5" fmla="*/ 495 w 495"/>
              <a:gd name="p0y5" fmla="*/ 375 h 495"/>
              <a:gd name="p0x6" fmla="*/ 495 w 495"/>
              <a:gd name="p0y6" fmla="*/ 441 h 495"/>
              <a:gd name="p0x7" fmla="*/ 441 w 495"/>
              <a:gd name="p0y7" fmla="*/ 495 h 495"/>
              <a:gd name="p0x8" fmla="*/ 375 w 495"/>
              <a:gd name="p0y8" fmla="*/ 495 h 495"/>
              <a:gd name="p0x9" fmla="*/ 120 w 495"/>
              <a:gd name="p0y9" fmla="*/ 495 h 495"/>
              <a:gd name="p0x10" fmla="*/ 53 w 495"/>
              <a:gd name="p0y10" fmla="*/ 495 h 495"/>
              <a:gd name="p0x11" fmla="*/ 0 w 495"/>
              <a:gd name="p0y11" fmla="*/ 441 h 495"/>
              <a:gd name="p0x12" fmla="*/ 0 w 495"/>
              <a:gd name="p0y12" fmla="*/ 375 h 495"/>
              <a:gd name="p0x13" fmla="*/ 0 w 495"/>
              <a:gd name="p0y13" fmla="*/ 120 h 495"/>
              <a:gd name="p0x14" fmla="*/ 0 w 495"/>
              <a:gd name="p0y14" fmla="*/ 53 h 495"/>
              <a:gd name="p0x15" fmla="*/ 53 w 495"/>
              <a:gd name="p0y15" fmla="*/ 0 h 495"/>
              <a:gd name="p0x16" fmla="*/ 12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273" t="-2933" r="-2273" b="-2933"/>
          <a:stretch>
            <a:fillRect/>
          </a:stretch>
        </p:blipFill>
        <p:spPr>
          <a:xfrm>
            <a:off x="4565650" y="4519930"/>
            <a:ext cx="219075" cy="2520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1"/>
            </p:custDataLst>
          </p:nvPr>
        </p:nvSpPr>
        <p:spPr>
          <a:xfrm>
            <a:off x="4908576" y="4560694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数据成果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2"/>
            </p:custDataLst>
          </p:nvPr>
        </p:nvSpPr>
        <p:spPr>
          <a:xfrm>
            <a:off x="4518051" y="4873900"/>
            <a:ext cx="3155975" cy="3580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66</a:t>
            </a:r>
            <a:r>
              <a:rPr 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条认缴流量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</a:t>
            </a:r>
            <a:r>
              <a:rPr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452</a:t>
            </a:r>
            <a:r>
              <a:rPr 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条股权存量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</a:t>
            </a:r>
            <a:r>
              <a:rPr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r>
              <a:rPr 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条股权转让，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值清零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3"/>
            </p:custDataLst>
          </p:nvPr>
        </p:nvSpPr>
        <p:spPr>
          <a:xfrm>
            <a:off x="8068945" y="4195445"/>
            <a:ext cx="3546475" cy="1323975"/>
          </a:xfrm>
          <a:custGeom>
            <a:avLst/>
            <a:gdLst>
              <a:gd name="sw" fmla="*/ 1 w 5585"/>
              <a:gd name="sh" fmla="*/ 1 h 2085"/>
              <a:gd name="mins" fmla="min sw sh"/>
              <a:gd name="dsw" fmla="+- 0 sw mins"/>
              <a:gd name="dsh" fmla="+- 0 sh mins"/>
              <a:gd name="p0x0" fmla="*/ 120 w 5585"/>
              <a:gd name="p0y0" fmla="*/ 0 h 2085"/>
              <a:gd name="p0x1" fmla="*/ 5465 w 5585"/>
              <a:gd name="p0y1" fmla="*/ 0 h 2085"/>
              <a:gd name="p0x2" fmla="*/ 5531 w 5585"/>
              <a:gd name="p0y2" fmla="*/ 0 h 2085"/>
              <a:gd name="p0x3" fmla="*/ 5585 w 5585"/>
              <a:gd name="p0y3" fmla="*/ 53 h 2085"/>
              <a:gd name="p0x4" fmla="*/ 5585 w 5585"/>
              <a:gd name="p0y4" fmla="*/ 120 h 2085"/>
              <a:gd name="p0x5" fmla="*/ 5585 w 5585"/>
              <a:gd name="p0y5" fmla="*/ 1965 h 2085"/>
              <a:gd name="p0x6" fmla="*/ 5585 w 5585"/>
              <a:gd name="p0y6" fmla="*/ 2031 h 2085"/>
              <a:gd name="p0x7" fmla="*/ 5531 w 5585"/>
              <a:gd name="p0y7" fmla="*/ 2085 h 2085"/>
              <a:gd name="p0x8" fmla="*/ 5465 w 5585"/>
              <a:gd name="p0y8" fmla="*/ 2085 h 2085"/>
              <a:gd name="p0x9" fmla="*/ 120 w 5585"/>
              <a:gd name="p0y9" fmla="*/ 2085 h 2085"/>
              <a:gd name="p0x10" fmla="*/ 53 w 5585"/>
              <a:gd name="p0y10" fmla="*/ 2085 h 2085"/>
              <a:gd name="p0x11" fmla="*/ 0 w 5585"/>
              <a:gd name="p0y11" fmla="*/ 2031 h 2085"/>
              <a:gd name="p0x12" fmla="*/ 0 w 5585"/>
              <a:gd name="p0y12" fmla="*/ 1965 h 2085"/>
              <a:gd name="p0x13" fmla="*/ 0 w 5585"/>
              <a:gd name="p0y13" fmla="*/ 120 h 2085"/>
              <a:gd name="p0x14" fmla="*/ 0 w 5585"/>
              <a:gd name="p0y14" fmla="*/ 53 h 2085"/>
              <a:gd name="p0x15" fmla="*/ 53 w 5585"/>
              <a:gd name="p0y15" fmla="*/ 0 h 2085"/>
              <a:gd name="p0x16" fmla="*/ 120 w 5585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44"/>
            </p:custDataLst>
          </p:nvPr>
        </p:nvSpPr>
        <p:spPr>
          <a:xfrm>
            <a:off x="8264525" y="449135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20 w 495"/>
              <a:gd name="p0y0" fmla="*/ 0 h 495"/>
              <a:gd name="p0x1" fmla="*/ 375 w 495"/>
              <a:gd name="p0y1" fmla="*/ 0 h 495"/>
              <a:gd name="p0x2" fmla="*/ 441 w 495"/>
              <a:gd name="p0y2" fmla="*/ 0 h 495"/>
              <a:gd name="p0x3" fmla="*/ 495 w 495"/>
              <a:gd name="p0y3" fmla="*/ 53 h 495"/>
              <a:gd name="p0x4" fmla="*/ 495 w 495"/>
              <a:gd name="p0y4" fmla="*/ 120 h 495"/>
              <a:gd name="p0x5" fmla="*/ 495 w 495"/>
              <a:gd name="p0y5" fmla="*/ 375 h 495"/>
              <a:gd name="p0x6" fmla="*/ 495 w 495"/>
              <a:gd name="p0y6" fmla="*/ 441 h 495"/>
              <a:gd name="p0x7" fmla="*/ 441 w 495"/>
              <a:gd name="p0y7" fmla="*/ 495 h 495"/>
              <a:gd name="p0x8" fmla="*/ 375 w 495"/>
              <a:gd name="p0y8" fmla="*/ 495 h 495"/>
              <a:gd name="p0x9" fmla="*/ 120 w 495"/>
              <a:gd name="p0y9" fmla="*/ 495 h 495"/>
              <a:gd name="p0x10" fmla="*/ 53 w 495"/>
              <a:gd name="p0y10" fmla="*/ 495 h 495"/>
              <a:gd name="p0x11" fmla="*/ 0 w 495"/>
              <a:gd name="p0y11" fmla="*/ 441 h 495"/>
              <a:gd name="p0x12" fmla="*/ 0 w 495"/>
              <a:gd name="p0y12" fmla="*/ 375 h 495"/>
              <a:gd name="p0x13" fmla="*/ 0 w 495"/>
              <a:gd name="p0y13" fmla="*/ 120 h 495"/>
              <a:gd name="p0x14" fmla="*/ 0 w 495"/>
              <a:gd name="p0y14" fmla="*/ 53 h 495"/>
              <a:gd name="p0x15" fmla="*/ 53 w 495"/>
              <a:gd name="p0y15" fmla="*/ 0 h 495"/>
              <a:gd name="p0x16" fmla="*/ 12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1228" t="-2933" r="-1228" b="-2933"/>
          <a:stretch>
            <a:fillRect/>
          </a:stretch>
        </p:blipFill>
        <p:spPr>
          <a:xfrm>
            <a:off x="8328660" y="4519930"/>
            <a:ext cx="185420" cy="252095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48"/>
            </p:custDataLst>
          </p:nvPr>
        </p:nvSpPr>
        <p:spPr>
          <a:xfrm>
            <a:off x="8655101" y="4560694"/>
            <a:ext cx="7429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</a:t>
            </a:r>
            <a:r>
              <a:rPr lang="zh-CN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</a:t>
            </a:r>
            <a:endParaRPr lang="zh-CN"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9"/>
            </p:custDataLst>
          </p:nvPr>
        </p:nvSpPr>
        <p:spPr>
          <a:xfrm>
            <a:off x="8264576" y="4874066"/>
            <a:ext cx="3208886" cy="3544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每份含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张表：认缴流量、股权存量、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3_schema_cross_check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403</a:t>
            </a:r>
            <a:r>
              <a:rPr lang="zh-CN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r>
              <a:rPr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带数字校验记录）</a:t>
            </a:r>
            <a:endParaRPr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0"/>
            </p:custDataLst>
          </p:nvPr>
        </p:nvSpPr>
        <p:spPr>
          <a:xfrm>
            <a:off x="575945" y="5719445"/>
            <a:ext cx="11039475" cy="752475"/>
          </a:xfrm>
          <a:custGeom>
            <a:avLst/>
            <a:gdLst>
              <a:gd name="sw" fmla="*/ 1 w 17385"/>
              <a:gd name="sh" fmla="*/ 1 h 1185"/>
              <a:gd name="mins" fmla="min sw sh"/>
              <a:gd name="dsw" fmla="+- 0 sw mins"/>
              <a:gd name="dsh" fmla="+- 0 sh mins"/>
              <a:gd name="p0x0" fmla="*/ 120 w 17385"/>
              <a:gd name="p0y0" fmla="*/ 0 h 1185"/>
              <a:gd name="p0x1" fmla="*/ 17265 w 17385"/>
              <a:gd name="p0y1" fmla="*/ 0 h 1185"/>
              <a:gd name="p0x2" fmla="*/ 17331 w 17385"/>
              <a:gd name="p0y2" fmla="*/ 0 h 1185"/>
              <a:gd name="p0x3" fmla="*/ 17385 w 17385"/>
              <a:gd name="p0y3" fmla="*/ 53 h 1185"/>
              <a:gd name="p0x4" fmla="*/ 17385 w 17385"/>
              <a:gd name="p0y4" fmla="*/ 120 h 1185"/>
              <a:gd name="p0x5" fmla="*/ 17385 w 17385"/>
              <a:gd name="p0y5" fmla="*/ 1065 h 1185"/>
              <a:gd name="p0x6" fmla="*/ 17385 w 17385"/>
              <a:gd name="p0y6" fmla="*/ 1131 h 1185"/>
              <a:gd name="p0x7" fmla="*/ 17331 w 17385"/>
              <a:gd name="p0y7" fmla="*/ 1185 h 1185"/>
              <a:gd name="p0x8" fmla="*/ 17265 w 17385"/>
              <a:gd name="p0y8" fmla="*/ 1185 h 1185"/>
              <a:gd name="p0x9" fmla="*/ 120 w 17385"/>
              <a:gd name="p0y9" fmla="*/ 1185 h 1185"/>
              <a:gd name="p0x10" fmla="*/ 53 w 17385"/>
              <a:gd name="p0y10" fmla="*/ 1185 h 1185"/>
              <a:gd name="p0x11" fmla="*/ 0 w 17385"/>
              <a:gd name="p0y11" fmla="*/ 1131 h 1185"/>
              <a:gd name="p0x12" fmla="*/ 0 w 17385"/>
              <a:gd name="p0y12" fmla="*/ 1065 h 1185"/>
              <a:gd name="p0x13" fmla="*/ 0 w 17385"/>
              <a:gd name="p0y13" fmla="*/ 120 h 1185"/>
              <a:gd name="p0x14" fmla="*/ 0 w 17385"/>
              <a:gd name="p0y14" fmla="*/ 53 h 1185"/>
              <a:gd name="p0x15" fmla="*/ 53 w 17385"/>
              <a:gd name="p0y15" fmla="*/ 0 h 1185"/>
              <a:gd name="p0x16" fmla="*/ 120 w 17385"/>
              <a:gd name="p0y16" fmla="*/ 0 h 1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51"/>
            </p:custDataLst>
          </p:nvPr>
        </p:nvSpPr>
        <p:spPr>
          <a:xfrm>
            <a:off x="771525" y="596709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795020" y="5986145"/>
            <a:ext cx="209550" cy="21463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55"/>
            </p:custDataLst>
          </p:nvPr>
        </p:nvSpPr>
        <p:spPr>
          <a:xfrm>
            <a:off x="1104900" y="6005513"/>
            <a:ext cx="400691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友升股份</a:t>
            </a:r>
            <a:r>
              <a:rPr lang="zh-CN" sz="10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与教师示范</a:t>
            </a:r>
            <a:r>
              <a:rPr lang="en-US" altLang="zh-CN" sz="10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</a:t>
            </a:r>
            <a:r>
              <a:rPr lang="zh-CN" altLang="en-US" sz="10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比对：</a:t>
            </a:r>
            <a:r>
              <a:rPr lang="en-US" altLang="en-US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笔增资完全一致</a:t>
            </a:r>
            <a:endParaRPr lang="zh-CN" altLang="en-US" sz="1100" b="1" spc="-1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/>
          <p:nvPr>
            <p:custDataLst>
              <p:tags r:id="rId56"/>
            </p:custDataLst>
          </p:nvPr>
        </p:nvSpPr>
        <p:spPr>
          <a:xfrm>
            <a:off x="6090920" y="5905500"/>
            <a:ext cx="9525" cy="381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>
            <p:custDataLst>
              <p:tags r:id="rId57"/>
            </p:custDataLst>
          </p:nvPr>
        </p:nvSpPr>
        <p:spPr>
          <a:xfrm>
            <a:off x="6290945" y="596709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6818" t="-16275" r="-6818" b="-16275"/>
          <a:stretch>
            <a:fillRect/>
          </a:stretch>
        </p:blipFill>
        <p:spPr>
          <a:xfrm>
            <a:off x="6300470" y="5986145"/>
            <a:ext cx="238125" cy="214630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61"/>
            </p:custDataLst>
          </p:nvPr>
        </p:nvSpPr>
        <p:spPr>
          <a:xfrm>
            <a:off x="6624638" y="6005513"/>
            <a:ext cx="2783843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454</a:t>
            </a:r>
            <a:r>
              <a:rPr lang="zh-CN" sz="1100" b="1" spc="-1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r>
              <a:rPr lang="zh-CN" sz="10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记录已标注</a:t>
            </a:r>
            <a:r>
              <a:rPr lang="en-US" altLang="zh-CN" sz="10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</a:t>
            </a:r>
            <a:r>
              <a:rPr lang="zh-CN" altLang="en-US" sz="10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0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review_status</a:t>
            </a:r>
            <a:endParaRPr lang="en-US" altLang="zh-CN" sz="105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踩过的坑和怎么爬出来的</a:t>
            </a:r>
            <a:endParaRPr sz="30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20 w 5469"/>
              <a:gd name="p0y0" fmla="*/ 0 h 8445"/>
              <a:gd name="p0x1" fmla="*/ 5349 w 5469"/>
              <a:gd name="p0y1" fmla="*/ 0 h 8445"/>
              <a:gd name="p0x2" fmla="*/ 5415 w 5469"/>
              <a:gd name="p0y2" fmla="*/ 0 h 8445"/>
              <a:gd name="p0x3" fmla="*/ 5469 w 5469"/>
              <a:gd name="p0y3" fmla="*/ 53 h 8445"/>
              <a:gd name="p0x4" fmla="*/ 5469 w 5469"/>
              <a:gd name="p0y4" fmla="*/ 120 h 8445"/>
              <a:gd name="p0x5" fmla="*/ 5469 w 5469"/>
              <a:gd name="p0y5" fmla="*/ 8325 h 8445"/>
              <a:gd name="p0x6" fmla="*/ 5469 w 5469"/>
              <a:gd name="p0y6" fmla="*/ 8391 h 8445"/>
              <a:gd name="p0x7" fmla="*/ 5415 w 5469"/>
              <a:gd name="p0y7" fmla="*/ 8445 h 8445"/>
              <a:gd name="p0x8" fmla="*/ 5349 w 5469"/>
              <a:gd name="p0y8" fmla="*/ 8445 h 8445"/>
              <a:gd name="p0x9" fmla="*/ 120 w 5469"/>
              <a:gd name="p0y9" fmla="*/ 8445 h 8445"/>
              <a:gd name="p0x10" fmla="*/ 53 w 5469"/>
              <a:gd name="p0y10" fmla="*/ 8445 h 8445"/>
              <a:gd name="p0x11" fmla="*/ 0 w 5469"/>
              <a:gd name="p0y11" fmla="*/ 8391 h 8445"/>
              <a:gd name="p0x12" fmla="*/ 0 w 5469"/>
              <a:gd name="p0y12" fmla="*/ 8325 h 8445"/>
              <a:gd name="p0x13" fmla="*/ 0 w 5469"/>
              <a:gd name="p0y13" fmla="*/ 120 h 8445"/>
              <a:gd name="p0x14" fmla="*/ 0 w 5469"/>
              <a:gd name="p0y14" fmla="*/ 53 h 8445"/>
              <a:gd name="p0x15" fmla="*/ 53 w 5469"/>
              <a:gd name="p0y15" fmla="*/ 0 h 8445"/>
              <a:gd name="p0x16" fmla="*/ 12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768CA4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399415" cy="276225"/>
          </a:xfrm>
          <a:custGeom>
            <a:avLst/>
            <a:gdLst>
              <a:gd name="sw" fmla="*/ 1 w 629"/>
              <a:gd name="sh" fmla="*/ 1 h 435"/>
              <a:gd name="mins" fmla="min sw sh"/>
              <a:gd name="dsw" fmla="+- 0 sw mins"/>
              <a:gd name="dsh" fmla="+- 0 sh mins"/>
              <a:gd name="p0x0" fmla="*/ 60 w 629"/>
              <a:gd name="p0y0" fmla="*/ 0 h 435"/>
              <a:gd name="p0x1" fmla="*/ 569 w 629"/>
              <a:gd name="p0y1" fmla="*/ 0 h 435"/>
              <a:gd name="p0x2" fmla="*/ 602 w 629"/>
              <a:gd name="p0y2" fmla="*/ 0 h 435"/>
              <a:gd name="p0x3" fmla="*/ 629 w 629"/>
              <a:gd name="p0y3" fmla="*/ 26 h 435"/>
              <a:gd name="p0x4" fmla="*/ 629 w 629"/>
              <a:gd name="p0y4" fmla="*/ 60 h 435"/>
              <a:gd name="p0x5" fmla="*/ 629 w 629"/>
              <a:gd name="p0y5" fmla="*/ 375 h 435"/>
              <a:gd name="p0x6" fmla="*/ 629 w 629"/>
              <a:gd name="p0y6" fmla="*/ 408 h 435"/>
              <a:gd name="p0x7" fmla="*/ 602 w 629"/>
              <a:gd name="p0y7" fmla="*/ 435 h 435"/>
              <a:gd name="p0x8" fmla="*/ 569 w 629"/>
              <a:gd name="p0y8" fmla="*/ 435 h 435"/>
              <a:gd name="p0x9" fmla="*/ 60 w 629"/>
              <a:gd name="p0y9" fmla="*/ 435 h 435"/>
              <a:gd name="p0x10" fmla="*/ 26 w 629"/>
              <a:gd name="p0y10" fmla="*/ 435 h 435"/>
              <a:gd name="p0x11" fmla="*/ 0 w 629"/>
              <a:gd name="p0y11" fmla="*/ 408 h 435"/>
              <a:gd name="p0x12" fmla="*/ 0 w 629"/>
              <a:gd name="p0y12" fmla="*/ 375 h 435"/>
              <a:gd name="p0x13" fmla="*/ 0 w 629"/>
              <a:gd name="p0y13" fmla="*/ 60 h 435"/>
              <a:gd name="p0x14" fmla="*/ 0 w 629"/>
              <a:gd name="p0y14" fmla="*/ 26 h 435"/>
              <a:gd name="p0x15" fmla="*/ 26 w 629"/>
              <a:gd name="p0y15" fmla="*/ 0 h 435"/>
              <a:gd name="p0x16" fmla="*/ 60 w 62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8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47725" y="1343025"/>
            <a:ext cx="3998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</a:t>
            </a:r>
            <a:r>
              <a:rPr lang="en-US" altLang="zh-CN" sz="120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200" b="1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1679258"/>
            <a:ext cx="3082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数据全丢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24199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9766" r="-9766"/>
          <a:stretch>
            <a:fillRect/>
          </a:stretch>
        </p:blipFill>
        <p:spPr>
          <a:xfrm>
            <a:off x="819150" y="2477135"/>
            <a:ext cx="171450" cy="1524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114425" y="2126694"/>
            <a:ext cx="273978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三协电机首次上传：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页全是财务会计附录，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增资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次，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发行人基本情况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"0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771525" y="33166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6250" r="-6250"/>
          <a:stretch>
            <a:fillRect/>
          </a:stretch>
        </p:blipFill>
        <p:spPr>
          <a:xfrm>
            <a:off x="819150" y="3373755"/>
            <a:ext cx="17145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1114425" y="3023387"/>
            <a:ext cx="273978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根因：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382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页，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覆盖了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200-382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页的后半段，核心在第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1-200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6"/>
            </p:custDataLst>
          </p:nvPr>
        </p:nvSpPr>
        <p:spPr>
          <a:xfrm>
            <a:off x="771525" y="43497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6250" r="-6250"/>
          <a:stretch>
            <a:fillRect/>
          </a:stretch>
        </p:blipFill>
        <p:spPr>
          <a:xfrm>
            <a:off x="819150" y="4406900"/>
            <a:ext cx="171450" cy="1524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1114425" y="3919700"/>
            <a:ext cx="2739780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解法：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TOC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目录定位法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先扫描前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页找到目录页，正则提取章节页码映射，精准定位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发行人基本情况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1"/>
            </p:custDataLst>
          </p:nvPr>
        </p:nvSpPr>
        <p:spPr>
          <a:xfrm>
            <a:off x="771525" y="52463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t="-7143" b="-7143"/>
          <a:stretch>
            <a:fillRect/>
          </a:stretch>
        </p:blipFill>
        <p:spPr>
          <a:xfrm>
            <a:off x="828675" y="5303520"/>
            <a:ext cx="152400" cy="1524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5"/>
            </p:custDataLst>
          </p:nvPr>
        </p:nvSpPr>
        <p:spPr>
          <a:xfrm>
            <a:off x="1114425" y="5090760"/>
            <a:ext cx="273978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效果：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三协存量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1→37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条，三联认缴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1→12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6"/>
            </p:custDataLst>
          </p:nvPr>
        </p:nvSpPr>
        <p:spPr>
          <a:xfrm>
            <a:off x="771525" y="58699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3333" b="-3333"/>
          <a:stretch>
            <a:fillRect/>
          </a:stretch>
        </p:blipFill>
        <p:spPr>
          <a:xfrm>
            <a:off x="828675" y="5927090"/>
            <a:ext cx="152400" cy="1524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0"/>
            </p:custDataLst>
          </p:nvPr>
        </p:nvSpPr>
        <p:spPr>
          <a:xfrm>
            <a:off x="1114425" y="5713971"/>
            <a:ext cx="269067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三周上传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多次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报废率约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endParaRPr lang="en-US" alt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1"/>
            </p:custDataLst>
          </p:nvPr>
        </p:nvSpPr>
        <p:spPr>
          <a:xfrm>
            <a:off x="1247623" y="1343025"/>
            <a:ext cx="15918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</a:t>
            </a:r>
            <a:r>
              <a:rPr lang="zh-CN" sz="12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页码范围填错</a:t>
            </a:r>
            <a:endParaRPr lang="zh-CN" sz="1200">
              <a:solidFill>
                <a:srgbClr val="FFFFFF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2"/>
            </p:custDataLst>
          </p:nvPr>
        </p:nvSpPr>
        <p:spPr>
          <a:xfrm>
            <a:off x="4306570" y="1109345"/>
            <a:ext cx="3472815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20 w 5469"/>
              <a:gd name="p0y0" fmla="*/ 0 h 8445"/>
              <a:gd name="p0x1" fmla="*/ 5349 w 5469"/>
              <a:gd name="p0y1" fmla="*/ 0 h 8445"/>
              <a:gd name="p0x2" fmla="*/ 5415 w 5469"/>
              <a:gd name="p0y2" fmla="*/ 0 h 8445"/>
              <a:gd name="p0x3" fmla="*/ 5469 w 5469"/>
              <a:gd name="p0y3" fmla="*/ 53 h 8445"/>
              <a:gd name="p0x4" fmla="*/ 5469 w 5469"/>
              <a:gd name="p0y4" fmla="*/ 120 h 8445"/>
              <a:gd name="p0x5" fmla="*/ 5469 w 5469"/>
              <a:gd name="p0y5" fmla="*/ 8325 h 8445"/>
              <a:gd name="p0x6" fmla="*/ 5469 w 5469"/>
              <a:gd name="p0y6" fmla="*/ 8391 h 8445"/>
              <a:gd name="p0x7" fmla="*/ 5415 w 5469"/>
              <a:gd name="p0y7" fmla="*/ 8445 h 8445"/>
              <a:gd name="p0x8" fmla="*/ 5349 w 5469"/>
              <a:gd name="p0y8" fmla="*/ 8445 h 8445"/>
              <a:gd name="p0x9" fmla="*/ 120 w 5469"/>
              <a:gd name="p0y9" fmla="*/ 8445 h 8445"/>
              <a:gd name="p0x10" fmla="*/ 53 w 5469"/>
              <a:gd name="p0y10" fmla="*/ 8445 h 8445"/>
              <a:gd name="p0x11" fmla="*/ 0 w 5469"/>
              <a:gd name="p0y11" fmla="*/ 8391 h 8445"/>
              <a:gd name="p0x12" fmla="*/ 0 w 5469"/>
              <a:gd name="p0y12" fmla="*/ 8325 h 8445"/>
              <a:gd name="p0x13" fmla="*/ 0 w 5469"/>
              <a:gd name="p0y13" fmla="*/ 120 h 8445"/>
              <a:gd name="p0x14" fmla="*/ 0 w 5469"/>
              <a:gd name="p0y14" fmla="*/ 53 h 8445"/>
              <a:gd name="p0x15" fmla="*/ 53 w 5469"/>
              <a:gd name="p0y15" fmla="*/ 0 h 8445"/>
              <a:gd name="p0x16" fmla="*/ 12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3"/>
            </p:custDataLst>
          </p:nvPr>
        </p:nvSpPr>
        <p:spPr>
          <a:xfrm>
            <a:off x="4501515" y="1304925"/>
            <a:ext cx="400050" cy="276225"/>
          </a:xfrm>
          <a:custGeom>
            <a:avLst/>
            <a:gdLst>
              <a:gd name="sw" fmla="*/ 1 w 629"/>
              <a:gd name="sh" fmla="*/ 1 h 435"/>
              <a:gd name="mins" fmla="min sw sh"/>
              <a:gd name="dsw" fmla="+- 0 sw mins"/>
              <a:gd name="dsh" fmla="+- 0 sh mins"/>
              <a:gd name="p0x0" fmla="*/ 60 w 629"/>
              <a:gd name="p0y0" fmla="*/ 0 h 435"/>
              <a:gd name="p0x1" fmla="*/ 569 w 629"/>
              <a:gd name="p0y1" fmla="*/ 0 h 435"/>
              <a:gd name="p0x2" fmla="*/ 602 w 629"/>
              <a:gd name="p0y2" fmla="*/ 0 h 435"/>
              <a:gd name="p0x3" fmla="*/ 629 w 629"/>
              <a:gd name="p0y3" fmla="*/ 26 h 435"/>
              <a:gd name="p0x4" fmla="*/ 629 w 629"/>
              <a:gd name="p0y4" fmla="*/ 60 h 435"/>
              <a:gd name="p0x5" fmla="*/ 629 w 629"/>
              <a:gd name="p0y5" fmla="*/ 375 h 435"/>
              <a:gd name="p0x6" fmla="*/ 629 w 629"/>
              <a:gd name="p0y6" fmla="*/ 408 h 435"/>
              <a:gd name="p0x7" fmla="*/ 602 w 629"/>
              <a:gd name="p0y7" fmla="*/ 435 h 435"/>
              <a:gd name="p0x8" fmla="*/ 569 w 629"/>
              <a:gd name="p0y8" fmla="*/ 435 h 435"/>
              <a:gd name="p0x9" fmla="*/ 60 w 629"/>
              <a:gd name="p0y9" fmla="*/ 435 h 435"/>
              <a:gd name="p0x10" fmla="*/ 26 w 629"/>
              <a:gd name="p0y10" fmla="*/ 435 h 435"/>
              <a:gd name="p0x11" fmla="*/ 0 w 629"/>
              <a:gd name="p0y11" fmla="*/ 408 h 435"/>
              <a:gd name="p0x12" fmla="*/ 0 w 629"/>
              <a:gd name="p0y12" fmla="*/ 375 h 435"/>
              <a:gd name="p0x13" fmla="*/ 0 w 629"/>
              <a:gd name="p0y13" fmla="*/ 60 h 435"/>
              <a:gd name="p0x14" fmla="*/ 0 w 629"/>
              <a:gd name="p0y14" fmla="*/ 26 h 435"/>
              <a:gd name="p0x15" fmla="*/ 26 w 629"/>
              <a:gd name="p0y15" fmla="*/ 0 h 435"/>
              <a:gd name="p0x16" fmla="*/ 60 w 62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8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4578105" y="1343025"/>
            <a:ext cx="3998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</a:t>
            </a:r>
            <a:r>
              <a:rPr lang="en-US" altLang="zh-CN" sz="120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1200" b="1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4978003" y="1343025"/>
            <a:ext cx="122500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表格被展平</a:t>
            </a:r>
            <a:endParaRPr lang="zh-CN"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4501905" y="1679258"/>
            <a:ext cx="308268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找不到数字</a:t>
            </a:r>
            <a:endParaRPr lang="zh-CN"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4501515" y="26536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t="-7143" b="-7143"/>
          <a:stretch>
            <a:fillRect/>
          </a:stretch>
        </p:blipFill>
        <p:spPr>
          <a:xfrm>
            <a:off x="4568190" y="2710815"/>
            <a:ext cx="13335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4844805" y="2360352"/>
            <a:ext cx="2739781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赛分第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个股东表格：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认购数量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""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万股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关键词全部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次。影石第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页整页仅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</a:t>
            </a:r>
            <a:endParaRPr lang="zh-CN" altLang="en-US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2"/>
            </p:custDataLst>
          </p:nvPr>
        </p:nvSpPr>
        <p:spPr>
          <a:xfrm>
            <a:off x="4501515" y="37846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t="-3333" b="-3333"/>
          <a:stretch>
            <a:fillRect/>
          </a:stretch>
        </p:blipFill>
        <p:spPr>
          <a:xfrm>
            <a:off x="4549140" y="3841750"/>
            <a:ext cx="17145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6"/>
            </p:custDataLst>
          </p:nvPr>
        </p:nvSpPr>
        <p:spPr>
          <a:xfrm>
            <a:off x="4844805" y="3491893"/>
            <a:ext cx="2739781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根因：</a:t>
            </a:r>
            <a:r>
              <a:rPr 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将表格转纯文本后行列对应关系丢失，这不是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工程能解决的</a:t>
            </a:r>
            <a:endParaRPr lang="zh-CN" altLang="en-US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7"/>
            </p:custDataLst>
          </p:nvPr>
        </p:nvSpPr>
        <p:spPr>
          <a:xfrm>
            <a:off x="4501515" y="47790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3846" r="-3846"/>
          <a:stretch>
            <a:fillRect/>
          </a:stretch>
        </p:blipFill>
        <p:spPr>
          <a:xfrm>
            <a:off x="4568190" y="4836160"/>
            <a:ext cx="13335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51"/>
            </p:custDataLst>
          </p:nvPr>
        </p:nvSpPr>
        <p:spPr>
          <a:xfrm>
            <a:off x="4844805" y="4623435"/>
            <a:ext cx="273978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解法：</a:t>
            </a:r>
            <a:r>
              <a:rPr 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抽框架，人工翻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表格补数字</a:t>
            </a:r>
            <a:endParaRPr lang="zh-CN" altLang="en-US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52"/>
            </p:custDataLst>
          </p:nvPr>
        </p:nvSpPr>
        <p:spPr>
          <a:xfrm>
            <a:off x="4501515" y="56362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3333" t="-7143" r="-3333" b="-7143"/>
          <a:stretch>
            <a:fillRect/>
          </a:stretch>
        </p:blipFill>
        <p:spPr>
          <a:xfrm>
            <a:off x="4558665" y="5693410"/>
            <a:ext cx="15240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6"/>
            </p:custDataLst>
          </p:nvPr>
        </p:nvSpPr>
        <p:spPr>
          <a:xfrm>
            <a:off x="4844805" y="5480685"/>
            <a:ext cx="273978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效果：</a:t>
            </a:r>
            <a:r>
              <a:rPr 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赛分存量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14→184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，影石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2→65</a:t>
            </a:r>
            <a:endParaRPr lang="en-US" altLang="zh-CN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7"/>
            </p:custDataLst>
          </p:nvPr>
        </p:nvSpPr>
        <p:spPr>
          <a:xfrm>
            <a:off x="8036560" y="1109345"/>
            <a:ext cx="3578860" cy="5362575"/>
          </a:xfrm>
          <a:custGeom>
            <a:avLst/>
            <a:gdLst>
              <a:gd name="sw" fmla="*/ 1 w 5635"/>
              <a:gd name="sh" fmla="*/ 1 h 8445"/>
              <a:gd name="mins" fmla="min sw sh"/>
              <a:gd name="dsw" fmla="+- 0 sw mins"/>
              <a:gd name="dsh" fmla="+- 0 sh mins"/>
              <a:gd name="p0x0" fmla="*/ 120 w 5635"/>
              <a:gd name="p0y0" fmla="*/ 0 h 8445"/>
              <a:gd name="p0x1" fmla="*/ 5515 w 5635"/>
              <a:gd name="p0y1" fmla="*/ 0 h 8445"/>
              <a:gd name="p0x2" fmla="*/ 5582 w 5635"/>
              <a:gd name="p0y2" fmla="*/ 0 h 8445"/>
              <a:gd name="p0x3" fmla="*/ 5635 w 5635"/>
              <a:gd name="p0y3" fmla="*/ 53 h 8445"/>
              <a:gd name="p0x4" fmla="*/ 5635 w 5635"/>
              <a:gd name="p0y4" fmla="*/ 120 h 8445"/>
              <a:gd name="p0x5" fmla="*/ 5635 w 5635"/>
              <a:gd name="p0y5" fmla="*/ 8325 h 8445"/>
              <a:gd name="p0x6" fmla="*/ 5635 w 5635"/>
              <a:gd name="p0y6" fmla="*/ 8391 h 8445"/>
              <a:gd name="p0x7" fmla="*/ 5582 w 5635"/>
              <a:gd name="p0y7" fmla="*/ 8445 h 8445"/>
              <a:gd name="p0x8" fmla="*/ 5515 w 5635"/>
              <a:gd name="p0y8" fmla="*/ 8445 h 8445"/>
              <a:gd name="p0x9" fmla="*/ 120 w 5635"/>
              <a:gd name="p0y9" fmla="*/ 8445 h 8445"/>
              <a:gd name="p0x10" fmla="*/ 53 w 5635"/>
              <a:gd name="p0y10" fmla="*/ 8445 h 8445"/>
              <a:gd name="p0x11" fmla="*/ 0 w 5635"/>
              <a:gd name="p0y11" fmla="*/ 8391 h 8445"/>
              <a:gd name="p0x12" fmla="*/ 0 w 5635"/>
              <a:gd name="p0y12" fmla="*/ 8325 h 8445"/>
              <a:gd name="p0x13" fmla="*/ 0 w 5635"/>
              <a:gd name="p0y13" fmla="*/ 120 h 8445"/>
              <a:gd name="p0x14" fmla="*/ 0 w 5635"/>
              <a:gd name="p0y14" fmla="*/ 53 h 8445"/>
              <a:gd name="p0x15" fmla="*/ 53 w 5635"/>
              <a:gd name="p0y15" fmla="*/ 0 h 8445"/>
              <a:gd name="p0x16" fmla="*/ 120 w 563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8"/>
            </p:custDataLst>
          </p:nvPr>
        </p:nvSpPr>
        <p:spPr>
          <a:xfrm>
            <a:off x="8232140" y="1304925"/>
            <a:ext cx="399415" cy="276225"/>
          </a:xfrm>
          <a:custGeom>
            <a:avLst/>
            <a:gdLst>
              <a:gd name="sw" fmla="*/ 1 w 629"/>
              <a:gd name="sh" fmla="*/ 1 h 435"/>
              <a:gd name="mins" fmla="min sw sh"/>
              <a:gd name="dsw" fmla="+- 0 sw mins"/>
              <a:gd name="dsh" fmla="+- 0 sh mins"/>
              <a:gd name="p0x0" fmla="*/ 60 w 629"/>
              <a:gd name="p0y0" fmla="*/ 0 h 435"/>
              <a:gd name="p0x1" fmla="*/ 569 w 629"/>
              <a:gd name="p0y1" fmla="*/ 0 h 435"/>
              <a:gd name="p0x2" fmla="*/ 602 w 629"/>
              <a:gd name="p0y2" fmla="*/ 0 h 435"/>
              <a:gd name="p0x3" fmla="*/ 629 w 629"/>
              <a:gd name="p0y3" fmla="*/ 26 h 435"/>
              <a:gd name="p0x4" fmla="*/ 629 w 629"/>
              <a:gd name="p0y4" fmla="*/ 60 h 435"/>
              <a:gd name="p0x5" fmla="*/ 629 w 629"/>
              <a:gd name="p0y5" fmla="*/ 375 h 435"/>
              <a:gd name="p0x6" fmla="*/ 629 w 629"/>
              <a:gd name="p0y6" fmla="*/ 408 h 435"/>
              <a:gd name="p0x7" fmla="*/ 602 w 629"/>
              <a:gd name="p0y7" fmla="*/ 435 h 435"/>
              <a:gd name="p0x8" fmla="*/ 569 w 629"/>
              <a:gd name="p0y8" fmla="*/ 435 h 435"/>
              <a:gd name="p0x9" fmla="*/ 60 w 629"/>
              <a:gd name="p0y9" fmla="*/ 435 h 435"/>
              <a:gd name="p0x10" fmla="*/ 26 w 629"/>
              <a:gd name="p0y10" fmla="*/ 435 h 435"/>
              <a:gd name="p0x11" fmla="*/ 0 w 629"/>
              <a:gd name="p0y11" fmla="*/ 408 h 435"/>
              <a:gd name="p0x12" fmla="*/ 0 w 629"/>
              <a:gd name="p0y12" fmla="*/ 375 h 435"/>
              <a:gd name="p0x13" fmla="*/ 0 w 629"/>
              <a:gd name="p0y13" fmla="*/ 60 h 435"/>
              <a:gd name="p0x14" fmla="*/ 0 w 629"/>
              <a:gd name="p0y14" fmla="*/ 26 h 435"/>
              <a:gd name="p0x15" fmla="*/ 26 w 629"/>
              <a:gd name="p0y15" fmla="*/ 0 h 435"/>
              <a:gd name="p0x16" fmla="*/ 60 w 62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8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59"/>
            </p:custDataLst>
          </p:nvPr>
        </p:nvSpPr>
        <p:spPr>
          <a:xfrm>
            <a:off x="8308477" y="1343025"/>
            <a:ext cx="3998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</a:t>
            </a:r>
            <a:r>
              <a:rPr lang="en-US" altLang="zh-CN" sz="120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1200" b="1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60"/>
            </p:custDataLst>
          </p:nvPr>
        </p:nvSpPr>
        <p:spPr>
          <a:xfrm>
            <a:off x="8708374" y="1343025"/>
            <a:ext cx="9080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输出截断</a:t>
            </a:r>
            <a:endParaRPr lang="zh-CN"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61"/>
            </p:custDataLst>
          </p:nvPr>
        </p:nvSpPr>
        <p:spPr>
          <a:xfrm>
            <a:off x="8232277" y="1679258"/>
            <a:ext cx="31881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</a:t>
            </a:r>
            <a:r>
              <a:rPr lang="en-US" altLang="zh-CN"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62"/>
            </p:custDataLst>
          </p:nvPr>
        </p:nvSpPr>
        <p:spPr>
          <a:xfrm>
            <a:off x="8232140" y="29362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 l="-3333" r="-3333"/>
          <a:stretch>
            <a:fillRect/>
          </a:stretch>
        </p:blipFill>
        <p:spPr>
          <a:xfrm>
            <a:off x="8289290" y="2993390"/>
            <a:ext cx="15240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66"/>
            </p:custDataLst>
          </p:nvPr>
        </p:nvSpPr>
        <p:spPr>
          <a:xfrm>
            <a:off x="8575177" y="2643206"/>
            <a:ext cx="2845298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赛分存量太大，单次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24576 tokens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被腰斩。认缴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条全为同一认购方</a:t>
            </a:r>
            <a:endParaRPr lang="zh-CN" altLang="en-US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67"/>
            </p:custDataLst>
          </p:nvPr>
        </p:nvSpPr>
        <p:spPr>
          <a:xfrm>
            <a:off x="8232140" y="4213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>
            <a:fillRect/>
          </a:stretch>
        </p:blipFill>
        <p:spPr>
          <a:xfrm>
            <a:off x="8289290" y="4270375"/>
            <a:ext cx="152400" cy="15240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71"/>
            </p:custDataLst>
          </p:nvPr>
        </p:nvSpPr>
        <p:spPr>
          <a:xfrm>
            <a:off x="8575177" y="4057593"/>
            <a:ext cx="286099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 b="1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解法：</a:t>
            </a:r>
            <a:r>
              <a:rPr 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分轮调用（认缴和存量分开两次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请求）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同认购方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同日期去重</a:t>
            </a:r>
            <a:endParaRPr lang="zh-CN" altLang="en-US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72"/>
            </p:custDataLst>
          </p:nvPr>
        </p:nvSpPr>
        <p:spPr>
          <a:xfrm>
            <a:off x="8232140" y="53536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4545" t="-7143" r="-4545" b="-7143"/>
          <a:stretch>
            <a:fillRect/>
          </a:stretch>
        </p:blipFill>
        <p:spPr>
          <a:xfrm>
            <a:off x="8308340" y="5410835"/>
            <a:ext cx="114300" cy="15240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76"/>
            </p:custDataLst>
          </p:nvPr>
        </p:nvSpPr>
        <p:spPr>
          <a:xfrm>
            <a:off x="8575177" y="5197688"/>
            <a:ext cx="284529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 b="1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效果：</a:t>
            </a:r>
            <a:r>
              <a:rPr 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认缴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+184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存量，零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零重复</a:t>
            </a:r>
            <a:endParaRPr lang="zh-CN" altLang="en-US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对照第三周检查报告，当前存在的四个问题</a:t>
            </a:r>
            <a:endParaRPr sz="2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012825"/>
            <a:ext cx="2590800" cy="818515"/>
          </a:xfrm>
          <a:custGeom>
            <a:avLst/>
            <a:gdLst>
              <a:gd name="sw" fmla="*/ 1 w 4080"/>
              <a:gd name="sh" fmla="*/ 1 h 1288"/>
              <a:gd name="mins" fmla="min sw sh"/>
              <a:gd name="dsw" fmla="+- 0 sw mins"/>
              <a:gd name="dsh" fmla="+- 0 sh mins"/>
              <a:gd name="p0x0" fmla="*/ 120 w 4080"/>
              <a:gd name="p0y0" fmla="*/ 0 h 1288"/>
              <a:gd name="p0x1" fmla="*/ 3960 w 4080"/>
              <a:gd name="p0y1" fmla="*/ 0 h 1288"/>
              <a:gd name="p0x2" fmla="*/ 4026 w 4080"/>
              <a:gd name="p0y2" fmla="*/ 0 h 1288"/>
              <a:gd name="p0x3" fmla="*/ 4080 w 4080"/>
              <a:gd name="p0y3" fmla="*/ 53 h 1288"/>
              <a:gd name="p0x4" fmla="*/ 4080 w 4080"/>
              <a:gd name="p0y4" fmla="*/ 120 h 1288"/>
              <a:gd name="p0x5" fmla="*/ 4080 w 4080"/>
              <a:gd name="p0y5" fmla="*/ 1168 h 1288"/>
              <a:gd name="p0x6" fmla="*/ 4080 w 4080"/>
              <a:gd name="p0y6" fmla="*/ 1234 h 1288"/>
              <a:gd name="p0x7" fmla="*/ 4026 w 4080"/>
              <a:gd name="p0y7" fmla="*/ 1288 h 1288"/>
              <a:gd name="p0x8" fmla="*/ 3960 w 4080"/>
              <a:gd name="p0y8" fmla="*/ 1288 h 1288"/>
              <a:gd name="p0x9" fmla="*/ 120 w 4080"/>
              <a:gd name="p0y9" fmla="*/ 1288 h 1288"/>
              <a:gd name="p0x10" fmla="*/ 53 w 4080"/>
              <a:gd name="p0y10" fmla="*/ 1288 h 1288"/>
              <a:gd name="p0x11" fmla="*/ 0 w 4080"/>
              <a:gd name="p0y11" fmla="*/ 1234 h 1288"/>
              <a:gd name="p0x12" fmla="*/ 0 w 4080"/>
              <a:gd name="p0y12" fmla="*/ 1168 h 1288"/>
              <a:gd name="p0x13" fmla="*/ 0 w 4080"/>
              <a:gd name="p0y13" fmla="*/ 120 h 1288"/>
              <a:gd name="p0x14" fmla="*/ 0 w 4080"/>
              <a:gd name="p0y14" fmla="*/ 53 h 1288"/>
              <a:gd name="p0x15" fmla="*/ 53 w 4080"/>
              <a:gd name="p0y15" fmla="*/ 0 h 1288"/>
              <a:gd name="p0x16" fmla="*/ 120 w 4080"/>
              <a:gd name="p0y16" fmla="*/ 0 h 128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8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47700" y="1077258"/>
            <a:ext cx="243840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gold</a:t>
            </a: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混在一起</a:t>
            </a:r>
            <a:endParaRPr lang="zh-CN" altLang="en-US" sz="1050" b="1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47700" y="1247261"/>
            <a:ext cx="2438400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"teacher_gold</a:t>
            </a:r>
            <a:r>
              <a:rPr lang="zh-CN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manual_gold</a:t>
            </a:r>
            <a:r>
              <a:rPr lang="zh-CN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toc_located</a:t>
            </a:r>
            <a:r>
              <a:rPr lang="zh-CN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r>
              <a:rPr lang="zh-CN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混在一起，外部无法判断哪些是人工确认的</a:t>
            </a:r>
            <a:r>
              <a:rPr lang="en-US" altLang="zh-CN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5"/>
            </p:custDataLst>
          </p:nvPr>
        </p:nvSpPr>
        <p:spPr>
          <a:xfrm>
            <a:off x="3390900" y="1012825"/>
            <a:ext cx="2590800" cy="798195"/>
          </a:xfrm>
          <a:custGeom>
            <a:avLst/>
            <a:gdLst>
              <a:gd name="sw" fmla="*/ 1 w 4080"/>
              <a:gd name="sh" fmla="*/ 1 h 1256"/>
              <a:gd name="mins" fmla="min sw sh"/>
              <a:gd name="dsw" fmla="+- 0 sw mins"/>
              <a:gd name="dsh" fmla="+- 0 sh mins"/>
              <a:gd name="p0x0" fmla="*/ 120 w 4080"/>
              <a:gd name="p0y0" fmla="*/ 0 h 1256"/>
              <a:gd name="p0x1" fmla="*/ 3960 w 4080"/>
              <a:gd name="p0y1" fmla="*/ 0 h 1256"/>
              <a:gd name="p0x2" fmla="*/ 4026 w 4080"/>
              <a:gd name="p0y2" fmla="*/ 0 h 1256"/>
              <a:gd name="p0x3" fmla="*/ 4080 w 4080"/>
              <a:gd name="p0y3" fmla="*/ 53 h 1256"/>
              <a:gd name="p0x4" fmla="*/ 4080 w 4080"/>
              <a:gd name="p0y4" fmla="*/ 120 h 1256"/>
              <a:gd name="p0x5" fmla="*/ 4080 w 4080"/>
              <a:gd name="p0y5" fmla="*/ 1136 h 1256"/>
              <a:gd name="p0x6" fmla="*/ 4080 w 4080"/>
              <a:gd name="p0y6" fmla="*/ 1203 h 1256"/>
              <a:gd name="p0x7" fmla="*/ 4026 w 4080"/>
              <a:gd name="p0y7" fmla="*/ 1256 h 1256"/>
              <a:gd name="p0x8" fmla="*/ 3960 w 4080"/>
              <a:gd name="p0y8" fmla="*/ 1256 h 1256"/>
              <a:gd name="p0x9" fmla="*/ 120 w 4080"/>
              <a:gd name="p0y9" fmla="*/ 1256 h 1256"/>
              <a:gd name="p0x10" fmla="*/ 53 w 4080"/>
              <a:gd name="p0y10" fmla="*/ 1256 h 1256"/>
              <a:gd name="p0x11" fmla="*/ 0 w 4080"/>
              <a:gd name="p0y11" fmla="*/ 1203 h 1256"/>
              <a:gd name="p0x12" fmla="*/ 0 w 4080"/>
              <a:gd name="p0y12" fmla="*/ 1136 h 1256"/>
              <a:gd name="p0x13" fmla="*/ 0 w 4080"/>
              <a:gd name="p0y13" fmla="*/ 120 h 1256"/>
              <a:gd name="p0x14" fmla="*/ 0 w 4080"/>
              <a:gd name="p0y14" fmla="*/ 53 h 1256"/>
              <a:gd name="p0x15" fmla="*/ 53 w 4080"/>
              <a:gd name="p0y15" fmla="*/ 0 h 1256"/>
              <a:gd name="p0x16" fmla="*/ 120 w 4080"/>
              <a:gd name="p0y16" fmla="*/ 0 h 125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8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3467100" y="1077258"/>
            <a:ext cx="2438400" cy="3095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：三协电机、黄山谷捷、星图测控存在口径差异</a:t>
            </a:r>
            <a:endParaRPr lang="zh-CN" altLang="en-US" sz="1050" b="1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3467100" y="1393936"/>
            <a:ext cx="2438400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这些争议项应成为下一步回</a:t>
            </a:r>
            <a:r>
              <a:rPr lang="en-US" altLang="zh-CN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修正的重点</a:t>
            </a:r>
            <a:r>
              <a:rPr lang="en-US" altLang="zh-CN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8"/>
            </p:custDataLst>
          </p:nvPr>
        </p:nvSpPr>
        <p:spPr>
          <a:xfrm>
            <a:off x="6210300" y="1012825"/>
            <a:ext cx="2590800" cy="651510"/>
          </a:xfrm>
          <a:custGeom>
            <a:avLst/>
            <a:gdLst>
              <a:gd name="sw" fmla="*/ 1 w 4080"/>
              <a:gd name="sh" fmla="*/ 1 h 1025"/>
              <a:gd name="mins" fmla="min sw sh"/>
              <a:gd name="dsw" fmla="+- 0 sw mins"/>
              <a:gd name="dsh" fmla="+- 0 sh mins"/>
              <a:gd name="p0x0" fmla="*/ 120 w 4080"/>
              <a:gd name="p0y0" fmla="*/ 0 h 1025"/>
              <a:gd name="p0x1" fmla="*/ 3960 w 4080"/>
              <a:gd name="p0y1" fmla="*/ 0 h 1025"/>
              <a:gd name="p0x2" fmla="*/ 4026 w 4080"/>
              <a:gd name="p0y2" fmla="*/ 0 h 1025"/>
              <a:gd name="p0x3" fmla="*/ 4080 w 4080"/>
              <a:gd name="p0y3" fmla="*/ 53 h 1025"/>
              <a:gd name="p0x4" fmla="*/ 4080 w 4080"/>
              <a:gd name="p0y4" fmla="*/ 120 h 1025"/>
              <a:gd name="p0x5" fmla="*/ 4080 w 4080"/>
              <a:gd name="p0y5" fmla="*/ 905 h 1025"/>
              <a:gd name="p0x6" fmla="*/ 4080 w 4080"/>
              <a:gd name="p0y6" fmla="*/ 972 h 1025"/>
              <a:gd name="p0x7" fmla="*/ 4026 w 4080"/>
              <a:gd name="p0y7" fmla="*/ 1025 h 1025"/>
              <a:gd name="p0x8" fmla="*/ 3960 w 4080"/>
              <a:gd name="p0y8" fmla="*/ 1025 h 1025"/>
              <a:gd name="p0x9" fmla="*/ 120 w 4080"/>
              <a:gd name="p0y9" fmla="*/ 1025 h 1025"/>
              <a:gd name="p0x10" fmla="*/ 53 w 4080"/>
              <a:gd name="p0y10" fmla="*/ 1025 h 1025"/>
              <a:gd name="p0x11" fmla="*/ 0 w 4080"/>
              <a:gd name="p0y11" fmla="*/ 972 h 1025"/>
              <a:gd name="p0x12" fmla="*/ 0 w 4080"/>
              <a:gd name="p0y12" fmla="*/ 905 h 1025"/>
              <a:gd name="p0x13" fmla="*/ 0 w 4080"/>
              <a:gd name="p0y13" fmla="*/ 120 h 1025"/>
              <a:gd name="p0x14" fmla="*/ 0 w 4080"/>
              <a:gd name="p0y14" fmla="*/ 53 h 1025"/>
              <a:gd name="p0x15" fmla="*/ 53 w 4080"/>
              <a:gd name="p0y15" fmla="*/ 0 h 1025"/>
              <a:gd name="p0x16" fmla="*/ 120 w 4080"/>
              <a:gd name="p0y16" fmla="*/ 0 h 1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8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9"/>
            </p:custDataLst>
          </p:nvPr>
        </p:nvSpPr>
        <p:spPr>
          <a:xfrm>
            <a:off x="6286500" y="1077258"/>
            <a:ext cx="243840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：自动化流程复现链条不清</a:t>
            </a:r>
            <a:endParaRPr lang="zh-CN" altLang="en-US" sz="1050" b="1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0"/>
            </p:custDataLst>
          </p:nvPr>
        </p:nvSpPr>
        <p:spPr>
          <a:xfrm>
            <a:off x="6286500" y="1247261"/>
            <a:ext cx="2438400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没有独立</a:t>
            </a:r>
            <a:r>
              <a:rPr lang="en-US" altLang="zh-CN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Week3 auto output</a:t>
            </a:r>
            <a:r>
              <a:rPr lang="zh-CN" altLang="en-US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，自动化能力无法被复核</a:t>
            </a:r>
            <a:r>
              <a:rPr lang="en-US" altLang="zh-CN" sz="1050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11"/>
            </p:custDataLst>
          </p:nvPr>
        </p:nvSpPr>
        <p:spPr>
          <a:xfrm>
            <a:off x="9029700" y="1012825"/>
            <a:ext cx="2590800" cy="299085"/>
          </a:xfrm>
          <a:custGeom>
            <a:avLst/>
            <a:gdLst>
              <a:gd name="sw" fmla="*/ 1 w 4080"/>
              <a:gd name="sh" fmla="*/ 1 h 470"/>
              <a:gd name="mins" fmla="min sw sh"/>
              <a:gd name="dsw" fmla="+- 0 sw mins"/>
              <a:gd name="dsh" fmla="+- 0 sh mins"/>
              <a:gd name="p0x0" fmla="*/ 120 w 4080"/>
              <a:gd name="p0y0" fmla="*/ 0 h 470"/>
              <a:gd name="p0x1" fmla="*/ 3960 w 4080"/>
              <a:gd name="p0y1" fmla="*/ 0 h 470"/>
              <a:gd name="p0x2" fmla="*/ 4026 w 4080"/>
              <a:gd name="p0y2" fmla="*/ 0 h 470"/>
              <a:gd name="p0x3" fmla="*/ 4080 w 4080"/>
              <a:gd name="p0y3" fmla="*/ 53 h 470"/>
              <a:gd name="p0x4" fmla="*/ 4080 w 4080"/>
              <a:gd name="p0y4" fmla="*/ 120 h 470"/>
              <a:gd name="p0x5" fmla="*/ 4080 w 4080"/>
              <a:gd name="p0y5" fmla="*/ 350 h 470"/>
              <a:gd name="p0x6" fmla="*/ 4080 w 4080"/>
              <a:gd name="p0y6" fmla="*/ 417 h 470"/>
              <a:gd name="p0x7" fmla="*/ 4026 w 4080"/>
              <a:gd name="p0y7" fmla="*/ 470 h 470"/>
              <a:gd name="p0x8" fmla="*/ 3960 w 4080"/>
              <a:gd name="p0y8" fmla="*/ 470 h 470"/>
              <a:gd name="p0x9" fmla="*/ 120 w 4080"/>
              <a:gd name="p0y9" fmla="*/ 470 h 470"/>
              <a:gd name="p0x10" fmla="*/ 53 w 4080"/>
              <a:gd name="p0y10" fmla="*/ 470 h 470"/>
              <a:gd name="p0x11" fmla="*/ 0 w 4080"/>
              <a:gd name="p0y11" fmla="*/ 417 h 470"/>
              <a:gd name="p0x12" fmla="*/ 0 w 4080"/>
              <a:gd name="p0y12" fmla="*/ 350 h 470"/>
              <a:gd name="p0x13" fmla="*/ 0 w 4080"/>
              <a:gd name="p0y13" fmla="*/ 120 h 470"/>
              <a:gd name="p0x14" fmla="*/ 0 w 4080"/>
              <a:gd name="p0y14" fmla="*/ 53 h 470"/>
              <a:gd name="p0x15" fmla="*/ 53 w 4080"/>
              <a:gd name="p0y15" fmla="*/ 0 h 470"/>
              <a:gd name="p0x16" fmla="*/ 120 w 4080"/>
              <a:gd name="p0y16" fmla="*/ 0 h 4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8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12"/>
            </p:custDataLst>
          </p:nvPr>
        </p:nvSpPr>
        <p:spPr>
          <a:xfrm>
            <a:off x="9105900" y="1077258"/>
            <a:ext cx="243840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050" b="1">
                <a:solidFill>
                  <a:srgbClr val="6E2A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：穿越黑箱了吗？</a:t>
            </a:r>
            <a:endParaRPr lang="zh-CN" altLang="en-US" sz="1050" b="1">
              <a:solidFill>
                <a:srgbClr val="6E2A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3"/>
            </p:custDataLst>
          </p:nvPr>
        </p:nvSpPr>
        <p:spPr>
          <a:xfrm>
            <a:off x="575945" y="2026285"/>
            <a:ext cx="2581275" cy="4445635"/>
          </a:xfrm>
          <a:custGeom>
            <a:avLst/>
            <a:gdLst>
              <a:gd name="sw" fmla="*/ 1 w 4065"/>
              <a:gd name="sh" fmla="*/ 1 h 7000"/>
              <a:gd name="mins" fmla="min sw sh"/>
              <a:gd name="dsw" fmla="+- 0 sw mins"/>
              <a:gd name="dsh" fmla="+- 0 sh mins"/>
              <a:gd name="p0x0" fmla="*/ 120 w 4065"/>
              <a:gd name="p0y0" fmla="*/ 0 h 7000"/>
              <a:gd name="p0x1" fmla="*/ 3945 w 4065"/>
              <a:gd name="p0y1" fmla="*/ 0 h 7000"/>
              <a:gd name="p0x2" fmla="*/ 4011 w 4065"/>
              <a:gd name="p0y2" fmla="*/ 0 h 7000"/>
              <a:gd name="p0x3" fmla="*/ 4065 w 4065"/>
              <a:gd name="p0y3" fmla="*/ 53 h 7000"/>
              <a:gd name="p0x4" fmla="*/ 4065 w 4065"/>
              <a:gd name="p0y4" fmla="*/ 120 h 7000"/>
              <a:gd name="p0x5" fmla="*/ 4065 w 4065"/>
              <a:gd name="p0y5" fmla="*/ 6880 h 7000"/>
              <a:gd name="p0x6" fmla="*/ 4065 w 4065"/>
              <a:gd name="p0y6" fmla="*/ 6946 h 7000"/>
              <a:gd name="p0x7" fmla="*/ 4011 w 4065"/>
              <a:gd name="p0y7" fmla="*/ 7000 h 7000"/>
              <a:gd name="p0x8" fmla="*/ 3945 w 4065"/>
              <a:gd name="p0y8" fmla="*/ 7000 h 7000"/>
              <a:gd name="p0x9" fmla="*/ 120 w 4065"/>
              <a:gd name="p0y9" fmla="*/ 7000 h 7000"/>
              <a:gd name="p0x10" fmla="*/ 53 w 4065"/>
              <a:gd name="p0y10" fmla="*/ 7000 h 7000"/>
              <a:gd name="p0x11" fmla="*/ 0 w 4065"/>
              <a:gd name="p0y11" fmla="*/ 6946 h 7000"/>
              <a:gd name="p0x12" fmla="*/ 0 w 4065"/>
              <a:gd name="p0y12" fmla="*/ 6880 h 7000"/>
              <a:gd name="p0x13" fmla="*/ 0 w 4065"/>
              <a:gd name="p0y13" fmla="*/ 120 h 7000"/>
              <a:gd name="p0x14" fmla="*/ 0 w 4065"/>
              <a:gd name="p0y14" fmla="*/ 53 h 7000"/>
              <a:gd name="p0x15" fmla="*/ 53 w 4065"/>
              <a:gd name="p0y15" fmla="*/ 0 h 7000"/>
              <a:gd name="p0x16" fmla="*/ 120 w 4065"/>
              <a:gd name="p0y16" fmla="*/ 0 h 70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4"/>
            </p:custDataLst>
          </p:nvPr>
        </p:nvSpPr>
        <p:spPr>
          <a:xfrm>
            <a:off x="771525" y="288798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795020" y="2907030"/>
            <a:ext cx="209550" cy="21399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8"/>
            </p:custDataLst>
          </p:nvPr>
        </p:nvSpPr>
        <p:spPr>
          <a:xfrm>
            <a:off x="1104900" y="2742895"/>
            <a:ext cx="18573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现状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9"/>
            </p:custDataLst>
          </p:nvPr>
        </p:nvSpPr>
        <p:spPr>
          <a:xfrm>
            <a:off x="1104900" y="2938158"/>
            <a:ext cx="185737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JSONL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里四种来源标记共存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20"/>
            </p:custDataLst>
          </p:nvPr>
        </p:nvSpPr>
        <p:spPr>
          <a:xfrm>
            <a:off x="771525" y="394462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795020" y="3963670"/>
            <a:ext cx="209550" cy="2139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24"/>
            </p:custDataLst>
          </p:nvPr>
        </p:nvSpPr>
        <p:spPr>
          <a:xfrm>
            <a:off x="1104900" y="3887534"/>
            <a:ext cx="174799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已做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5"/>
            </p:custDataLst>
          </p:nvPr>
        </p:nvSpPr>
        <p:spPr>
          <a:xfrm>
            <a:off x="1104900" y="4082796"/>
            <a:ext cx="188134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454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条记录标注了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6"/>
            </p:custDataLst>
          </p:nvPr>
        </p:nvSpPr>
        <p:spPr>
          <a:xfrm>
            <a:off x="771525" y="517715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381" t="-20208" r="-2381" b="-20208"/>
          <a:stretch>
            <a:fillRect/>
          </a:stretch>
        </p:blipFill>
        <p:spPr>
          <a:xfrm>
            <a:off x="795020" y="5196205"/>
            <a:ext cx="209550" cy="2139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30"/>
            </p:custDataLst>
          </p:nvPr>
        </p:nvSpPr>
        <p:spPr>
          <a:xfrm>
            <a:off x="1104900" y="4855959"/>
            <a:ext cx="18573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31"/>
            </p:custDataLst>
          </p:nvPr>
        </p:nvSpPr>
        <p:spPr>
          <a:xfrm>
            <a:off x="1104900" y="5051222"/>
            <a:ext cx="1857375" cy="704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建独立目录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——manual_gold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只放人工确认的，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auto_output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只放机器跑的，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comparison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放差异表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2"/>
            </p:custDataLst>
          </p:nvPr>
        </p:nvSpPr>
        <p:spPr>
          <a:xfrm>
            <a:off x="3395345" y="2006600"/>
            <a:ext cx="2581275" cy="4465320"/>
          </a:xfrm>
          <a:custGeom>
            <a:avLst/>
            <a:gdLst>
              <a:gd name="sw" fmla="*/ 1 w 4065"/>
              <a:gd name="sh" fmla="*/ 1 h 7032"/>
              <a:gd name="mins" fmla="min sw sh"/>
              <a:gd name="dsw" fmla="+- 0 sw mins"/>
              <a:gd name="dsh" fmla="+- 0 sh mins"/>
              <a:gd name="p0x0" fmla="*/ 120 w 4065"/>
              <a:gd name="p0y0" fmla="*/ 0 h 7032"/>
              <a:gd name="p0x1" fmla="*/ 3945 w 4065"/>
              <a:gd name="p0y1" fmla="*/ 0 h 7032"/>
              <a:gd name="p0x2" fmla="*/ 4011 w 4065"/>
              <a:gd name="p0y2" fmla="*/ 0 h 7032"/>
              <a:gd name="p0x3" fmla="*/ 4065 w 4065"/>
              <a:gd name="p0y3" fmla="*/ 53 h 7032"/>
              <a:gd name="p0x4" fmla="*/ 4065 w 4065"/>
              <a:gd name="p0y4" fmla="*/ 120 h 7032"/>
              <a:gd name="p0x5" fmla="*/ 4065 w 4065"/>
              <a:gd name="p0y5" fmla="*/ 6912 h 7032"/>
              <a:gd name="p0x6" fmla="*/ 4065 w 4065"/>
              <a:gd name="p0y6" fmla="*/ 6978 h 7032"/>
              <a:gd name="p0x7" fmla="*/ 4011 w 4065"/>
              <a:gd name="p0y7" fmla="*/ 7032 h 7032"/>
              <a:gd name="p0x8" fmla="*/ 3945 w 4065"/>
              <a:gd name="p0y8" fmla="*/ 7032 h 7032"/>
              <a:gd name="p0x9" fmla="*/ 120 w 4065"/>
              <a:gd name="p0y9" fmla="*/ 7032 h 7032"/>
              <a:gd name="p0x10" fmla="*/ 53 w 4065"/>
              <a:gd name="p0y10" fmla="*/ 7032 h 7032"/>
              <a:gd name="p0x11" fmla="*/ 0 w 4065"/>
              <a:gd name="p0y11" fmla="*/ 6978 h 7032"/>
              <a:gd name="p0x12" fmla="*/ 0 w 4065"/>
              <a:gd name="p0y12" fmla="*/ 6912 h 7032"/>
              <a:gd name="p0x13" fmla="*/ 0 w 4065"/>
              <a:gd name="p0y13" fmla="*/ 120 h 7032"/>
              <a:gd name="p0x14" fmla="*/ 0 w 4065"/>
              <a:gd name="p0y14" fmla="*/ 53 h 7032"/>
              <a:gd name="p0x15" fmla="*/ 53 w 4065"/>
              <a:gd name="p0y15" fmla="*/ 0 h 7032"/>
              <a:gd name="p0x16" fmla="*/ 120 w 4065"/>
              <a:gd name="p0y16" fmla="*/ 0 h 70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33"/>
            </p:custDataLst>
          </p:nvPr>
        </p:nvSpPr>
        <p:spPr>
          <a:xfrm>
            <a:off x="3590925" y="24879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t="-7143" b="-7143"/>
          <a:stretch>
            <a:fillRect/>
          </a:stretch>
        </p:blipFill>
        <p:spPr>
          <a:xfrm>
            <a:off x="3648075" y="2545080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7"/>
            </p:custDataLst>
          </p:nvPr>
        </p:nvSpPr>
        <p:spPr>
          <a:xfrm>
            <a:off x="3933825" y="2469356"/>
            <a:ext cx="1847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三协电机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8"/>
            </p:custDataLst>
          </p:nvPr>
        </p:nvSpPr>
        <p:spPr>
          <a:xfrm>
            <a:off x="3933825" y="2656523"/>
            <a:ext cx="1847850" cy="849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稳正景明和长泽创投各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265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万股是我们均分推算的，原文写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向稳正景明和长泽创投定向发行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530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万股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未明确各自认购量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9"/>
            </p:custDataLst>
          </p:nvPr>
        </p:nvSpPr>
        <p:spPr>
          <a:xfrm>
            <a:off x="3590925" y="38220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3648075" y="3879215"/>
            <a:ext cx="15240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3"/>
            </p:custDataLst>
          </p:nvPr>
        </p:nvSpPr>
        <p:spPr>
          <a:xfrm>
            <a:off x="3933825" y="3803371"/>
            <a:ext cx="1847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黄山谷捷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4"/>
            </p:custDataLst>
          </p:nvPr>
        </p:nvSpPr>
        <p:spPr>
          <a:xfrm>
            <a:off x="3933825" y="3990537"/>
            <a:ext cx="1847850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股权转让是出资额转让格式（有限责任公司特点），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三次尝试都抽不出来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5"/>
            </p:custDataLst>
          </p:nvPr>
        </p:nvSpPr>
        <p:spPr>
          <a:xfrm>
            <a:off x="3590925" y="48228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3648075" y="4879975"/>
            <a:ext cx="15240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9"/>
            </p:custDataLst>
          </p:nvPr>
        </p:nvSpPr>
        <p:spPr>
          <a:xfrm>
            <a:off x="3933825" y="4804020"/>
            <a:ext cx="1847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星图测控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50"/>
            </p:custDataLst>
          </p:nvPr>
        </p:nvSpPr>
        <p:spPr>
          <a:xfrm>
            <a:off x="3933825" y="4991186"/>
            <a:ext cx="1847850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中科星图持股比例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46.36%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已从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提取并人工核对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1"/>
            </p:custDataLst>
          </p:nvPr>
        </p:nvSpPr>
        <p:spPr>
          <a:xfrm>
            <a:off x="3590925" y="56565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9766" r="-9766"/>
          <a:stretch>
            <a:fillRect/>
          </a:stretch>
        </p:blipFill>
        <p:spPr>
          <a:xfrm>
            <a:off x="3638550" y="5713730"/>
            <a:ext cx="171450" cy="1524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5"/>
            </p:custDataLst>
          </p:nvPr>
        </p:nvSpPr>
        <p:spPr>
          <a:xfrm>
            <a:off x="3933825" y="5637981"/>
            <a:ext cx="147198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需回</a:t>
            </a:r>
            <a:r>
              <a:rPr lang="en-US" altLang="zh-CN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endParaRPr lang="zh-CN" altLang="en-US"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56"/>
            </p:custDataLst>
          </p:nvPr>
        </p:nvSpPr>
        <p:spPr>
          <a:xfrm>
            <a:off x="3933825" y="5833243"/>
            <a:ext cx="160533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需要回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原文逐项确认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7"/>
            </p:custDataLst>
          </p:nvPr>
        </p:nvSpPr>
        <p:spPr>
          <a:xfrm>
            <a:off x="6214745" y="1859915"/>
            <a:ext cx="2581275" cy="4612005"/>
          </a:xfrm>
          <a:custGeom>
            <a:avLst/>
            <a:gdLst>
              <a:gd name="sw" fmla="*/ 1 w 4065"/>
              <a:gd name="sh" fmla="*/ 1 h 7263"/>
              <a:gd name="mins" fmla="min sw sh"/>
              <a:gd name="dsw" fmla="+- 0 sw mins"/>
              <a:gd name="dsh" fmla="+- 0 sh mins"/>
              <a:gd name="p0x0" fmla="*/ 120 w 4065"/>
              <a:gd name="p0y0" fmla="*/ 0 h 7263"/>
              <a:gd name="p0x1" fmla="*/ 3945 w 4065"/>
              <a:gd name="p0y1" fmla="*/ 0 h 7263"/>
              <a:gd name="p0x2" fmla="*/ 4011 w 4065"/>
              <a:gd name="p0y2" fmla="*/ 0 h 7263"/>
              <a:gd name="p0x3" fmla="*/ 4065 w 4065"/>
              <a:gd name="p0y3" fmla="*/ 53 h 7263"/>
              <a:gd name="p0x4" fmla="*/ 4065 w 4065"/>
              <a:gd name="p0y4" fmla="*/ 120 h 7263"/>
              <a:gd name="p0x5" fmla="*/ 4065 w 4065"/>
              <a:gd name="p0y5" fmla="*/ 7143 h 7263"/>
              <a:gd name="p0x6" fmla="*/ 4065 w 4065"/>
              <a:gd name="p0y6" fmla="*/ 7209 h 7263"/>
              <a:gd name="p0x7" fmla="*/ 4011 w 4065"/>
              <a:gd name="p0y7" fmla="*/ 7263 h 7263"/>
              <a:gd name="p0x8" fmla="*/ 3945 w 4065"/>
              <a:gd name="p0y8" fmla="*/ 7263 h 7263"/>
              <a:gd name="p0x9" fmla="*/ 120 w 4065"/>
              <a:gd name="p0y9" fmla="*/ 7263 h 7263"/>
              <a:gd name="p0x10" fmla="*/ 53 w 4065"/>
              <a:gd name="p0y10" fmla="*/ 7263 h 7263"/>
              <a:gd name="p0x11" fmla="*/ 0 w 4065"/>
              <a:gd name="p0y11" fmla="*/ 7209 h 7263"/>
              <a:gd name="p0x12" fmla="*/ 0 w 4065"/>
              <a:gd name="p0y12" fmla="*/ 7143 h 7263"/>
              <a:gd name="p0x13" fmla="*/ 0 w 4065"/>
              <a:gd name="p0y13" fmla="*/ 120 h 7263"/>
              <a:gd name="p0x14" fmla="*/ 0 w 4065"/>
              <a:gd name="p0y14" fmla="*/ 53 h 7263"/>
              <a:gd name="p0x15" fmla="*/ 53 w 4065"/>
              <a:gd name="p0y15" fmla="*/ 0 h 7263"/>
              <a:gd name="p0x16" fmla="*/ 120 w 4065"/>
              <a:gd name="p0y16" fmla="*/ 0 h 726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58"/>
            </p:custDataLst>
          </p:nvPr>
        </p:nvSpPr>
        <p:spPr>
          <a:xfrm>
            <a:off x="6410325" y="276288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l="-8333" t="-12407" r="-8333" b="-12407"/>
          <a:stretch>
            <a:fillRect/>
          </a:stretch>
        </p:blipFill>
        <p:spPr>
          <a:xfrm>
            <a:off x="6471920" y="2781935"/>
            <a:ext cx="133350" cy="213995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2"/>
            </p:custDataLst>
          </p:nvPr>
        </p:nvSpPr>
        <p:spPr>
          <a:xfrm>
            <a:off x="6743700" y="2617880"/>
            <a:ext cx="18573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现状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63"/>
            </p:custDataLst>
          </p:nvPr>
        </p:nvSpPr>
        <p:spPr>
          <a:xfrm>
            <a:off x="6743700" y="2813142"/>
            <a:ext cx="185737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能生成文件，但不能一键从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跑到最终结果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64"/>
            </p:custDataLst>
          </p:nvPr>
        </p:nvSpPr>
        <p:spPr>
          <a:xfrm>
            <a:off x="6410325" y="394906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l="-1667" t="-3651" r="-1667" b="-3651"/>
          <a:stretch>
            <a:fillRect/>
          </a:stretch>
        </p:blipFill>
        <p:spPr>
          <a:xfrm>
            <a:off x="6459855" y="3968115"/>
            <a:ext cx="157480" cy="21463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68"/>
            </p:custDataLst>
          </p:nvPr>
        </p:nvSpPr>
        <p:spPr>
          <a:xfrm>
            <a:off x="6743700" y="3804190"/>
            <a:ext cx="18573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已做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69"/>
            </p:custDataLst>
          </p:nvPr>
        </p:nvSpPr>
        <p:spPr>
          <a:xfrm>
            <a:off x="6743700" y="3999452"/>
            <a:ext cx="185737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整理完整流水线文档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technical_summary.md</a:t>
            </a:r>
            <a:endParaRPr lang="en-US" altLang="zh-CN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70"/>
            </p:custDataLst>
          </p:nvPr>
        </p:nvSpPr>
        <p:spPr>
          <a:xfrm>
            <a:off x="6410325" y="522351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 l="-4074" t="-3651" r="-4074" b="-3651"/>
          <a:stretch>
            <a:fillRect/>
          </a:stretch>
        </p:blipFill>
        <p:spPr>
          <a:xfrm>
            <a:off x="6445885" y="5242560"/>
            <a:ext cx="185420" cy="21463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74"/>
            </p:custDataLst>
          </p:nvPr>
        </p:nvSpPr>
        <p:spPr>
          <a:xfrm>
            <a:off x="6743700" y="4990500"/>
            <a:ext cx="18573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75"/>
            </p:custDataLst>
          </p:nvPr>
        </p:nvSpPr>
        <p:spPr>
          <a:xfrm>
            <a:off x="6743700" y="5185763"/>
            <a:ext cx="1857375" cy="5286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流程拆成独立脚本，每步有输入输出和日志，校验失败自动生成复核任务</a:t>
            </a:r>
            <a:endParaRPr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76"/>
            </p:custDataLst>
          </p:nvPr>
        </p:nvSpPr>
        <p:spPr>
          <a:xfrm>
            <a:off x="9034145" y="1507490"/>
            <a:ext cx="2581275" cy="4964430"/>
          </a:xfrm>
          <a:custGeom>
            <a:avLst/>
            <a:gdLst>
              <a:gd name="sw" fmla="*/ 1 w 4065"/>
              <a:gd name="sh" fmla="*/ 1 h 7818"/>
              <a:gd name="mins" fmla="min sw sh"/>
              <a:gd name="dsw" fmla="+- 0 sw mins"/>
              <a:gd name="dsh" fmla="+- 0 sh mins"/>
              <a:gd name="p0x0" fmla="*/ 120 w 4065"/>
              <a:gd name="p0y0" fmla="*/ 0 h 7818"/>
              <a:gd name="p0x1" fmla="*/ 3945 w 4065"/>
              <a:gd name="p0y1" fmla="*/ 0 h 7818"/>
              <a:gd name="p0x2" fmla="*/ 4011 w 4065"/>
              <a:gd name="p0y2" fmla="*/ 0 h 7818"/>
              <a:gd name="p0x3" fmla="*/ 4065 w 4065"/>
              <a:gd name="p0y3" fmla="*/ 53 h 7818"/>
              <a:gd name="p0x4" fmla="*/ 4065 w 4065"/>
              <a:gd name="p0y4" fmla="*/ 120 h 7818"/>
              <a:gd name="p0x5" fmla="*/ 4065 w 4065"/>
              <a:gd name="p0y5" fmla="*/ 7698 h 7818"/>
              <a:gd name="p0x6" fmla="*/ 4065 w 4065"/>
              <a:gd name="p0y6" fmla="*/ 7764 h 7818"/>
              <a:gd name="p0x7" fmla="*/ 4011 w 4065"/>
              <a:gd name="p0y7" fmla="*/ 7818 h 7818"/>
              <a:gd name="p0x8" fmla="*/ 3945 w 4065"/>
              <a:gd name="p0y8" fmla="*/ 7818 h 7818"/>
              <a:gd name="p0x9" fmla="*/ 120 w 4065"/>
              <a:gd name="p0y9" fmla="*/ 7818 h 7818"/>
              <a:gd name="p0x10" fmla="*/ 53 w 4065"/>
              <a:gd name="p0y10" fmla="*/ 7818 h 7818"/>
              <a:gd name="p0x11" fmla="*/ 0 w 4065"/>
              <a:gd name="p0y11" fmla="*/ 7764 h 7818"/>
              <a:gd name="p0x12" fmla="*/ 0 w 4065"/>
              <a:gd name="p0y12" fmla="*/ 7698 h 7818"/>
              <a:gd name="p0x13" fmla="*/ 0 w 4065"/>
              <a:gd name="p0y13" fmla="*/ 120 h 7818"/>
              <a:gd name="p0x14" fmla="*/ 0 w 4065"/>
              <a:gd name="p0y14" fmla="*/ 53 h 7818"/>
              <a:gd name="p0x15" fmla="*/ 53 w 4065"/>
              <a:gd name="p0y15" fmla="*/ 0 h 7818"/>
              <a:gd name="p0x16" fmla="*/ 120 w 4065"/>
              <a:gd name="p0y16" fmla="*/ 0 h 781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>
            <p:custDataLst>
              <p:tags r:id="rId77"/>
            </p:custDataLst>
          </p:nvPr>
        </p:nvSpPr>
        <p:spPr>
          <a:xfrm>
            <a:off x="9229725" y="20237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>
            <a:fillRect/>
          </a:stretch>
        </p:blipFill>
        <p:spPr>
          <a:xfrm>
            <a:off x="9296400" y="2080895"/>
            <a:ext cx="133350" cy="152400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81"/>
            </p:custDataLst>
          </p:nvPr>
        </p:nvSpPr>
        <p:spPr>
          <a:xfrm>
            <a:off x="9572625" y="2005298"/>
            <a:ext cx="1847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汪老师评语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82"/>
            </p:custDataLst>
          </p:nvPr>
        </p:nvSpPr>
        <p:spPr>
          <a:xfrm>
            <a:off x="9572625" y="2192464"/>
            <a:ext cx="1847850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学生过度依赖大模型交互，陷入无效提问的恶性循环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83"/>
            </p:custDataLst>
          </p:nvPr>
        </p:nvSpPr>
        <p:spPr>
          <a:xfrm>
            <a:off x="9229725" y="28930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>
            <a:fillRect/>
          </a:stretch>
        </p:blipFill>
        <p:spPr>
          <a:xfrm>
            <a:off x="9305925" y="2950210"/>
            <a:ext cx="114300" cy="152400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87"/>
            </p:custDataLst>
          </p:nvPr>
        </p:nvSpPr>
        <p:spPr>
          <a:xfrm>
            <a:off x="9572625" y="2874312"/>
            <a:ext cx="1847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三周体会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88"/>
            </p:custDataLst>
          </p:nvPr>
        </p:nvSpPr>
        <p:spPr>
          <a:xfrm>
            <a:off x="9572625" y="3061478"/>
            <a:ext cx="1859604" cy="6829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调不出时，打开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看原文反而能立刻发现问题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表格在哪页、数字怎么写、为什么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没解析出来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89"/>
            </p:custDataLst>
          </p:nvPr>
        </p:nvSpPr>
        <p:spPr>
          <a:xfrm>
            <a:off x="9229725" y="40951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90"/>
            </p:custDataLst>
          </p:nvPr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>
            <a:fillRect/>
          </a:stretch>
        </p:blipFill>
        <p:spPr>
          <a:xfrm>
            <a:off x="9286875" y="4152265"/>
            <a:ext cx="152400" cy="152400"/>
          </a:xfrm>
          <a:prstGeom prst="rect">
            <a:avLst/>
          </a:prstGeom>
        </p:spPr>
      </p:pic>
      <p:sp>
        <p:nvSpPr>
          <p:cNvPr id="70" name="文本框 69"/>
          <p:cNvSpPr txBox="1"/>
          <p:nvPr>
            <p:custDataLst>
              <p:tags r:id="rId93"/>
            </p:custDataLst>
          </p:nvPr>
        </p:nvSpPr>
        <p:spPr>
          <a:xfrm>
            <a:off x="9572625" y="4076690"/>
            <a:ext cx="1847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三联锻造案例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94"/>
            </p:custDataLst>
          </p:nvPr>
        </p:nvSpPr>
        <p:spPr>
          <a:xfrm>
            <a:off x="9572625" y="4263857"/>
            <a:ext cx="1847850" cy="849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说只有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次增资，翻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页发现原文写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四次股权转让和四次增资详见申报文件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4-3"——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错了，是我没把附件上传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</a:t>
            </a:r>
            <a:endParaRPr lang="en-US" altLang="zh-CN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95"/>
            </p:custDataLst>
          </p:nvPr>
        </p:nvSpPr>
        <p:spPr>
          <a:xfrm>
            <a:off x="9229725" y="54648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3" name="图片 72"/>
          <p:cNvPicPr>
            <a:picLocks noChangeAspect="1"/>
          </p:cNvPicPr>
          <p:nvPr>
            <p:custDataLst>
              <p:tags r:id="rId96"/>
            </p:custDataLst>
          </p:nvPr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 l="-2941" r="-2941"/>
          <a:stretch>
            <a:fillRect/>
          </a:stretch>
        </p:blipFill>
        <p:spPr>
          <a:xfrm>
            <a:off x="9277350" y="5521960"/>
            <a:ext cx="171450" cy="152400"/>
          </a:xfrm>
          <a:prstGeom prst="rect">
            <a:avLst/>
          </a:prstGeom>
        </p:spPr>
      </p:pic>
      <p:sp>
        <p:nvSpPr>
          <p:cNvPr id="74" name="文本框 73"/>
          <p:cNvSpPr txBox="1"/>
          <p:nvPr>
            <p:custDataLst>
              <p:tags r:id="rId99"/>
            </p:custDataLst>
          </p:nvPr>
        </p:nvSpPr>
        <p:spPr>
          <a:xfrm>
            <a:off x="9572625" y="5445766"/>
            <a:ext cx="1847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核心反思</a:t>
            </a:r>
            <a:endParaRPr sz="10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100"/>
            </p:custDataLst>
          </p:nvPr>
        </p:nvSpPr>
        <p:spPr>
          <a:xfrm>
            <a:off x="9572625" y="5632933"/>
            <a:ext cx="1847850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技术工具是手段，理解</a:t>
            </a:r>
            <a:r>
              <a:rPr lang="en-US" altLang="zh-CN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0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原文才是基础</a:t>
            </a:r>
            <a:endParaRPr lang="zh-CN" altLang="en-US" sz="10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能跑通</a:t>
            </a:r>
            <a:r>
              <a:rPr lang="en-US" altLang="zh-CN"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能讲清</a:t>
            </a:r>
            <a:r>
              <a:rPr lang="en-US" altLang="zh-CN"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30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419725" cy="1133475"/>
          </a:xfrm>
          <a:custGeom>
            <a:avLst/>
            <a:gdLst>
              <a:gd name="sw" fmla="*/ 1 w 8535"/>
              <a:gd name="sh" fmla="*/ 1 h 1785"/>
              <a:gd name="mins" fmla="min sw sh"/>
              <a:gd name="dsw" fmla="+- 0 sw mins"/>
              <a:gd name="dsh" fmla="+- 0 sh mins"/>
              <a:gd name="p0x0" fmla="*/ 120 w 8535"/>
              <a:gd name="p0y0" fmla="*/ 0 h 1785"/>
              <a:gd name="p0x1" fmla="*/ 8415 w 8535"/>
              <a:gd name="p0y1" fmla="*/ 0 h 1785"/>
              <a:gd name="p0x2" fmla="*/ 8481 w 8535"/>
              <a:gd name="p0y2" fmla="*/ 0 h 1785"/>
              <a:gd name="p0x3" fmla="*/ 8535 w 8535"/>
              <a:gd name="p0y3" fmla="*/ 53 h 1785"/>
              <a:gd name="p0x4" fmla="*/ 8535 w 8535"/>
              <a:gd name="p0y4" fmla="*/ 120 h 1785"/>
              <a:gd name="p0x5" fmla="*/ 8535 w 8535"/>
              <a:gd name="p0y5" fmla="*/ 1665 h 1785"/>
              <a:gd name="p0x6" fmla="*/ 8535 w 8535"/>
              <a:gd name="p0y6" fmla="*/ 1731 h 1785"/>
              <a:gd name="p0x7" fmla="*/ 8481 w 8535"/>
              <a:gd name="p0y7" fmla="*/ 1785 h 1785"/>
              <a:gd name="p0x8" fmla="*/ 8415 w 8535"/>
              <a:gd name="p0y8" fmla="*/ 1785 h 1785"/>
              <a:gd name="p0x9" fmla="*/ 120 w 8535"/>
              <a:gd name="p0y9" fmla="*/ 1785 h 1785"/>
              <a:gd name="p0x10" fmla="*/ 53 w 8535"/>
              <a:gd name="p0y10" fmla="*/ 1785 h 1785"/>
              <a:gd name="p0x11" fmla="*/ 0 w 8535"/>
              <a:gd name="p0y11" fmla="*/ 1731 h 1785"/>
              <a:gd name="p0x12" fmla="*/ 0 w 8535"/>
              <a:gd name="p0y12" fmla="*/ 1665 h 1785"/>
              <a:gd name="p0x13" fmla="*/ 0 w 8535"/>
              <a:gd name="p0y13" fmla="*/ 120 h 1785"/>
              <a:gd name="p0x14" fmla="*/ 0 w 8535"/>
              <a:gd name="p0y14" fmla="*/ 53 h 1785"/>
              <a:gd name="p0x15" fmla="*/ 53 w 8535"/>
              <a:gd name="p0y15" fmla="*/ 0 h 1785"/>
              <a:gd name="p0x16" fmla="*/ 120 w 8535"/>
              <a:gd name="p0y16" fmla="*/ 0 h 17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4668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154749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43025" y="1243013"/>
            <a:ext cx="1905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30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343025" y="1766888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数据分层与质量提升项</a:t>
            </a:r>
            <a:endParaRPr sz="150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6195695" y="1109345"/>
            <a:ext cx="5419725" cy="1133475"/>
          </a:xfrm>
          <a:custGeom>
            <a:avLst/>
            <a:gdLst>
              <a:gd name="sw" fmla="*/ 1 w 8535"/>
              <a:gd name="sh" fmla="*/ 1 h 1785"/>
              <a:gd name="mins" fmla="min sw sh"/>
              <a:gd name="dsw" fmla="+- 0 sw mins"/>
              <a:gd name="dsh" fmla="+- 0 sh mins"/>
              <a:gd name="p0x0" fmla="*/ 120 w 8535"/>
              <a:gd name="p0y0" fmla="*/ 0 h 1785"/>
              <a:gd name="p0x1" fmla="*/ 8415 w 8535"/>
              <a:gd name="p0y1" fmla="*/ 0 h 1785"/>
              <a:gd name="p0x2" fmla="*/ 8481 w 8535"/>
              <a:gd name="p0y2" fmla="*/ 0 h 1785"/>
              <a:gd name="p0x3" fmla="*/ 8535 w 8535"/>
              <a:gd name="p0y3" fmla="*/ 53 h 1785"/>
              <a:gd name="p0x4" fmla="*/ 8535 w 8535"/>
              <a:gd name="p0y4" fmla="*/ 120 h 1785"/>
              <a:gd name="p0x5" fmla="*/ 8535 w 8535"/>
              <a:gd name="p0y5" fmla="*/ 1665 h 1785"/>
              <a:gd name="p0x6" fmla="*/ 8535 w 8535"/>
              <a:gd name="p0y6" fmla="*/ 1731 h 1785"/>
              <a:gd name="p0x7" fmla="*/ 8481 w 8535"/>
              <a:gd name="p0y7" fmla="*/ 1785 h 1785"/>
              <a:gd name="p0x8" fmla="*/ 8415 w 8535"/>
              <a:gd name="p0y8" fmla="*/ 1785 h 1785"/>
              <a:gd name="p0x9" fmla="*/ 120 w 8535"/>
              <a:gd name="p0y9" fmla="*/ 1785 h 1785"/>
              <a:gd name="p0x10" fmla="*/ 53 w 8535"/>
              <a:gd name="p0y10" fmla="*/ 1785 h 1785"/>
              <a:gd name="p0x11" fmla="*/ 0 w 8535"/>
              <a:gd name="p0y11" fmla="*/ 1731 h 1785"/>
              <a:gd name="p0x12" fmla="*/ 0 w 8535"/>
              <a:gd name="p0y12" fmla="*/ 1665 h 1785"/>
              <a:gd name="p0x13" fmla="*/ 0 w 8535"/>
              <a:gd name="p0y13" fmla="*/ 120 h 1785"/>
              <a:gd name="p0x14" fmla="*/ 0 w 8535"/>
              <a:gd name="p0y14" fmla="*/ 53 h 1785"/>
              <a:gd name="p0x15" fmla="*/ 53 w 8535"/>
              <a:gd name="p0y15" fmla="*/ 0 h 1785"/>
              <a:gd name="p0x16" fmla="*/ 120 w 8535"/>
              <a:gd name="p0y16" fmla="*/ 0 h 17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6391275" y="14668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11181" r="-11181"/>
          <a:stretch>
            <a:fillRect/>
          </a:stretch>
        </p:blipFill>
        <p:spPr>
          <a:xfrm>
            <a:off x="6445885" y="1547495"/>
            <a:ext cx="309245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6962775" y="1243013"/>
            <a:ext cx="1905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30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6962775" y="1766888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流程优化与能力沉淀项</a:t>
            </a:r>
            <a:endParaRPr sz="150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2442845"/>
            <a:ext cx="2047875" cy="4029075"/>
          </a:xfrm>
          <a:custGeom>
            <a:avLst/>
            <a:gdLst>
              <a:gd name="sw" fmla="*/ 1 w 3225"/>
              <a:gd name="sh" fmla="*/ 1 h 6345"/>
              <a:gd name="mins" fmla="min sw sh"/>
              <a:gd name="dsw" fmla="+- 0 sw mins"/>
              <a:gd name="dsh" fmla="+- 0 sh mins"/>
              <a:gd name="p0x0" fmla="*/ 120 w 3225"/>
              <a:gd name="p0y0" fmla="*/ 0 h 6345"/>
              <a:gd name="p0x1" fmla="*/ 3105 w 3225"/>
              <a:gd name="p0y1" fmla="*/ 0 h 6345"/>
              <a:gd name="p0x2" fmla="*/ 3171 w 3225"/>
              <a:gd name="p0y2" fmla="*/ 0 h 6345"/>
              <a:gd name="p0x3" fmla="*/ 3225 w 3225"/>
              <a:gd name="p0y3" fmla="*/ 53 h 6345"/>
              <a:gd name="p0x4" fmla="*/ 3225 w 3225"/>
              <a:gd name="p0y4" fmla="*/ 120 h 6345"/>
              <a:gd name="p0x5" fmla="*/ 3225 w 3225"/>
              <a:gd name="p0y5" fmla="*/ 6225 h 6345"/>
              <a:gd name="p0x6" fmla="*/ 3225 w 3225"/>
              <a:gd name="p0y6" fmla="*/ 6291 h 6345"/>
              <a:gd name="p0x7" fmla="*/ 3171 w 3225"/>
              <a:gd name="p0y7" fmla="*/ 6345 h 6345"/>
              <a:gd name="p0x8" fmla="*/ 3105 w 3225"/>
              <a:gd name="p0y8" fmla="*/ 6345 h 6345"/>
              <a:gd name="p0x9" fmla="*/ 120 w 3225"/>
              <a:gd name="p0y9" fmla="*/ 6345 h 6345"/>
              <a:gd name="p0x10" fmla="*/ 53 w 3225"/>
              <a:gd name="p0y10" fmla="*/ 6345 h 6345"/>
              <a:gd name="p0x11" fmla="*/ 0 w 3225"/>
              <a:gd name="p0y11" fmla="*/ 6291 h 6345"/>
              <a:gd name="p0x12" fmla="*/ 0 w 3225"/>
              <a:gd name="p0y12" fmla="*/ 6225 h 6345"/>
              <a:gd name="p0x13" fmla="*/ 0 w 3225"/>
              <a:gd name="p0y13" fmla="*/ 120 h 6345"/>
              <a:gd name="p0x14" fmla="*/ 0 w 3225"/>
              <a:gd name="p0y14" fmla="*/ 53 h 6345"/>
              <a:gd name="p0x15" fmla="*/ 53 w 3225"/>
              <a:gd name="p0y15" fmla="*/ 0 h 6345"/>
              <a:gd name="p0x16" fmla="*/ 120 w 3225"/>
              <a:gd name="p0y16" fmla="*/ 0 h 6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2638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840105" y="2719070"/>
            <a:ext cx="28130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771525" y="3156585"/>
            <a:ext cx="16573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gold/auto</a:t>
            </a:r>
            <a:r>
              <a:rPr lang="zh-CN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彻底分层</a:t>
            </a:r>
            <a:endParaRPr lang="zh-CN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771525" y="3842385"/>
            <a:ext cx="1657350" cy="16686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建立独立的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manual_gold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auto_output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comparison 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目录结构，实现数据源头清晰分离</a:t>
            </a:r>
            <a:endParaRPr lang="zh-CN" altLang="en-US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2823845" y="2442845"/>
            <a:ext cx="2047875" cy="4029075"/>
          </a:xfrm>
          <a:custGeom>
            <a:avLst/>
            <a:gdLst>
              <a:gd name="sw" fmla="*/ 1 w 3225"/>
              <a:gd name="sh" fmla="*/ 1 h 6345"/>
              <a:gd name="mins" fmla="min sw sh"/>
              <a:gd name="dsw" fmla="+- 0 sw mins"/>
              <a:gd name="dsh" fmla="+- 0 sh mins"/>
              <a:gd name="p0x0" fmla="*/ 120 w 3225"/>
              <a:gd name="p0y0" fmla="*/ 0 h 6345"/>
              <a:gd name="p0x1" fmla="*/ 3105 w 3225"/>
              <a:gd name="p0y1" fmla="*/ 0 h 6345"/>
              <a:gd name="p0x2" fmla="*/ 3171 w 3225"/>
              <a:gd name="p0y2" fmla="*/ 0 h 6345"/>
              <a:gd name="p0x3" fmla="*/ 3225 w 3225"/>
              <a:gd name="p0y3" fmla="*/ 53 h 6345"/>
              <a:gd name="p0x4" fmla="*/ 3225 w 3225"/>
              <a:gd name="p0y4" fmla="*/ 120 h 6345"/>
              <a:gd name="p0x5" fmla="*/ 3225 w 3225"/>
              <a:gd name="p0y5" fmla="*/ 6225 h 6345"/>
              <a:gd name="p0x6" fmla="*/ 3225 w 3225"/>
              <a:gd name="p0y6" fmla="*/ 6291 h 6345"/>
              <a:gd name="p0x7" fmla="*/ 3171 w 3225"/>
              <a:gd name="p0y7" fmla="*/ 6345 h 6345"/>
              <a:gd name="p0x8" fmla="*/ 3105 w 3225"/>
              <a:gd name="p0y8" fmla="*/ 6345 h 6345"/>
              <a:gd name="p0x9" fmla="*/ 120 w 3225"/>
              <a:gd name="p0y9" fmla="*/ 6345 h 6345"/>
              <a:gd name="p0x10" fmla="*/ 53 w 3225"/>
              <a:gd name="p0y10" fmla="*/ 6345 h 6345"/>
              <a:gd name="p0x11" fmla="*/ 0 w 3225"/>
              <a:gd name="p0y11" fmla="*/ 6291 h 6345"/>
              <a:gd name="p0x12" fmla="*/ 0 w 3225"/>
              <a:gd name="p0y12" fmla="*/ 6225 h 6345"/>
              <a:gd name="p0x13" fmla="*/ 0 w 3225"/>
              <a:gd name="p0y13" fmla="*/ 120 h 6345"/>
              <a:gd name="p0x14" fmla="*/ 0 w 3225"/>
              <a:gd name="p0y14" fmla="*/ 53 h 6345"/>
              <a:gd name="p0x15" fmla="*/ 53 w 3225"/>
              <a:gd name="p0y15" fmla="*/ 0 h 6345"/>
              <a:gd name="p0x16" fmla="*/ 120 w 3225"/>
              <a:gd name="p0y16" fmla="*/ 0 h 6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3019425" y="2638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7794" r="-7794"/>
          <a:stretch>
            <a:fillRect/>
          </a:stretch>
        </p:blipFill>
        <p:spPr>
          <a:xfrm>
            <a:off x="3088005" y="2719070"/>
            <a:ext cx="281305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3019425" y="3156585"/>
            <a:ext cx="16573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</a:t>
            </a:r>
            <a:r>
              <a:rPr lang="en-US" altLang="zh-CN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修正三协电机</a:t>
            </a:r>
            <a:endParaRPr lang="zh-CN" altLang="en-US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3019425" y="3842385"/>
            <a:ext cx="1657350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确认稳正景明和长泽创投各自的实际认购量，解决口径差异问题</a:t>
            </a:r>
            <a:endParaRPr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5071745" y="2442845"/>
            <a:ext cx="2047875" cy="4029075"/>
          </a:xfrm>
          <a:custGeom>
            <a:avLst/>
            <a:gdLst>
              <a:gd name="sw" fmla="*/ 1 w 3225"/>
              <a:gd name="sh" fmla="*/ 1 h 6345"/>
              <a:gd name="mins" fmla="min sw sh"/>
              <a:gd name="dsw" fmla="+- 0 sw mins"/>
              <a:gd name="dsh" fmla="+- 0 sh mins"/>
              <a:gd name="p0x0" fmla="*/ 120 w 3225"/>
              <a:gd name="p0y0" fmla="*/ 0 h 6345"/>
              <a:gd name="p0x1" fmla="*/ 3105 w 3225"/>
              <a:gd name="p0y1" fmla="*/ 0 h 6345"/>
              <a:gd name="p0x2" fmla="*/ 3171 w 3225"/>
              <a:gd name="p0y2" fmla="*/ 0 h 6345"/>
              <a:gd name="p0x3" fmla="*/ 3225 w 3225"/>
              <a:gd name="p0y3" fmla="*/ 53 h 6345"/>
              <a:gd name="p0x4" fmla="*/ 3225 w 3225"/>
              <a:gd name="p0y4" fmla="*/ 120 h 6345"/>
              <a:gd name="p0x5" fmla="*/ 3225 w 3225"/>
              <a:gd name="p0y5" fmla="*/ 6225 h 6345"/>
              <a:gd name="p0x6" fmla="*/ 3225 w 3225"/>
              <a:gd name="p0y6" fmla="*/ 6291 h 6345"/>
              <a:gd name="p0x7" fmla="*/ 3171 w 3225"/>
              <a:gd name="p0y7" fmla="*/ 6345 h 6345"/>
              <a:gd name="p0x8" fmla="*/ 3105 w 3225"/>
              <a:gd name="p0y8" fmla="*/ 6345 h 6345"/>
              <a:gd name="p0x9" fmla="*/ 120 w 3225"/>
              <a:gd name="p0y9" fmla="*/ 6345 h 6345"/>
              <a:gd name="p0x10" fmla="*/ 53 w 3225"/>
              <a:gd name="p0y10" fmla="*/ 6345 h 6345"/>
              <a:gd name="p0x11" fmla="*/ 0 w 3225"/>
              <a:gd name="p0y11" fmla="*/ 6291 h 6345"/>
              <a:gd name="p0x12" fmla="*/ 0 w 3225"/>
              <a:gd name="p0y12" fmla="*/ 6225 h 6345"/>
              <a:gd name="p0x13" fmla="*/ 0 w 3225"/>
              <a:gd name="p0y13" fmla="*/ 120 h 6345"/>
              <a:gd name="p0x14" fmla="*/ 0 w 3225"/>
              <a:gd name="p0y14" fmla="*/ 53 h 6345"/>
              <a:gd name="p0x15" fmla="*/ 53 w 3225"/>
              <a:gd name="p0y15" fmla="*/ 0 h 6345"/>
              <a:gd name="p0x16" fmla="*/ 120 w 3225"/>
              <a:gd name="p0y16" fmla="*/ 0 h 6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5267325" y="2638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353050" y="2719070"/>
            <a:ext cx="247650" cy="2527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5267325" y="3156585"/>
            <a:ext cx="16573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补齐黄山谷捷股权转让</a:t>
            </a:r>
            <a:endParaRPr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5267325" y="3842385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人工从</a:t>
            </a:r>
            <a:r>
              <a:rPr lang="en-US" altLang="zh-CN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逐条录入出资额转让记录，补全历史变更数据</a:t>
            </a:r>
            <a:endParaRPr lang="zh-CN" altLang="en-US"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7319645" y="2442845"/>
            <a:ext cx="2047875" cy="4029075"/>
          </a:xfrm>
          <a:custGeom>
            <a:avLst/>
            <a:gdLst>
              <a:gd name="sw" fmla="*/ 1 w 3225"/>
              <a:gd name="sh" fmla="*/ 1 h 6345"/>
              <a:gd name="mins" fmla="min sw sh"/>
              <a:gd name="dsw" fmla="+- 0 sw mins"/>
              <a:gd name="dsh" fmla="+- 0 sh mins"/>
              <a:gd name="p0x0" fmla="*/ 120 w 3225"/>
              <a:gd name="p0y0" fmla="*/ 0 h 6345"/>
              <a:gd name="p0x1" fmla="*/ 3105 w 3225"/>
              <a:gd name="p0y1" fmla="*/ 0 h 6345"/>
              <a:gd name="p0x2" fmla="*/ 3171 w 3225"/>
              <a:gd name="p0y2" fmla="*/ 0 h 6345"/>
              <a:gd name="p0x3" fmla="*/ 3225 w 3225"/>
              <a:gd name="p0y3" fmla="*/ 53 h 6345"/>
              <a:gd name="p0x4" fmla="*/ 3225 w 3225"/>
              <a:gd name="p0y4" fmla="*/ 120 h 6345"/>
              <a:gd name="p0x5" fmla="*/ 3225 w 3225"/>
              <a:gd name="p0y5" fmla="*/ 6225 h 6345"/>
              <a:gd name="p0x6" fmla="*/ 3225 w 3225"/>
              <a:gd name="p0y6" fmla="*/ 6291 h 6345"/>
              <a:gd name="p0x7" fmla="*/ 3171 w 3225"/>
              <a:gd name="p0y7" fmla="*/ 6345 h 6345"/>
              <a:gd name="p0x8" fmla="*/ 3105 w 3225"/>
              <a:gd name="p0y8" fmla="*/ 6345 h 6345"/>
              <a:gd name="p0x9" fmla="*/ 120 w 3225"/>
              <a:gd name="p0y9" fmla="*/ 6345 h 6345"/>
              <a:gd name="p0x10" fmla="*/ 53 w 3225"/>
              <a:gd name="p0y10" fmla="*/ 6345 h 6345"/>
              <a:gd name="p0x11" fmla="*/ 0 w 3225"/>
              <a:gd name="p0y11" fmla="*/ 6291 h 6345"/>
              <a:gd name="p0x12" fmla="*/ 0 w 3225"/>
              <a:gd name="p0y12" fmla="*/ 6225 h 6345"/>
              <a:gd name="p0x13" fmla="*/ 0 w 3225"/>
              <a:gd name="p0y13" fmla="*/ 120 h 6345"/>
              <a:gd name="p0x14" fmla="*/ 0 w 3225"/>
              <a:gd name="p0y14" fmla="*/ 53 h 6345"/>
              <a:gd name="p0x15" fmla="*/ 53 w 3225"/>
              <a:gd name="p0y15" fmla="*/ 0 h 6345"/>
              <a:gd name="p0x16" fmla="*/ 120 w 3225"/>
              <a:gd name="p0y16" fmla="*/ 0 h 6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7515225" y="2638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7583805" y="2719070"/>
            <a:ext cx="281305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7515225" y="315658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拆分为独立脚本</a:t>
            </a:r>
            <a:endParaRPr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7515225" y="3556635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把现有流程拆成独立脚本，每一步可单独运行、可复现</a:t>
            </a:r>
            <a:endParaRPr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9567545" y="2442845"/>
            <a:ext cx="2047875" cy="4029075"/>
          </a:xfrm>
          <a:custGeom>
            <a:avLst/>
            <a:gdLst>
              <a:gd name="sw" fmla="*/ 1 w 3225"/>
              <a:gd name="sh" fmla="*/ 1 h 6345"/>
              <a:gd name="mins" fmla="min sw sh"/>
              <a:gd name="dsw" fmla="+- 0 sw mins"/>
              <a:gd name="dsh" fmla="+- 0 sh mins"/>
              <a:gd name="p0x0" fmla="*/ 120 w 3225"/>
              <a:gd name="p0y0" fmla="*/ 0 h 6345"/>
              <a:gd name="p0x1" fmla="*/ 3105 w 3225"/>
              <a:gd name="p0y1" fmla="*/ 0 h 6345"/>
              <a:gd name="p0x2" fmla="*/ 3171 w 3225"/>
              <a:gd name="p0y2" fmla="*/ 0 h 6345"/>
              <a:gd name="p0x3" fmla="*/ 3225 w 3225"/>
              <a:gd name="p0y3" fmla="*/ 53 h 6345"/>
              <a:gd name="p0x4" fmla="*/ 3225 w 3225"/>
              <a:gd name="p0y4" fmla="*/ 120 h 6345"/>
              <a:gd name="p0x5" fmla="*/ 3225 w 3225"/>
              <a:gd name="p0y5" fmla="*/ 6225 h 6345"/>
              <a:gd name="p0x6" fmla="*/ 3225 w 3225"/>
              <a:gd name="p0y6" fmla="*/ 6291 h 6345"/>
              <a:gd name="p0x7" fmla="*/ 3171 w 3225"/>
              <a:gd name="p0y7" fmla="*/ 6345 h 6345"/>
              <a:gd name="p0x8" fmla="*/ 3105 w 3225"/>
              <a:gd name="p0y8" fmla="*/ 6345 h 6345"/>
              <a:gd name="p0x9" fmla="*/ 120 w 3225"/>
              <a:gd name="p0y9" fmla="*/ 6345 h 6345"/>
              <a:gd name="p0x10" fmla="*/ 53 w 3225"/>
              <a:gd name="p0y10" fmla="*/ 6345 h 6345"/>
              <a:gd name="p0x11" fmla="*/ 0 w 3225"/>
              <a:gd name="p0y11" fmla="*/ 6291 h 6345"/>
              <a:gd name="p0x12" fmla="*/ 0 w 3225"/>
              <a:gd name="p0y12" fmla="*/ 6225 h 6345"/>
              <a:gd name="p0x13" fmla="*/ 0 w 3225"/>
              <a:gd name="p0y13" fmla="*/ 120 h 6345"/>
              <a:gd name="p0x14" fmla="*/ 0 w 3225"/>
              <a:gd name="p0y14" fmla="*/ 53 h 6345"/>
              <a:gd name="p0x15" fmla="*/ 53 w 3225"/>
              <a:gd name="p0y15" fmla="*/ 0 h 6345"/>
              <a:gd name="p0x16" fmla="*/ 120 w 3225"/>
              <a:gd name="p0y16" fmla="*/ 0 h 6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F6F8"/>
          </a:solidFill>
          <a:ln w="9525" cmpd="sng">
            <a:solidFill>
              <a:srgbClr val="ECEEF1"/>
            </a:solidFill>
            <a:prstDash val="solid"/>
          </a:ln>
          <a:effectLst>
            <a:outerShdw blurRad="85725" dist="19050" dir="5399999" algn="ctr" rotWithShape="0">
              <a:srgbClr val="484C5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5"/>
            </p:custDataLst>
          </p:nvPr>
        </p:nvSpPr>
        <p:spPr>
          <a:xfrm>
            <a:off x="9763125" y="2638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7EC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5260" r="-5260"/>
          <a:stretch>
            <a:fillRect/>
          </a:stretch>
        </p:blipFill>
        <p:spPr>
          <a:xfrm>
            <a:off x="9817735" y="2719070"/>
            <a:ext cx="309245" cy="2527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9"/>
            </p:custDataLst>
          </p:nvPr>
        </p:nvSpPr>
        <p:spPr>
          <a:xfrm>
            <a:off x="9763125" y="315658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准备下周深讲</a:t>
            </a:r>
            <a:endParaRPr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0"/>
            </p:custDataLst>
          </p:nvPr>
        </p:nvSpPr>
        <p:spPr>
          <a:xfrm>
            <a:off x="9763125" y="3556635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C5C5C"/>
                </a:solidFill>
                <a:latin typeface="微软雅黑" panose="020B0503020204020204" charset="-122"/>
                <a:ea typeface="微软雅黑" panose="020B0503020204020204" charset="-122"/>
              </a:rPr>
              <a:t>选一家公司从头到尾讲清它的股本变化链条</a:t>
            </a:r>
            <a:endParaRPr sz="1350">
              <a:solidFill>
                <a:srgbClr val="5C5C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495"/>
  <p:tag name="KSO_WM_TEMPLATE_CATEGORY" val="custom"/>
</p:tagLst>
</file>

<file path=ppt/tags/tag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2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495"/>
  <p:tag name="KSO_WM_TEMPLATE_CATEGORY" val="custom"/>
</p:tagLst>
</file>

<file path=ppt/tags/tag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95"/>
  <p:tag name="KSO_WM_TEMPLATE_CATEGORY" val="custom"/>
</p:tagLst>
</file>

<file path=ppt/tags/tag1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2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495"/>
  <p:tag name="KSO_WM_TEMPLATE_CATEGORY" val="custom"/>
</p:tagLst>
</file>

<file path=ppt/tags/tag2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495"/>
  <p:tag name="KSO_WM_TEMPLATE_CATEGORY" val="custom"/>
</p:tagLst>
</file>

<file path=ppt/tags/tag2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495"/>
  <p:tag name="KSO_WM_TEMPLATE_CATEGORY" val="custom"/>
</p:tagLst>
</file>

<file path=ppt/tags/tag2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495"/>
  <p:tag name="KSO_WM_TEMPLATE_CATEGORY" val="custom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95"/>
  <p:tag name="KSO_WM_TEMPLATE_CATEGORY" val="custom"/>
</p:tagLst>
</file>

<file path=ppt/tags/tag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95"/>
  <p:tag name="KSO_WM_TEMPLATE_CATEGORY" val="custom"/>
</p:tagLst>
</file>

<file path=ppt/tags/tag3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  <p:tag name="KSO_WM_TEMPLATE_INDEX" val="40490495"/>
  <p:tag name="KSO_WM_TEMPLATE_CATEGORY" val="custom"/>
</p:tagLst>
</file>

<file path=ppt/tags/tag4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495"/>
  <p:tag name="KSO_WM_TEMPLATE_CATEGORY" val="custom"/>
</p:tagLst>
</file>

<file path=ppt/tags/tag4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4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ca95b20e00729331bb195ba6a3dae4e5b43b24f"/>
  <p:tag name="KSO_WM_NEWLAYOUT_ID" val="3201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5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2a02598c1a2dd8a8c7a19791cc042074fd6a5f76"/>
  <p:tag name="KSO_WM_NEWLAYOUT_ID" val="3208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8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8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7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1babe386033d4a8d47132c76d68d69d7f9ae611"/>
  <p:tag name="KSO_WM_NEWLAYOUT_ID" val="3213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f619660bdee206eeceb1d0df4e3d88be189e9af"/>
  <p:tag name="KSO_WM_NEWLAYOUT_ID" val="1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495"/>
</p:tagLst>
</file>

<file path=ppt/tags/tag9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495"/>
</p:tagLst>
</file>

<file path=ppt/tags/tag9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495"/>
  <p:tag name="KSO_WM_TEMPLATE_CATEGORY" val="custom"/>
  <p:tag name="KSO_WM_TEMPLATE_MASTER_TYPE" val="0"/>
  <p:tag name="KSO_WM_TAG_VERSION" val="3.0"/>
</p:tagLst>
</file>

<file path=ppt/tags/tag107.xml><?xml version="1.0" encoding="utf-8"?>
<p:tagLst xmlns:p="http://schemas.openxmlformats.org/presentationml/2006/main">
  <p:tag name="KSO_WM_AITEMPLATE_STYLE_ID" val="69796629480"/>
</p:tagLst>
</file>

<file path=ppt/tags/tag10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0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ca95b20e00729331bb195ba6a3dae4e5b43b24f"/>
  <p:tag name="KSO_WM_NEWLAYOUT_ID" val="3201"/>
  <p:tag name="KSO_WM_UNIT_PRESET_TEXT" val="单击此处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10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11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495"/>
  <p:tag name="KSO_WM_TEMPLATE_CATEGORY" val="custom"/>
  <p:tag name="KSO_WM_SLIDE_INDEX" val="1"/>
  <p:tag name="KSO_WM_SLIDE_ID" val="custom40490495_1"/>
  <p:tag name="KSO_WM_TEMPLATE_MASTER_TYPE" val="0"/>
  <p:tag name="KSO_WM_SLIDE_LAYOUT" val="a_f"/>
  <p:tag name="KSO_WM_SLIDE_LAYOUT_CNT" val="1_2"/>
  <p:tag name="KSO_WM_TAG_VERSION" val="3.0"/>
</p:tagLst>
</file>

<file path=ppt/tags/tag11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2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1babe386033d4a8d47132c76d68d69d7f9ae611"/>
  <p:tag name="KSO_WM_NEWLAYOUT_ID" val="3213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95"/>
  <p:tag name="KSO_WM_TEMPLATE_CATEGORY" val="custom"/>
</p:tagLst>
</file>

<file path=ppt/tags/tag32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90495"/>
  <p:tag name="KSO_WM_TEMPLATE_CATEGORY" val="custom"/>
  <p:tag name="KSO_WM_SLIDE_INDEX" val="5"/>
  <p:tag name="KSO_WM_SLIDE_ID" val="custom40490495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1762</Words>
  <Application>WPS Office WWO_wpscloud_20260623190606-b172d4396d</Application>
  <PresentationFormat>宽屏</PresentationFormat>
  <Paragraphs>214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方正姚体</vt:lpstr>
      <vt:lpstr>微软雅黑</vt:lpstr>
      <vt:lpstr>汉仪旗黑KW 55S</vt:lpstr>
      <vt:lpstr>汉仪书宋二KW</vt:lpstr>
      <vt:lpstr>Kingsoft Confetti</vt:lpstr>
      <vt:lpstr>WPS</vt:lpstr>
      <vt:lpstr>简约风线框职场办公</vt:lpstr>
      <vt:lpstr>招股书股本结构抽取 — 三周进展与问题复盘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招股书股本结构抽取 — 三周进展与问题复盘</dc:title>
  <dc:creator/>
  <cp:lastModifiedBy> </cp:lastModifiedBy>
  <dcterms:created xsi:type="dcterms:W3CDTF">2026-07-01T14:56:48Z</dcterms:created>
  <dcterms:modified xsi:type="dcterms:W3CDTF">2026-07-01T14:56:48Z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2052-12.9.0.27451</vt:lpwstr>
  </property>
  <property fmtid="{D5CDD505-2E9C-101B-9397-08002B2CF9AE}" pid="3" name="ICV">
    <vt:lpwstr>31D2B75A2AF9D278EB29456A87B07B4C_43</vt:lpwstr>
  </property>
  <property fmtid="{D5CDD505-2E9C-101B-9397-08002B2CF9AE}" pid="4" name="KSOTemplateUUID">
    <vt:lpwstr>v1.0_ai_69796629480</vt:lpwstr>
  </property>
</Properties>
</file>